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version up front: we ran a first session to write down the problems, and this session shows how they get solved. I will stop on each group and show it live in the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we set for ourselves: if a feature does not answer a line in that file, it does not go in the tool. That is why the demo is small and why it holds together. Keep this slide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two or three of them out loud, they are recognisable to everyone in the room. Point out that three different audiences are in the same list: that is the reason the tool has a homeowner mode and an installer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land. Five mechanisms is what makes the project buildable. If someone brings up a new problem later, the first question is which group it falls into.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'the catalogue changes all the time'. A price list update or a new product is one edit on the right side. The questionnaire is untouched.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state is the one that matters. A customer never hits a dead end, they get a sentence and a button. Also mention the completeness check: the whole basket is tested, so a missing wiring centre is caught even if nobody clicked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Profile is chosen up front, homeowner or installer, and the wording changes with it. If you are short on time, cut the last step and just mention the resume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it while the PDF is open: test content, TEST DOCUMENT watermark, the structure is real and the words are not. Videos are the one placeholder in this group — the slots are positioned, the videos do not exist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replacement table only has 10 entries today. That is on purpose: a search that comes back empty is exactly what tells us which entry to add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commercial slide. Even if the rest stayed a demo, a configurator that creates a qualified lead at the first answer pays for itself. Nothing is connected today — the panel shows exactly what would be 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before someone asks, not after. The tool labels all of it on screen, but it lands much better coming from us first. It is also what makes the next slide a fair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these are development work. They are decisions and data owners.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links are on the deployed site. Hand them out and open the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2858"/>
        </a:solidFill>
      </p:bgPr>
    </p:bg>
    <p:spTree>
      <p:nvGrpSpPr>
        <p:cNvPr id="1" name=""/>
        <p:cNvGrpSpPr/>
        <p:nvPr/>
      </p:nvGrpSpPr>
      <p:grpSpPr>
        <a:xfrm>
          <a:off x="0" y="0"/>
          <a:ext cx="0" cy="0"/>
          <a:chOff x="0" y="0"/>
          <a:chExt cx="0" cy="0"/>
        </a:xfrm>
      </p:grpSpPr>
      <p:sp>
        <p:nvSpPr>
          <p:cNvPr id="2" name="Shape 0"/>
          <p:cNvSpPr/>
          <p:nvPr/>
        </p:nvSpPr>
        <p:spPr>
          <a:xfrm>
            <a:off x="9692640" y="-1371600"/>
            <a:ext cx="4754880" cy="4754880"/>
          </a:xfrm>
          <a:prstGeom prst="ellipse">
            <a:avLst/>
          </a:prstGeom>
          <a:solidFill>
            <a:srgbClr val="24336B"/>
          </a:solidFill>
          <a:ln/>
        </p:spPr>
      </p:sp>
      <p:sp>
        <p:nvSpPr>
          <p:cNvPr id="3" name="Shape 1"/>
          <p:cNvSpPr/>
          <p:nvPr/>
        </p:nvSpPr>
        <p:spPr>
          <a:xfrm>
            <a:off x="10881360" y="4480560"/>
            <a:ext cx="2926080" cy="2926080"/>
          </a:xfrm>
          <a:prstGeom prst="ellipse">
            <a:avLst/>
          </a:prstGeom>
          <a:solidFill>
            <a:srgbClr val="24336B"/>
          </a:solidFill>
          <a:ln/>
        </p:spPr>
      </p:sp>
      <p:sp>
        <p:nvSpPr>
          <p:cNvPr id="4" name="Text 2"/>
          <p:cNvSpPr txBox="1"/>
          <p:nvPr/>
        </p:nvSpPr>
        <p:spPr>
          <a:xfrm>
            <a:off x="566928" y="1371600"/>
            <a:ext cx="11057839" cy="274320"/>
          </a:xfrm>
          <a:prstGeom prst="rect">
            <a:avLst/>
          </a:prstGeom>
          <a:noFill/>
          <a:ln/>
        </p:spPr>
        <p:txBody>
          <a:bodyPr wrap="square" lIns="0" tIns="0" rIns="0" bIns="0" rtlCol="0" anchor="ctr"/>
          <a:lstStyle/>
          <a:p>
            <a:pPr indent="0" marL="0">
              <a:buNone/>
            </a:pPr>
            <a:r>
              <a:rPr lang="en-US" sz="1200" b="1" spc="180" kern="0" dirty="0">
                <a:solidFill>
                  <a:srgbClr val="00AEEF"/>
                </a:solidFill>
                <a:latin typeface="Calibri" pitchFamily="34" charset="0"/>
                <a:ea typeface="Calibri" pitchFamily="34" charset="-122"/>
                <a:cs typeface="Calibri" pitchFamily="34" charset="-120"/>
              </a:rPr>
              <a:t>SALUS CONTROLS  ·  INTERNAL  ·  BETA BUILD</a:t>
            </a:r>
            <a:endParaRPr lang="en-US" sz="1200" dirty="0"/>
          </a:p>
        </p:txBody>
      </p:sp>
      <p:sp>
        <p:nvSpPr>
          <p:cNvPr id="5" name="Text 3"/>
          <p:cNvSpPr txBox="1"/>
          <p:nvPr/>
        </p:nvSpPr>
        <p:spPr>
          <a:xfrm>
            <a:off x="566928" y="1874520"/>
            <a:ext cx="9601200" cy="118872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The Salus Configurator</a:t>
            </a:r>
            <a:endParaRPr lang="en-US" sz="5400" dirty="0"/>
          </a:p>
        </p:txBody>
      </p:sp>
      <p:sp>
        <p:nvSpPr>
          <p:cNvPr id="6" name="Text 4"/>
          <p:cNvSpPr txBox="1"/>
          <p:nvPr/>
        </p:nvSpPr>
        <p:spPr>
          <a:xfrm>
            <a:off x="566928" y="3200400"/>
            <a:ext cx="8412480" cy="822960"/>
          </a:xfrm>
          <a:prstGeom prst="rect">
            <a:avLst/>
          </a:prstGeom>
          <a:noFill/>
          <a:ln/>
        </p:spPr>
        <p:txBody>
          <a:bodyPr wrap="square" lIns="0" tIns="0" rIns="0" bIns="0" rtlCol="0" anchor="ctr"/>
          <a:lstStyle/>
          <a:p>
            <a:pPr indent="0" marL="0">
              <a:lnSpc>
                <a:spcPts val="2600"/>
              </a:lnSpc>
              <a:buNone/>
            </a:pPr>
            <a:r>
              <a:rPr lang="en-US" sz="1800" dirty="0">
                <a:solidFill>
                  <a:srgbClr val="C9D3EA"/>
                </a:solidFill>
                <a:latin typeface="Calibri" pitchFamily="34" charset="0"/>
                <a:ea typeface="Calibri" pitchFamily="34" charset="-122"/>
                <a:cs typeface="Calibri" pitchFamily="34" charset="-120"/>
              </a:rPr>
              <a:t>One workshop gave us 26 problems. This is how a single tool answers them — and what is real in the build today.</a:t>
            </a:r>
            <a:endParaRPr lang="en-US" sz="1800" dirty="0"/>
          </a:p>
        </p:txBody>
      </p:sp>
      <p:sp>
        <p:nvSpPr>
          <p:cNvPr id="7" name="Shape 5"/>
          <p:cNvSpPr/>
          <p:nvPr/>
        </p:nvSpPr>
        <p:spPr>
          <a:xfrm>
            <a:off x="566928" y="4709160"/>
            <a:ext cx="10241280" cy="0"/>
          </a:xfrm>
          <a:prstGeom prst="line">
            <a:avLst/>
          </a:prstGeom>
          <a:noFill/>
          <a:ln w="12700">
            <a:solidFill>
              <a:srgbClr val="3D4A82"/>
            </a:solidFill>
            <a:prstDash val="solid"/>
          </a:ln>
        </p:spPr>
      </p:sp>
      <p:sp>
        <p:nvSpPr>
          <p:cNvPr id="8" name="Text 6"/>
          <p:cNvSpPr txBox="1"/>
          <p:nvPr/>
        </p:nvSpPr>
        <p:spPr>
          <a:xfrm>
            <a:off x="566928" y="4892040"/>
            <a:ext cx="1024128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Mathieu Bouyer</a:t>
            </a:r>
            <a:pPr indent="0" marL="0">
              <a:buNone/>
            </a:pPr>
            <a:r>
              <a:rPr lang="en-US" sz="1300" dirty="0">
                <a:solidFill>
                  <a:srgbClr val="A9B4D4"/>
                </a:solidFill>
                <a:latin typeface="Calibri" pitchFamily="34" charset="0"/>
                <a:ea typeface="Calibri" pitchFamily="34" charset="-122"/>
                <a:cs typeface="Calibri" pitchFamily="34" charset="-120"/>
              </a:rPr>
              <a:t>   Salus Controls France        20 minutes        Live demo included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CFE"/>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56032"/>
          </a:xfrm>
          <a:prstGeom prst="rect">
            <a:avLst/>
          </a:prstGeom>
          <a:noFill/>
          <a:ln/>
        </p:spPr>
        <p:txBody>
          <a:bodyPr wrap="square" lIns="0" tIns="0" rIns="0" bIns="0" rtlCol="0" anchor="ctr"/>
          <a:lstStyle/>
          <a:p>
            <a:pPr indent="0" marL="0">
              <a:buNone/>
            </a:pPr>
            <a:r>
              <a:rPr lang="en-US" sz="1100" b="1" spc="160" kern="0" dirty="0">
                <a:solidFill>
                  <a:srgbClr val="0079A8"/>
                </a:solidFill>
                <a:latin typeface="Calibri" pitchFamily="34" charset="0"/>
                <a:ea typeface="Calibri" pitchFamily="34" charset="-122"/>
                <a:cs typeface="Calibri" pitchFamily="34" charset="-120"/>
              </a:rPr>
              <a:t>SESSION 1 → TODAY</a:t>
            </a:r>
            <a:endParaRPr lang="en-US" sz="1100" dirty="0"/>
          </a:p>
        </p:txBody>
      </p:sp>
      <p:sp>
        <p:nvSpPr>
          <p:cNvPr id="3" name="Text 1"/>
          <p:cNvSpPr txBox="1"/>
          <p:nvPr/>
        </p:nvSpPr>
        <p:spPr>
          <a:xfrm>
            <a:off x="566928" y="658368"/>
            <a:ext cx="11057839" cy="822960"/>
          </a:xfrm>
          <a:prstGeom prst="rect">
            <a:avLst/>
          </a:prstGeom>
          <a:noFill/>
          <a:ln/>
        </p:spPr>
        <p:txBody>
          <a:bodyPr wrap="square" lIns="0" tIns="0" rIns="0" bIns="0" rtlCol="0" anchor="t"/>
          <a:lstStyle/>
          <a:p>
            <a:pPr indent="0" marL="0">
              <a:buNone/>
            </a:pPr>
            <a:r>
              <a:rPr lang="en-US" sz="3400" b="1" dirty="0">
                <a:solidFill>
                  <a:srgbClr val="131C3D"/>
                </a:solidFill>
                <a:latin typeface="Calibri" pitchFamily="34" charset="0"/>
                <a:ea typeface="Calibri" pitchFamily="34" charset="-122"/>
                <a:cs typeface="Calibri" pitchFamily="34" charset="-120"/>
              </a:rPr>
              <a:t>We started from problems, not from features</a:t>
            </a:r>
            <a:endParaRPr lang="en-US" sz="3400" dirty="0"/>
          </a:p>
        </p:txBody>
      </p:sp>
      <p:sp>
        <p:nvSpPr>
          <p:cNvPr id="4" name="Shape 2"/>
          <p:cNvSpPr/>
          <p:nvPr/>
        </p:nvSpPr>
        <p:spPr>
          <a:xfrm>
            <a:off x="566928" y="1691640"/>
            <a:ext cx="5346040" cy="1920240"/>
          </a:xfrm>
          <a:prstGeom prst="roundRect">
            <a:avLst>
              <a:gd name="adj" fmla="val 2857"/>
            </a:avLst>
          </a:prstGeom>
          <a:solidFill>
            <a:srgbClr val="FFFFFF"/>
          </a:solidFill>
          <a:ln w="12700">
            <a:solidFill>
              <a:srgbClr val="DCE3EE"/>
            </a:solidFill>
            <a:prstDash val="solid"/>
          </a:ln>
        </p:spPr>
      </p:sp>
      <p:sp>
        <p:nvSpPr>
          <p:cNvPr id="5" name="Text 3"/>
          <p:cNvSpPr txBox="1"/>
          <p:nvPr/>
        </p:nvSpPr>
        <p:spPr>
          <a:xfrm>
            <a:off x="822960" y="1847088"/>
            <a:ext cx="4833976" cy="228600"/>
          </a:xfrm>
          <a:prstGeom prst="rect">
            <a:avLst/>
          </a:prstGeom>
          <a:noFill/>
          <a:ln/>
        </p:spPr>
        <p:txBody>
          <a:bodyPr wrap="square" lIns="0" tIns="0" rIns="0" bIns="0" rtlCol="0" anchor="ctr"/>
          <a:lstStyle/>
          <a:p>
            <a:pPr indent="0" marL="0">
              <a:buNone/>
            </a:pPr>
            <a:r>
              <a:rPr lang="en-US" sz="1000" b="1" spc="120" kern="0" dirty="0">
                <a:solidFill>
                  <a:srgbClr val="69718C"/>
                </a:solidFill>
                <a:latin typeface="Calibri" pitchFamily="34" charset="0"/>
                <a:ea typeface="Calibri" pitchFamily="34" charset="-122"/>
                <a:cs typeface="Calibri" pitchFamily="34" charset="-120"/>
              </a:rPr>
              <a:t>SESSION 1 — THE WORKSHOP</a:t>
            </a:r>
            <a:endParaRPr lang="en-US" sz="1000" dirty="0"/>
          </a:p>
        </p:txBody>
      </p:sp>
      <p:sp>
        <p:nvSpPr>
          <p:cNvPr id="6" name="Text 4"/>
          <p:cNvSpPr txBox="1"/>
          <p:nvPr/>
        </p:nvSpPr>
        <p:spPr>
          <a:xfrm>
            <a:off x="822960" y="2103120"/>
            <a:ext cx="4833976" cy="320040"/>
          </a:xfrm>
          <a:prstGeom prst="rect">
            <a:avLst/>
          </a:prstGeom>
          <a:noFill/>
          <a:ln/>
        </p:spPr>
        <p:txBody>
          <a:bodyPr wrap="square" lIns="0" tIns="0" rIns="0" bIns="0" rtlCol="0" anchor="ctr"/>
          <a:lstStyle/>
          <a:p>
            <a:pPr indent="0" marL="0">
              <a:buNone/>
            </a:pPr>
            <a:r>
              <a:rPr lang="en-US" sz="1700" b="1" dirty="0">
                <a:solidFill>
                  <a:srgbClr val="131C3D"/>
                </a:solidFill>
                <a:latin typeface="Calibri" pitchFamily="34" charset="0"/>
                <a:ea typeface="Calibri" pitchFamily="34" charset="-122"/>
                <a:cs typeface="Calibri" pitchFamily="34" charset="-120"/>
              </a:rPr>
              <a:t>We wrote down what goes wrong</a:t>
            </a:r>
            <a:endParaRPr lang="en-US" sz="1700" dirty="0"/>
          </a:p>
        </p:txBody>
      </p:sp>
      <p:sp>
        <p:nvSpPr>
          <p:cNvPr id="7" name="Text 5"/>
          <p:cNvSpPr txBox="1"/>
          <p:nvPr/>
        </p:nvSpPr>
        <p:spPr>
          <a:xfrm>
            <a:off x="822960" y="2487168"/>
            <a:ext cx="4833976" cy="1005840"/>
          </a:xfrm>
          <a:prstGeom prst="rect">
            <a:avLst/>
          </a:prstGeom>
          <a:noFill/>
          <a:ln/>
        </p:spPr>
        <p:txBody>
          <a:bodyPr wrap="square" lIns="0" tIns="0" rIns="0" bIns="0" rtlCol="0" anchor="ctr"/>
          <a:lstStyle/>
          <a:p>
            <a:pPr indent="0" marL="0">
              <a:lnSpc>
                <a:spcPts val="1800"/>
              </a:lnSpc>
              <a:buNone/>
            </a:pPr>
            <a:r>
              <a:rPr lang="en-US" sz="1250" dirty="0">
                <a:solidFill>
                  <a:srgbClr val="1D2858"/>
                </a:solidFill>
                <a:latin typeface="Calibri" pitchFamily="34" charset="0"/>
                <a:ea typeface="Calibri" pitchFamily="34" charset="-122"/>
                <a:cs typeface="Calibri" pitchFamily="34" charset="-120"/>
              </a:rPr>
              <a:t>Sales, technical and field feedback in one room. Everything people struggle with when they choose, price or install a Salus system went into one file: a Problems tab and a Solutions tab, 26 lines.</a:t>
            </a:r>
            <a:endParaRPr lang="en-US" sz="1250" dirty="0"/>
          </a:p>
        </p:txBody>
      </p:sp>
      <p:sp>
        <p:nvSpPr>
          <p:cNvPr id="8" name="Shape 6"/>
          <p:cNvSpPr/>
          <p:nvPr/>
        </p:nvSpPr>
        <p:spPr>
          <a:xfrm>
            <a:off x="6278728" y="1691640"/>
            <a:ext cx="5346040" cy="1920240"/>
          </a:xfrm>
          <a:prstGeom prst="roundRect">
            <a:avLst>
              <a:gd name="adj" fmla="val 2857"/>
            </a:avLst>
          </a:prstGeom>
          <a:solidFill>
            <a:srgbClr val="FFFFFF"/>
          </a:solidFill>
          <a:ln w="12700">
            <a:solidFill>
              <a:srgbClr val="DCE3EE"/>
            </a:solidFill>
            <a:prstDash val="solid"/>
          </a:ln>
        </p:spPr>
      </p:sp>
      <p:sp>
        <p:nvSpPr>
          <p:cNvPr id="9" name="Text 7"/>
          <p:cNvSpPr txBox="1"/>
          <p:nvPr/>
        </p:nvSpPr>
        <p:spPr>
          <a:xfrm>
            <a:off x="6534760" y="1847088"/>
            <a:ext cx="4833976" cy="228600"/>
          </a:xfrm>
          <a:prstGeom prst="rect">
            <a:avLst/>
          </a:prstGeom>
          <a:noFill/>
          <a:ln/>
        </p:spPr>
        <p:txBody>
          <a:bodyPr wrap="square" lIns="0" tIns="0" rIns="0" bIns="0" rtlCol="0" anchor="ctr"/>
          <a:lstStyle/>
          <a:p>
            <a:pPr indent="0" marL="0">
              <a:buNone/>
            </a:pPr>
            <a:r>
              <a:rPr lang="en-US" sz="1000" b="1" spc="120" kern="0" dirty="0">
                <a:solidFill>
                  <a:srgbClr val="69718C"/>
                </a:solidFill>
                <a:latin typeface="Calibri" pitchFamily="34" charset="0"/>
                <a:ea typeface="Calibri" pitchFamily="34" charset="-122"/>
                <a:cs typeface="Calibri" pitchFamily="34" charset="-120"/>
              </a:rPr>
              <a:t>TODAY — THE ANSWER</a:t>
            </a:r>
            <a:endParaRPr lang="en-US" sz="1000" dirty="0"/>
          </a:p>
        </p:txBody>
      </p:sp>
      <p:sp>
        <p:nvSpPr>
          <p:cNvPr id="10" name="Text 8"/>
          <p:cNvSpPr txBox="1"/>
          <p:nvPr/>
        </p:nvSpPr>
        <p:spPr>
          <a:xfrm>
            <a:off x="6534760" y="2103120"/>
            <a:ext cx="4833976" cy="320040"/>
          </a:xfrm>
          <a:prstGeom prst="rect">
            <a:avLst/>
          </a:prstGeom>
          <a:noFill/>
          <a:ln/>
        </p:spPr>
        <p:txBody>
          <a:bodyPr wrap="square" lIns="0" tIns="0" rIns="0" bIns="0" rtlCol="0" anchor="ctr"/>
          <a:lstStyle/>
          <a:p>
            <a:pPr indent="0" marL="0">
              <a:buNone/>
            </a:pPr>
            <a:r>
              <a:rPr lang="en-US" sz="1700" b="1" dirty="0">
                <a:solidFill>
                  <a:srgbClr val="131C3D"/>
                </a:solidFill>
                <a:latin typeface="Calibri" pitchFamily="34" charset="0"/>
                <a:ea typeface="Calibri" pitchFamily="34" charset="-122"/>
                <a:cs typeface="Calibri" pitchFamily="34" charset="-120"/>
              </a:rPr>
              <a:t>A working demo build</a:t>
            </a:r>
            <a:endParaRPr lang="en-US" sz="1700" dirty="0"/>
          </a:p>
        </p:txBody>
      </p:sp>
      <p:sp>
        <p:nvSpPr>
          <p:cNvPr id="11" name="Text 9"/>
          <p:cNvSpPr txBox="1"/>
          <p:nvPr/>
        </p:nvSpPr>
        <p:spPr>
          <a:xfrm>
            <a:off x="6534760" y="2487168"/>
            <a:ext cx="4833976" cy="1005840"/>
          </a:xfrm>
          <a:prstGeom prst="rect">
            <a:avLst/>
          </a:prstGeom>
          <a:noFill/>
          <a:ln/>
        </p:spPr>
        <p:txBody>
          <a:bodyPr wrap="square" lIns="0" tIns="0" rIns="0" bIns="0" rtlCol="0" anchor="ctr"/>
          <a:lstStyle/>
          <a:p>
            <a:pPr indent="0" marL="0">
              <a:lnSpc>
                <a:spcPts val="1800"/>
              </a:lnSpc>
              <a:buNone/>
            </a:pPr>
            <a:r>
              <a:rPr lang="en-US" sz="1250" dirty="0">
                <a:solidFill>
                  <a:srgbClr val="1D2858"/>
                </a:solidFill>
                <a:latin typeface="Calibri" pitchFamily="34" charset="0"/>
                <a:ea typeface="Calibri" pitchFamily="34" charset="-122"/>
                <a:cs typeface="Calibri" pitchFamily="34" charset="-120"/>
              </a:rPr>
              <a:t>Every screen in the tool points back to a numbered problem. Nothing was added because it looked good. One exception is flagged in the file: the level comparison screen, which we added afterwards.</a:t>
            </a:r>
            <a:endParaRPr lang="en-US" sz="1250" dirty="0"/>
          </a:p>
        </p:txBody>
      </p:sp>
      <p:sp>
        <p:nvSpPr>
          <p:cNvPr id="12" name="Text 10"/>
          <p:cNvSpPr txBox="1"/>
          <p:nvPr/>
        </p:nvSpPr>
        <p:spPr>
          <a:xfrm>
            <a:off x="566928" y="3977640"/>
            <a:ext cx="914400" cy="320040"/>
          </a:xfrm>
          <a:prstGeom prst="rect">
            <a:avLst/>
          </a:prstGeom>
          <a:noFill/>
          <a:ln/>
        </p:spPr>
        <p:txBody>
          <a:bodyPr wrap="square" lIns="0" tIns="0" rIns="0" bIns="0" rtlCol="0" anchor="ctr"/>
          <a:lstStyle/>
          <a:p>
            <a:pPr indent="0" marL="0">
              <a:buNone/>
            </a:pPr>
            <a:r>
              <a:rPr lang="en-US" sz="1300" b="1" dirty="0">
                <a:solidFill>
                  <a:srgbClr val="0079A8"/>
                </a:solidFill>
                <a:latin typeface="Calibri" pitchFamily="34" charset="0"/>
                <a:ea typeface="Calibri" pitchFamily="34" charset="-122"/>
                <a:cs typeface="Calibri" pitchFamily="34" charset="-120"/>
              </a:rPr>
              <a:t>5 min</a:t>
            </a:r>
            <a:endParaRPr lang="en-US" sz="1300" dirty="0"/>
          </a:p>
        </p:txBody>
      </p:sp>
      <p:sp>
        <p:nvSpPr>
          <p:cNvPr id="13" name="Text 11"/>
          <p:cNvSpPr txBox="1"/>
          <p:nvPr/>
        </p:nvSpPr>
        <p:spPr>
          <a:xfrm>
            <a:off x="1572768" y="3977640"/>
            <a:ext cx="10051999" cy="320040"/>
          </a:xfrm>
          <a:prstGeom prst="rect">
            <a:avLst/>
          </a:prstGeom>
          <a:noFill/>
          <a:ln/>
        </p:spPr>
        <p:txBody>
          <a:bodyPr wrap="square" lIns="0" tIns="0" rIns="0" bIns="0" rtlCol="0" anchor="ctr"/>
          <a:lstStyle/>
          <a:p>
            <a:pPr indent="0" marL="0">
              <a:buNone/>
            </a:pPr>
            <a:r>
              <a:rPr lang="en-US" sz="1400" b="1" dirty="0">
                <a:solidFill>
                  <a:srgbClr val="131C3D"/>
                </a:solidFill>
                <a:latin typeface="Calibri" pitchFamily="34" charset="0"/>
                <a:ea typeface="Calibri" pitchFamily="34" charset="-122"/>
                <a:cs typeface="Calibri" pitchFamily="34" charset="-120"/>
              </a:rPr>
              <a:t>The list</a:t>
            </a:r>
            <a:pPr indent="0" marL="0">
              <a:buNone/>
            </a:pPr>
            <a:r>
              <a:rPr lang="en-US" sz="1400" dirty="0">
                <a:solidFill>
                  <a:srgbClr val="1D2858"/>
                </a:solidFill>
                <a:latin typeface="Calibri" pitchFamily="34" charset="0"/>
                <a:ea typeface="Calibri" pitchFamily="34" charset="-122"/>
                <a:cs typeface="Calibri" pitchFamily="34" charset="-120"/>
              </a:rPr>
              <a:t> — the 26 problems, how they group, and the idea underneath</a:t>
            </a:r>
            <a:endParaRPr lang="en-US" sz="1400" dirty="0"/>
          </a:p>
        </p:txBody>
      </p:sp>
      <p:sp>
        <p:nvSpPr>
          <p:cNvPr id="14" name="Shape 12"/>
          <p:cNvSpPr/>
          <p:nvPr/>
        </p:nvSpPr>
        <p:spPr>
          <a:xfrm>
            <a:off x="566928" y="4389120"/>
            <a:ext cx="11057839" cy="0"/>
          </a:xfrm>
          <a:prstGeom prst="line">
            <a:avLst/>
          </a:prstGeom>
          <a:noFill/>
          <a:ln w="12700">
            <a:solidFill>
              <a:srgbClr val="DCE3EE"/>
            </a:solidFill>
            <a:prstDash val="solid"/>
          </a:ln>
        </p:spPr>
      </p:sp>
      <p:sp>
        <p:nvSpPr>
          <p:cNvPr id="15" name="Text 13"/>
          <p:cNvSpPr txBox="1"/>
          <p:nvPr/>
        </p:nvSpPr>
        <p:spPr>
          <a:xfrm>
            <a:off x="566928" y="4544568"/>
            <a:ext cx="914400" cy="320040"/>
          </a:xfrm>
          <a:prstGeom prst="rect">
            <a:avLst/>
          </a:prstGeom>
          <a:noFill/>
          <a:ln/>
        </p:spPr>
        <p:txBody>
          <a:bodyPr wrap="square" lIns="0" tIns="0" rIns="0" bIns="0" rtlCol="0" anchor="ctr"/>
          <a:lstStyle/>
          <a:p>
            <a:pPr indent="0" marL="0">
              <a:buNone/>
            </a:pPr>
            <a:r>
              <a:rPr lang="en-US" sz="1300" b="1" dirty="0">
                <a:solidFill>
                  <a:srgbClr val="0079A8"/>
                </a:solidFill>
                <a:latin typeface="Calibri" pitchFamily="34" charset="0"/>
                <a:ea typeface="Calibri" pitchFamily="34" charset="-122"/>
                <a:cs typeface="Calibri" pitchFamily="34" charset="-120"/>
              </a:rPr>
              <a:t>12 min</a:t>
            </a:r>
            <a:endParaRPr lang="en-US" sz="1300" dirty="0"/>
          </a:p>
        </p:txBody>
      </p:sp>
      <p:sp>
        <p:nvSpPr>
          <p:cNvPr id="16" name="Text 14"/>
          <p:cNvSpPr txBox="1"/>
          <p:nvPr/>
        </p:nvSpPr>
        <p:spPr>
          <a:xfrm>
            <a:off x="1572768" y="4544568"/>
            <a:ext cx="10051999" cy="320040"/>
          </a:xfrm>
          <a:prstGeom prst="rect">
            <a:avLst/>
          </a:prstGeom>
          <a:noFill/>
          <a:ln/>
        </p:spPr>
        <p:txBody>
          <a:bodyPr wrap="square" lIns="0" tIns="0" rIns="0" bIns="0" rtlCol="0" anchor="ctr"/>
          <a:lstStyle/>
          <a:p>
            <a:pPr indent="0" marL="0">
              <a:buNone/>
            </a:pPr>
            <a:r>
              <a:rPr lang="en-US" sz="1400" b="1" dirty="0">
                <a:solidFill>
                  <a:srgbClr val="131C3D"/>
                </a:solidFill>
                <a:latin typeface="Calibri" pitchFamily="34" charset="0"/>
                <a:ea typeface="Calibri" pitchFamily="34" charset="-122"/>
                <a:cs typeface="Calibri" pitchFamily="34" charset="-120"/>
              </a:rPr>
              <a:t>Five groups, five answers</a:t>
            </a:r>
            <a:pPr indent="0" marL="0">
              <a:buNone/>
            </a:pPr>
            <a:r>
              <a:rPr lang="en-US" sz="1400" dirty="0">
                <a:solidFill>
                  <a:srgbClr val="1D2858"/>
                </a:solidFill>
                <a:latin typeface="Calibri" pitchFamily="34" charset="0"/>
                <a:ea typeface="Calibri" pitchFamily="34" charset="-122"/>
                <a:cs typeface="Calibri" pitchFamily="34" charset="-120"/>
              </a:rPr>
              <a:t> — each one shown live in the tool</a:t>
            </a:r>
            <a:endParaRPr lang="en-US" sz="1400" dirty="0"/>
          </a:p>
        </p:txBody>
      </p:sp>
      <p:sp>
        <p:nvSpPr>
          <p:cNvPr id="17" name="Shape 15"/>
          <p:cNvSpPr/>
          <p:nvPr/>
        </p:nvSpPr>
        <p:spPr>
          <a:xfrm>
            <a:off x="566928" y="4956048"/>
            <a:ext cx="11057839" cy="0"/>
          </a:xfrm>
          <a:prstGeom prst="line">
            <a:avLst/>
          </a:prstGeom>
          <a:noFill/>
          <a:ln w="12700">
            <a:solidFill>
              <a:srgbClr val="DCE3EE"/>
            </a:solidFill>
            <a:prstDash val="solid"/>
          </a:ln>
        </p:spPr>
      </p:sp>
      <p:sp>
        <p:nvSpPr>
          <p:cNvPr id="18" name="Text 16"/>
          <p:cNvSpPr txBox="1"/>
          <p:nvPr/>
        </p:nvSpPr>
        <p:spPr>
          <a:xfrm>
            <a:off x="566928" y="5111496"/>
            <a:ext cx="914400" cy="320040"/>
          </a:xfrm>
          <a:prstGeom prst="rect">
            <a:avLst/>
          </a:prstGeom>
          <a:noFill/>
          <a:ln/>
        </p:spPr>
        <p:txBody>
          <a:bodyPr wrap="square" lIns="0" tIns="0" rIns="0" bIns="0" rtlCol="0" anchor="ctr"/>
          <a:lstStyle/>
          <a:p>
            <a:pPr indent="0" marL="0">
              <a:buNone/>
            </a:pPr>
            <a:r>
              <a:rPr lang="en-US" sz="1300" b="1" dirty="0">
                <a:solidFill>
                  <a:srgbClr val="0079A8"/>
                </a:solidFill>
                <a:latin typeface="Calibri" pitchFamily="34" charset="0"/>
                <a:ea typeface="Calibri" pitchFamily="34" charset="-122"/>
                <a:cs typeface="Calibri" pitchFamily="34" charset="-120"/>
              </a:rPr>
              <a:t>3 min</a:t>
            </a:r>
            <a:endParaRPr lang="en-US" sz="1300" dirty="0"/>
          </a:p>
        </p:txBody>
      </p:sp>
      <p:sp>
        <p:nvSpPr>
          <p:cNvPr id="19" name="Text 17"/>
          <p:cNvSpPr txBox="1"/>
          <p:nvPr/>
        </p:nvSpPr>
        <p:spPr>
          <a:xfrm>
            <a:off x="1572768" y="5111496"/>
            <a:ext cx="10051999" cy="320040"/>
          </a:xfrm>
          <a:prstGeom prst="rect">
            <a:avLst/>
          </a:prstGeom>
          <a:noFill/>
          <a:ln/>
        </p:spPr>
        <p:txBody>
          <a:bodyPr wrap="square" lIns="0" tIns="0" rIns="0" bIns="0" rtlCol="0" anchor="ctr"/>
          <a:lstStyle/>
          <a:p>
            <a:pPr indent="0" marL="0">
              <a:buNone/>
            </a:pPr>
            <a:r>
              <a:rPr lang="en-US" sz="1400" b="1" dirty="0">
                <a:solidFill>
                  <a:srgbClr val="131C3D"/>
                </a:solidFill>
                <a:latin typeface="Calibri" pitchFamily="34" charset="0"/>
                <a:ea typeface="Calibri" pitchFamily="34" charset="-122"/>
                <a:cs typeface="Calibri" pitchFamily="34" charset="-120"/>
              </a:rPr>
              <a:t>What we need</a:t>
            </a:r>
            <a:pPr indent="0" marL="0">
              <a:buNone/>
            </a:pPr>
            <a:r>
              <a:rPr lang="en-US" sz="1400" dirty="0">
                <a:solidFill>
                  <a:srgbClr val="1D2858"/>
                </a:solidFill>
                <a:latin typeface="Calibri" pitchFamily="34" charset="0"/>
                <a:ea typeface="Calibri" pitchFamily="34" charset="-122"/>
                <a:cs typeface="Calibri" pitchFamily="34" charset="-120"/>
              </a:rPr>
              <a:t> — to turn the demo into a product</a:t>
            </a:r>
            <a:endParaRPr lang="en-US" sz="1400" dirty="0"/>
          </a:p>
        </p:txBody>
      </p:sp>
      <p:sp>
        <p:nvSpPr>
          <p:cNvPr id="20" name="Shape 18"/>
          <p:cNvSpPr/>
          <p:nvPr/>
        </p:nvSpPr>
        <p:spPr>
          <a:xfrm>
            <a:off x="566928" y="5522976"/>
            <a:ext cx="11057839" cy="0"/>
          </a:xfrm>
          <a:prstGeom prst="line">
            <a:avLst/>
          </a:prstGeom>
          <a:noFill/>
          <a:ln w="12700">
            <a:solidFill>
              <a:srgbClr val="DCE3EE"/>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CFE"/>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56032"/>
          </a:xfrm>
          <a:prstGeom prst="rect">
            <a:avLst/>
          </a:prstGeom>
          <a:noFill/>
          <a:ln/>
        </p:spPr>
        <p:txBody>
          <a:bodyPr wrap="square" lIns="0" tIns="0" rIns="0" bIns="0" rtlCol="0" anchor="ctr"/>
          <a:lstStyle/>
          <a:p>
            <a:pPr indent="0" marL="0">
              <a:buNone/>
            </a:pPr>
            <a:r>
              <a:rPr lang="en-US" sz="1100" b="1" spc="160" kern="0" dirty="0">
                <a:solidFill>
                  <a:srgbClr val="0079A8"/>
                </a:solidFill>
                <a:latin typeface="Calibri" pitchFamily="34" charset="0"/>
                <a:ea typeface="Calibri" pitchFamily="34" charset="-122"/>
                <a:cs typeface="Calibri" pitchFamily="34" charset="-120"/>
              </a:rPr>
              <a:t>SESSION 1 · THE RAW MATERIAL</a:t>
            </a:r>
            <a:endParaRPr lang="en-US" sz="1100" dirty="0"/>
          </a:p>
        </p:txBody>
      </p:sp>
      <p:sp>
        <p:nvSpPr>
          <p:cNvPr id="3" name="Text 1"/>
          <p:cNvSpPr txBox="1"/>
          <p:nvPr/>
        </p:nvSpPr>
        <p:spPr>
          <a:xfrm>
            <a:off x="566928" y="658368"/>
            <a:ext cx="11057839" cy="822960"/>
          </a:xfrm>
          <a:prstGeom prst="rect">
            <a:avLst/>
          </a:prstGeom>
          <a:noFill/>
          <a:ln/>
        </p:spPr>
        <p:txBody>
          <a:bodyPr wrap="square" lIns="0" tIns="0" rIns="0" bIns="0" rtlCol="0" anchor="t"/>
          <a:lstStyle/>
          <a:p>
            <a:pPr indent="0" marL="0">
              <a:buNone/>
            </a:pPr>
            <a:r>
              <a:rPr lang="en-US" sz="3400" b="1" dirty="0">
                <a:solidFill>
                  <a:srgbClr val="131C3D"/>
                </a:solidFill>
                <a:latin typeface="Calibri" pitchFamily="34" charset="0"/>
                <a:ea typeface="Calibri" pitchFamily="34" charset="-122"/>
                <a:cs typeface="Calibri" pitchFamily="34" charset="-120"/>
              </a:rPr>
              <a:t>What the list actually sounds like</a:t>
            </a:r>
            <a:endParaRPr lang="en-US" sz="3400" dirty="0"/>
          </a:p>
        </p:txBody>
      </p:sp>
      <p:sp>
        <p:nvSpPr>
          <p:cNvPr id="4" name="Shape 2"/>
          <p:cNvSpPr/>
          <p:nvPr/>
        </p:nvSpPr>
        <p:spPr>
          <a:xfrm>
            <a:off x="566928" y="1737360"/>
            <a:ext cx="3472586" cy="1371600"/>
          </a:xfrm>
          <a:prstGeom prst="roundRect">
            <a:avLst>
              <a:gd name="adj" fmla="val 4000"/>
            </a:avLst>
          </a:prstGeom>
          <a:solidFill>
            <a:srgbClr val="FFFFFF"/>
          </a:solidFill>
          <a:ln w="12700">
            <a:solidFill>
              <a:srgbClr val="DCE3EE"/>
            </a:solidFill>
            <a:prstDash val="solid"/>
          </a:ln>
        </p:spPr>
      </p:sp>
      <p:sp>
        <p:nvSpPr>
          <p:cNvPr id="5" name="Text 3"/>
          <p:cNvSpPr txBox="1"/>
          <p:nvPr/>
        </p:nvSpPr>
        <p:spPr>
          <a:xfrm>
            <a:off x="795528" y="1938528"/>
            <a:ext cx="3015386" cy="685800"/>
          </a:xfrm>
          <a:prstGeom prst="rect">
            <a:avLst/>
          </a:prstGeom>
          <a:noFill/>
          <a:ln/>
        </p:spPr>
        <p:txBody>
          <a:bodyPr wrap="square" lIns="0" tIns="0" rIns="0" bIns="0" rtlCol="0" anchor="ctr"/>
          <a:lstStyle/>
          <a:p>
            <a:pPr indent="0" marL="0">
              <a:lnSpc>
                <a:spcPts val="2000"/>
              </a:lnSpc>
              <a:buNone/>
            </a:pPr>
            <a:r>
              <a:rPr lang="en-US" sz="1500" dirty="0">
                <a:solidFill>
                  <a:srgbClr val="131C3D"/>
                </a:solidFill>
                <a:latin typeface="Calibri" pitchFamily="34" charset="0"/>
                <a:ea typeface="Calibri" pitchFamily="34" charset="-122"/>
                <a:cs typeface="Calibri" pitchFamily="34" charset="-120"/>
              </a:rPr>
              <a:t>“I can't tell which devices work together.”</a:t>
            </a:r>
            <a:endParaRPr lang="en-US" sz="1500" dirty="0"/>
          </a:p>
        </p:txBody>
      </p:sp>
      <p:sp>
        <p:nvSpPr>
          <p:cNvPr id="6" name="Text 4"/>
          <p:cNvSpPr txBox="1"/>
          <p:nvPr/>
        </p:nvSpPr>
        <p:spPr>
          <a:xfrm>
            <a:off x="795528" y="2697480"/>
            <a:ext cx="3015386" cy="274320"/>
          </a:xfrm>
          <a:prstGeom prst="rect">
            <a:avLst/>
          </a:prstGeom>
          <a:noFill/>
          <a:ln/>
        </p:spPr>
        <p:txBody>
          <a:bodyPr wrap="square" lIns="0" tIns="0" rIns="0" bIns="0" rtlCol="0" anchor="ctr"/>
          <a:lstStyle/>
          <a:p>
            <a:pPr indent="0" marL="0">
              <a:buNone/>
            </a:pPr>
            <a:r>
              <a:rPr lang="en-US" sz="1100" b="1" dirty="0">
                <a:solidFill>
                  <a:srgbClr val="0079A8"/>
                </a:solidFill>
                <a:latin typeface="Calibri" pitchFamily="34" charset="0"/>
                <a:ea typeface="Calibri" pitchFamily="34" charset="-122"/>
                <a:cs typeface="Calibri" pitchFamily="34" charset="-120"/>
              </a:rPr>
              <a:t>P1</a:t>
            </a:r>
            <a:pPr indent="0" marL="0">
              <a:buNone/>
            </a:pPr>
            <a:r>
              <a:rPr lang="en-US" sz="1100" dirty="0">
                <a:solidFill>
                  <a:srgbClr val="69718C"/>
                </a:solidFill>
                <a:latin typeface="Calibri" pitchFamily="34" charset="0"/>
                <a:ea typeface="Calibri" pitchFamily="34" charset="-122"/>
                <a:cs typeface="Calibri" pitchFamily="34" charset="-120"/>
              </a:rPr>
              <a:t>  ·  customer</a:t>
            </a:r>
            <a:endParaRPr lang="en-US" sz="1100" dirty="0"/>
          </a:p>
        </p:txBody>
      </p:sp>
      <p:sp>
        <p:nvSpPr>
          <p:cNvPr id="7" name="Shape 5"/>
          <p:cNvSpPr/>
          <p:nvPr/>
        </p:nvSpPr>
        <p:spPr>
          <a:xfrm>
            <a:off x="4359554" y="1737360"/>
            <a:ext cx="3472586" cy="1371600"/>
          </a:xfrm>
          <a:prstGeom prst="roundRect">
            <a:avLst>
              <a:gd name="adj" fmla="val 4000"/>
            </a:avLst>
          </a:prstGeom>
          <a:solidFill>
            <a:srgbClr val="FFFFFF"/>
          </a:solidFill>
          <a:ln w="12700">
            <a:solidFill>
              <a:srgbClr val="DCE3EE"/>
            </a:solidFill>
            <a:prstDash val="solid"/>
          </a:ln>
        </p:spPr>
      </p:sp>
      <p:sp>
        <p:nvSpPr>
          <p:cNvPr id="8" name="Text 6"/>
          <p:cNvSpPr txBox="1"/>
          <p:nvPr/>
        </p:nvSpPr>
        <p:spPr>
          <a:xfrm>
            <a:off x="4588154" y="1938528"/>
            <a:ext cx="3015386" cy="685800"/>
          </a:xfrm>
          <a:prstGeom prst="rect">
            <a:avLst/>
          </a:prstGeom>
          <a:noFill/>
          <a:ln/>
        </p:spPr>
        <p:txBody>
          <a:bodyPr wrap="square" lIns="0" tIns="0" rIns="0" bIns="0" rtlCol="0" anchor="ctr"/>
          <a:lstStyle/>
          <a:p>
            <a:pPr indent="0" marL="0">
              <a:lnSpc>
                <a:spcPts val="2000"/>
              </a:lnSpc>
              <a:buNone/>
            </a:pPr>
            <a:r>
              <a:rPr lang="en-US" sz="1500" dirty="0">
                <a:solidFill>
                  <a:srgbClr val="131C3D"/>
                </a:solidFill>
                <a:latin typeface="Calibri" pitchFamily="34" charset="0"/>
                <a:ea typeface="Calibri" pitchFamily="34" charset="-122"/>
                <a:cs typeface="Calibri" pitchFamily="34" charset="-120"/>
              </a:rPr>
              <a:t>“I don't know which products suit my home.”</a:t>
            </a:r>
            <a:endParaRPr lang="en-US" sz="1500" dirty="0"/>
          </a:p>
        </p:txBody>
      </p:sp>
      <p:sp>
        <p:nvSpPr>
          <p:cNvPr id="9" name="Text 7"/>
          <p:cNvSpPr txBox="1"/>
          <p:nvPr/>
        </p:nvSpPr>
        <p:spPr>
          <a:xfrm>
            <a:off x="4588154" y="2697480"/>
            <a:ext cx="3015386" cy="274320"/>
          </a:xfrm>
          <a:prstGeom prst="rect">
            <a:avLst/>
          </a:prstGeom>
          <a:noFill/>
          <a:ln/>
        </p:spPr>
        <p:txBody>
          <a:bodyPr wrap="square" lIns="0" tIns="0" rIns="0" bIns="0" rtlCol="0" anchor="ctr"/>
          <a:lstStyle/>
          <a:p>
            <a:pPr indent="0" marL="0">
              <a:buNone/>
            </a:pPr>
            <a:r>
              <a:rPr lang="en-US" sz="1100" b="1" dirty="0">
                <a:solidFill>
                  <a:srgbClr val="0079A8"/>
                </a:solidFill>
                <a:latin typeface="Calibri" pitchFamily="34" charset="0"/>
                <a:ea typeface="Calibri" pitchFamily="34" charset="-122"/>
                <a:cs typeface="Calibri" pitchFamily="34" charset="-120"/>
              </a:rPr>
              <a:t>P4</a:t>
            </a:r>
            <a:pPr indent="0" marL="0">
              <a:buNone/>
            </a:pPr>
            <a:r>
              <a:rPr lang="en-US" sz="1100" dirty="0">
                <a:solidFill>
                  <a:srgbClr val="69718C"/>
                </a:solidFill>
                <a:latin typeface="Calibri" pitchFamily="34" charset="0"/>
                <a:ea typeface="Calibri" pitchFamily="34" charset="-122"/>
                <a:cs typeface="Calibri" pitchFamily="34" charset="-120"/>
              </a:rPr>
              <a:t>  ·  customer</a:t>
            </a:r>
            <a:endParaRPr lang="en-US" sz="1100" dirty="0"/>
          </a:p>
        </p:txBody>
      </p:sp>
      <p:sp>
        <p:nvSpPr>
          <p:cNvPr id="10" name="Shape 8"/>
          <p:cNvSpPr/>
          <p:nvPr/>
        </p:nvSpPr>
        <p:spPr>
          <a:xfrm>
            <a:off x="8152181" y="1737360"/>
            <a:ext cx="3472586" cy="1371600"/>
          </a:xfrm>
          <a:prstGeom prst="roundRect">
            <a:avLst>
              <a:gd name="adj" fmla="val 4000"/>
            </a:avLst>
          </a:prstGeom>
          <a:solidFill>
            <a:srgbClr val="FFFFFF"/>
          </a:solidFill>
          <a:ln w="12700">
            <a:solidFill>
              <a:srgbClr val="DCE3EE"/>
            </a:solidFill>
            <a:prstDash val="solid"/>
          </a:ln>
        </p:spPr>
      </p:sp>
      <p:sp>
        <p:nvSpPr>
          <p:cNvPr id="11" name="Text 9"/>
          <p:cNvSpPr txBox="1"/>
          <p:nvPr/>
        </p:nvSpPr>
        <p:spPr>
          <a:xfrm>
            <a:off x="8380781" y="1938528"/>
            <a:ext cx="3015386" cy="685800"/>
          </a:xfrm>
          <a:prstGeom prst="rect">
            <a:avLst/>
          </a:prstGeom>
          <a:noFill/>
          <a:ln/>
        </p:spPr>
        <p:txBody>
          <a:bodyPr wrap="square" lIns="0" tIns="0" rIns="0" bIns="0" rtlCol="0" anchor="ctr"/>
          <a:lstStyle/>
          <a:p>
            <a:pPr indent="0" marL="0">
              <a:lnSpc>
                <a:spcPts val="2000"/>
              </a:lnSpc>
              <a:buNone/>
            </a:pPr>
            <a:r>
              <a:rPr lang="en-US" sz="1500" dirty="0">
                <a:solidFill>
                  <a:srgbClr val="131C3D"/>
                </a:solidFill>
                <a:latin typeface="Calibri" pitchFamily="34" charset="0"/>
                <a:ea typeface="Calibri" pitchFamily="34" charset="-122"/>
                <a:cs typeface="Calibri" pitchFamily="34" charset="-120"/>
              </a:rPr>
              <a:t>“Too many steps before I can buy anything.”</a:t>
            </a:r>
            <a:endParaRPr lang="en-US" sz="1500" dirty="0"/>
          </a:p>
        </p:txBody>
      </p:sp>
      <p:sp>
        <p:nvSpPr>
          <p:cNvPr id="12" name="Text 10"/>
          <p:cNvSpPr txBox="1"/>
          <p:nvPr/>
        </p:nvSpPr>
        <p:spPr>
          <a:xfrm>
            <a:off x="8380781" y="2697480"/>
            <a:ext cx="3015386" cy="274320"/>
          </a:xfrm>
          <a:prstGeom prst="rect">
            <a:avLst/>
          </a:prstGeom>
          <a:noFill/>
          <a:ln/>
        </p:spPr>
        <p:txBody>
          <a:bodyPr wrap="square" lIns="0" tIns="0" rIns="0" bIns="0" rtlCol="0" anchor="ctr"/>
          <a:lstStyle/>
          <a:p>
            <a:pPr indent="0" marL="0">
              <a:buNone/>
            </a:pPr>
            <a:r>
              <a:rPr lang="en-US" sz="1100" b="1" dirty="0">
                <a:solidFill>
                  <a:srgbClr val="0079A8"/>
                </a:solidFill>
                <a:latin typeface="Calibri" pitchFamily="34" charset="0"/>
                <a:ea typeface="Calibri" pitchFamily="34" charset="-122"/>
                <a:cs typeface="Calibri" pitchFamily="34" charset="-120"/>
              </a:rPr>
              <a:t>P7</a:t>
            </a:r>
            <a:pPr indent="0" marL="0">
              <a:buNone/>
            </a:pPr>
            <a:r>
              <a:rPr lang="en-US" sz="1100" dirty="0">
                <a:solidFill>
                  <a:srgbClr val="69718C"/>
                </a:solidFill>
                <a:latin typeface="Calibri" pitchFamily="34" charset="0"/>
                <a:ea typeface="Calibri" pitchFamily="34" charset="-122"/>
                <a:cs typeface="Calibri" pitchFamily="34" charset="-120"/>
              </a:rPr>
              <a:t>  ·  customer</a:t>
            </a:r>
            <a:endParaRPr lang="en-US" sz="1100" dirty="0"/>
          </a:p>
        </p:txBody>
      </p:sp>
      <p:sp>
        <p:nvSpPr>
          <p:cNvPr id="13" name="Shape 11"/>
          <p:cNvSpPr/>
          <p:nvPr/>
        </p:nvSpPr>
        <p:spPr>
          <a:xfrm>
            <a:off x="566928" y="3429000"/>
            <a:ext cx="3472586" cy="1371600"/>
          </a:xfrm>
          <a:prstGeom prst="roundRect">
            <a:avLst>
              <a:gd name="adj" fmla="val 4000"/>
            </a:avLst>
          </a:prstGeom>
          <a:solidFill>
            <a:srgbClr val="FFFFFF"/>
          </a:solidFill>
          <a:ln w="12700">
            <a:solidFill>
              <a:srgbClr val="DCE3EE"/>
            </a:solidFill>
            <a:prstDash val="solid"/>
          </a:ln>
        </p:spPr>
      </p:sp>
      <p:sp>
        <p:nvSpPr>
          <p:cNvPr id="14" name="Text 12"/>
          <p:cNvSpPr txBox="1"/>
          <p:nvPr/>
        </p:nvSpPr>
        <p:spPr>
          <a:xfrm>
            <a:off x="795528" y="3630168"/>
            <a:ext cx="3015386" cy="685800"/>
          </a:xfrm>
          <a:prstGeom prst="rect">
            <a:avLst/>
          </a:prstGeom>
          <a:noFill/>
          <a:ln/>
        </p:spPr>
        <p:txBody>
          <a:bodyPr wrap="square" lIns="0" tIns="0" rIns="0" bIns="0" rtlCol="0" anchor="ctr"/>
          <a:lstStyle/>
          <a:p>
            <a:pPr indent="0" marL="0">
              <a:lnSpc>
                <a:spcPts val="2000"/>
              </a:lnSpc>
              <a:buNone/>
            </a:pPr>
            <a:r>
              <a:rPr lang="en-US" sz="1500" dirty="0">
                <a:solidFill>
                  <a:srgbClr val="131C3D"/>
                </a:solidFill>
                <a:latin typeface="Calibri" pitchFamily="34" charset="0"/>
                <a:ea typeface="Calibri" pitchFamily="34" charset="-122"/>
                <a:cs typeface="Calibri" pitchFamily="34" charset="-120"/>
              </a:rPr>
              <a:t>“I have to be on site before I can quote.”</a:t>
            </a:r>
            <a:endParaRPr lang="en-US" sz="1500" dirty="0"/>
          </a:p>
        </p:txBody>
      </p:sp>
      <p:sp>
        <p:nvSpPr>
          <p:cNvPr id="15" name="Text 13"/>
          <p:cNvSpPr txBox="1"/>
          <p:nvPr/>
        </p:nvSpPr>
        <p:spPr>
          <a:xfrm>
            <a:off x="795528" y="4389120"/>
            <a:ext cx="3015386" cy="274320"/>
          </a:xfrm>
          <a:prstGeom prst="rect">
            <a:avLst/>
          </a:prstGeom>
          <a:noFill/>
          <a:ln/>
        </p:spPr>
        <p:txBody>
          <a:bodyPr wrap="square" lIns="0" tIns="0" rIns="0" bIns="0" rtlCol="0" anchor="ctr"/>
          <a:lstStyle/>
          <a:p>
            <a:pPr indent="0" marL="0">
              <a:buNone/>
            </a:pPr>
            <a:r>
              <a:rPr lang="en-US" sz="1100" b="1" dirty="0">
                <a:solidFill>
                  <a:srgbClr val="0079A8"/>
                </a:solidFill>
                <a:latin typeface="Calibri" pitchFamily="34" charset="0"/>
                <a:ea typeface="Calibri" pitchFamily="34" charset="-122"/>
                <a:cs typeface="Calibri" pitchFamily="34" charset="-120"/>
              </a:rPr>
              <a:t>P8</a:t>
            </a:r>
            <a:pPr indent="0" marL="0">
              <a:buNone/>
            </a:pPr>
            <a:r>
              <a:rPr lang="en-US" sz="1100" dirty="0">
                <a:solidFill>
                  <a:srgbClr val="69718C"/>
                </a:solidFill>
                <a:latin typeface="Calibri" pitchFamily="34" charset="0"/>
                <a:ea typeface="Calibri" pitchFamily="34" charset="-122"/>
                <a:cs typeface="Calibri" pitchFamily="34" charset="-120"/>
              </a:rPr>
              <a:t>  ·  installer</a:t>
            </a:r>
            <a:endParaRPr lang="en-US" sz="1100" dirty="0"/>
          </a:p>
        </p:txBody>
      </p:sp>
      <p:sp>
        <p:nvSpPr>
          <p:cNvPr id="16" name="Shape 14"/>
          <p:cNvSpPr/>
          <p:nvPr/>
        </p:nvSpPr>
        <p:spPr>
          <a:xfrm>
            <a:off x="4359554" y="3429000"/>
            <a:ext cx="3472586" cy="1371600"/>
          </a:xfrm>
          <a:prstGeom prst="roundRect">
            <a:avLst>
              <a:gd name="adj" fmla="val 4000"/>
            </a:avLst>
          </a:prstGeom>
          <a:solidFill>
            <a:srgbClr val="FFFFFF"/>
          </a:solidFill>
          <a:ln w="12700">
            <a:solidFill>
              <a:srgbClr val="DCE3EE"/>
            </a:solidFill>
            <a:prstDash val="solid"/>
          </a:ln>
        </p:spPr>
      </p:sp>
      <p:sp>
        <p:nvSpPr>
          <p:cNvPr id="17" name="Text 15"/>
          <p:cNvSpPr txBox="1"/>
          <p:nvPr/>
        </p:nvSpPr>
        <p:spPr>
          <a:xfrm>
            <a:off x="4588154" y="3630168"/>
            <a:ext cx="3015386" cy="685800"/>
          </a:xfrm>
          <a:prstGeom prst="rect">
            <a:avLst/>
          </a:prstGeom>
          <a:noFill/>
          <a:ln/>
        </p:spPr>
        <p:txBody>
          <a:bodyPr wrap="square" lIns="0" tIns="0" rIns="0" bIns="0" rtlCol="0" anchor="ctr"/>
          <a:lstStyle/>
          <a:p>
            <a:pPr indent="0" marL="0">
              <a:lnSpc>
                <a:spcPts val="2000"/>
              </a:lnSpc>
              <a:buNone/>
            </a:pPr>
            <a:r>
              <a:rPr lang="en-US" sz="1500" dirty="0">
                <a:solidFill>
                  <a:srgbClr val="131C3D"/>
                </a:solidFill>
                <a:latin typeface="Calibri" pitchFamily="34" charset="0"/>
                <a:ea typeface="Calibri" pitchFamily="34" charset="-122"/>
                <a:cs typeface="Calibri" pitchFamily="34" charset="-120"/>
              </a:rPr>
              <a:t>“I'm drowning in documentation.”</a:t>
            </a:r>
            <a:endParaRPr lang="en-US" sz="1500" dirty="0"/>
          </a:p>
        </p:txBody>
      </p:sp>
      <p:sp>
        <p:nvSpPr>
          <p:cNvPr id="18" name="Text 16"/>
          <p:cNvSpPr txBox="1"/>
          <p:nvPr/>
        </p:nvSpPr>
        <p:spPr>
          <a:xfrm>
            <a:off x="4588154" y="4389120"/>
            <a:ext cx="3015386" cy="274320"/>
          </a:xfrm>
          <a:prstGeom prst="rect">
            <a:avLst/>
          </a:prstGeom>
          <a:noFill/>
          <a:ln/>
        </p:spPr>
        <p:txBody>
          <a:bodyPr wrap="square" lIns="0" tIns="0" rIns="0" bIns="0" rtlCol="0" anchor="ctr"/>
          <a:lstStyle/>
          <a:p>
            <a:pPr indent="0" marL="0">
              <a:buNone/>
            </a:pPr>
            <a:r>
              <a:rPr lang="en-US" sz="1100" b="1" dirty="0">
                <a:solidFill>
                  <a:srgbClr val="0079A8"/>
                </a:solidFill>
                <a:latin typeface="Calibri" pitchFamily="34" charset="0"/>
                <a:ea typeface="Calibri" pitchFamily="34" charset="-122"/>
                <a:cs typeface="Calibri" pitchFamily="34" charset="-120"/>
              </a:rPr>
              <a:t>P13</a:t>
            </a:r>
            <a:pPr indent="0" marL="0">
              <a:buNone/>
            </a:pPr>
            <a:r>
              <a:rPr lang="en-US" sz="1100" dirty="0">
                <a:solidFill>
                  <a:srgbClr val="69718C"/>
                </a:solidFill>
                <a:latin typeface="Calibri" pitchFamily="34" charset="0"/>
                <a:ea typeface="Calibri" pitchFamily="34" charset="-122"/>
                <a:cs typeface="Calibri" pitchFamily="34" charset="-120"/>
              </a:rPr>
              <a:t>  ·  installer</a:t>
            </a:r>
            <a:endParaRPr lang="en-US" sz="1100" dirty="0"/>
          </a:p>
        </p:txBody>
      </p:sp>
      <p:sp>
        <p:nvSpPr>
          <p:cNvPr id="19" name="Shape 17"/>
          <p:cNvSpPr/>
          <p:nvPr/>
        </p:nvSpPr>
        <p:spPr>
          <a:xfrm>
            <a:off x="8152181" y="3429000"/>
            <a:ext cx="3472586" cy="1371600"/>
          </a:xfrm>
          <a:prstGeom prst="roundRect">
            <a:avLst>
              <a:gd name="adj" fmla="val 4000"/>
            </a:avLst>
          </a:prstGeom>
          <a:solidFill>
            <a:srgbClr val="FFFFFF"/>
          </a:solidFill>
          <a:ln w="12700">
            <a:solidFill>
              <a:srgbClr val="DCE3EE"/>
            </a:solidFill>
            <a:prstDash val="solid"/>
          </a:ln>
        </p:spPr>
      </p:sp>
      <p:sp>
        <p:nvSpPr>
          <p:cNvPr id="20" name="Text 18"/>
          <p:cNvSpPr txBox="1"/>
          <p:nvPr/>
        </p:nvSpPr>
        <p:spPr>
          <a:xfrm>
            <a:off x="8380781" y="3630168"/>
            <a:ext cx="3015386" cy="685800"/>
          </a:xfrm>
          <a:prstGeom prst="rect">
            <a:avLst/>
          </a:prstGeom>
          <a:noFill/>
          <a:ln/>
        </p:spPr>
        <p:txBody>
          <a:bodyPr wrap="square" lIns="0" tIns="0" rIns="0" bIns="0" rtlCol="0" anchor="ctr"/>
          <a:lstStyle/>
          <a:p>
            <a:pPr indent="0" marL="0">
              <a:lnSpc>
                <a:spcPts val="2000"/>
              </a:lnSpc>
              <a:buNone/>
            </a:pPr>
            <a:r>
              <a:rPr lang="en-US" sz="1500" dirty="0">
                <a:solidFill>
                  <a:srgbClr val="131C3D"/>
                </a:solidFill>
                <a:latin typeface="Calibri" pitchFamily="34" charset="0"/>
                <a:ea typeface="Calibri" pitchFamily="34" charset="-122"/>
                <a:cs typeface="Calibri" pitchFamily="34" charset="-120"/>
              </a:rPr>
              <a:t>“The configurator sends me nothing.”</a:t>
            </a:r>
            <a:endParaRPr lang="en-US" sz="1500" dirty="0"/>
          </a:p>
        </p:txBody>
      </p:sp>
      <p:sp>
        <p:nvSpPr>
          <p:cNvPr id="21" name="Text 19"/>
          <p:cNvSpPr txBox="1"/>
          <p:nvPr/>
        </p:nvSpPr>
        <p:spPr>
          <a:xfrm>
            <a:off x="8380781" y="4389120"/>
            <a:ext cx="3015386" cy="274320"/>
          </a:xfrm>
          <a:prstGeom prst="rect">
            <a:avLst/>
          </a:prstGeom>
          <a:noFill/>
          <a:ln/>
        </p:spPr>
        <p:txBody>
          <a:bodyPr wrap="square" lIns="0" tIns="0" rIns="0" bIns="0" rtlCol="0" anchor="ctr"/>
          <a:lstStyle/>
          <a:p>
            <a:pPr indent="0" marL="0">
              <a:buNone/>
            </a:pPr>
            <a:r>
              <a:rPr lang="en-US" sz="1100" b="1" dirty="0">
                <a:solidFill>
                  <a:srgbClr val="0079A8"/>
                </a:solidFill>
                <a:latin typeface="Calibri" pitchFamily="34" charset="0"/>
                <a:ea typeface="Calibri" pitchFamily="34" charset="-122"/>
                <a:cs typeface="Calibri" pitchFamily="34" charset="-120"/>
              </a:rPr>
              <a:t>P26</a:t>
            </a:r>
            <a:pPr indent="0" marL="0">
              <a:buNone/>
            </a:pPr>
            <a:r>
              <a:rPr lang="en-US" sz="1100" dirty="0">
                <a:solidFill>
                  <a:srgbClr val="69718C"/>
                </a:solidFill>
                <a:latin typeface="Calibri" pitchFamily="34" charset="0"/>
                <a:ea typeface="Calibri" pitchFamily="34" charset="-122"/>
                <a:cs typeface="Calibri" pitchFamily="34" charset="-120"/>
              </a:rPr>
              <a:t>  ·  sales</a:t>
            </a:r>
            <a:endParaRPr lang="en-US" sz="1100" dirty="0"/>
          </a:p>
        </p:txBody>
      </p:sp>
      <p:sp>
        <p:nvSpPr>
          <p:cNvPr id="22" name="Text 20"/>
          <p:cNvSpPr txBox="1"/>
          <p:nvPr/>
        </p:nvSpPr>
        <p:spPr>
          <a:xfrm>
            <a:off x="566928" y="5074920"/>
            <a:ext cx="11057839" cy="365760"/>
          </a:xfrm>
          <a:prstGeom prst="rect">
            <a:avLst/>
          </a:prstGeom>
          <a:noFill/>
          <a:ln/>
        </p:spPr>
        <p:txBody>
          <a:bodyPr wrap="square" lIns="0" tIns="0" rIns="0" bIns="0" rtlCol="0" anchor="ctr"/>
          <a:lstStyle/>
          <a:p>
            <a:pPr indent="0" marL="0">
              <a:buNone/>
            </a:pPr>
            <a:r>
              <a:rPr lang="en-US" sz="1300" i="1" dirty="0">
                <a:solidFill>
                  <a:srgbClr val="69718C"/>
                </a:solidFill>
                <a:latin typeface="Calibri" pitchFamily="34" charset="0"/>
                <a:ea typeface="Calibri" pitchFamily="34" charset="-122"/>
                <a:cs typeface="Calibri" pitchFamily="34" charset="-120"/>
              </a:rPr>
              <a:t>26 problems in total. Customers, installers and our own sales team all ended up on the same list — and often on the same line.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CFE"/>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56032"/>
          </a:xfrm>
          <a:prstGeom prst="rect">
            <a:avLst/>
          </a:prstGeom>
          <a:noFill/>
          <a:ln/>
        </p:spPr>
        <p:txBody>
          <a:bodyPr wrap="square" lIns="0" tIns="0" rIns="0" bIns="0" rtlCol="0" anchor="ctr"/>
          <a:lstStyle/>
          <a:p>
            <a:pPr indent="0" marL="0">
              <a:buNone/>
            </a:pPr>
            <a:r>
              <a:rPr lang="en-US" sz="1100" b="1" spc="160" kern="0" dirty="0">
                <a:solidFill>
                  <a:srgbClr val="0079A8"/>
                </a:solidFill>
                <a:latin typeface="Calibri" pitchFamily="34" charset="0"/>
                <a:ea typeface="Calibri" pitchFamily="34" charset="-122"/>
                <a:cs typeface="Calibri" pitchFamily="34" charset="-120"/>
              </a:rPr>
              <a:t>HOW WE SORTED THEM</a:t>
            </a:r>
            <a:endParaRPr lang="en-US" sz="1100" dirty="0"/>
          </a:p>
        </p:txBody>
      </p:sp>
      <p:sp>
        <p:nvSpPr>
          <p:cNvPr id="3" name="Text 1"/>
          <p:cNvSpPr txBox="1"/>
          <p:nvPr/>
        </p:nvSpPr>
        <p:spPr>
          <a:xfrm>
            <a:off x="566928" y="658368"/>
            <a:ext cx="11057839" cy="822960"/>
          </a:xfrm>
          <a:prstGeom prst="rect">
            <a:avLst/>
          </a:prstGeom>
          <a:noFill/>
          <a:ln/>
        </p:spPr>
        <p:txBody>
          <a:bodyPr wrap="square" lIns="0" tIns="0" rIns="0" bIns="0" rtlCol="0" anchor="t"/>
          <a:lstStyle/>
          <a:p>
            <a:pPr indent="0" marL="0">
              <a:buNone/>
            </a:pPr>
            <a:r>
              <a:rPr lang="en-US" sz="3400" b="1" dirty="0">
                <a:solidFill>
                  <a:srgbClr val="131C3D"/>
                </a:solidFill>
                <a:latin typeface="Calibri" pitchFamily="34" charset="0"/>
                <a:ea typeface="Calibri" pitchFamily="34" charset="-122"/>
                <a:cs typeface="Calibri" pitchFamily="34" charset="-120"/>
              </a:rPr>
              <a:t>26 problems, but only five things to build</a:t>
            </a:r>
            <a:endParaRPr lang="en-US" sz="3400" dirty="0"/>
          </a:p>
        </p:txBody>
      </p:sp>
      <p:sp>
        <p:nvSpPr>
          <p:cNvPr id="4" name="Text 2"/>
          <p:cNvSpPr txBox="1"/>
          <p:nvPr/>
        </p:nvSpPr>
        <p:spPr>
          <a:xfrm>
            <a:off x="566928" y="1572768"/>
            <a:ext cx="9601200" cy="365760"/>
          </a:xfrm>
          <a:prstGeom prst="rect">
            <a:avLst/>
          </a:prstGeom>
          <a:noFill/>
          <a:ln/>
        </p:spPr>
        <p:txBody>
          <a:bodyPr wrap="square" lIns="0" tIns="0" rIns="0" bIns="0" rtlCol="0" anchor="ctr"/>
          <a:lstStyle/>
          <a:p>
            <a:pPr indent="0" marL="0">
              <a:buNone/>
            </a:pPr>
            <a:r>
              <a:rPr lang="en-US" sz="1500" dirty="0">
                <a:solidFill>
                  <a:srgbClr val="1D2858"/>
                </a:solidFill>
                <a:latin typeface="Calibri" pitchFamily="34" charset="0"/>
                <a:ea typeface="Calibri" pitchFamily="34" charset="-122"/>
                <a:cs typeface="Calibri" pitchFamily="34" charset="-120"/>
              </a:rPr>
              <a:t>Sorted by the part of the tool that answers them, the list collapses. Each group is one mechanism, not a pile of features.</a:t>
            </a:r>
            <a:endParaRPr lang="en-US" sz="1500" dirty="0"/>
          </a:p>
        </p:txBody>
      </p:sp>
      <p:sp>
        <p:nvSpPr>
          <p:cNvPr id="5" name="Shape 3"/>
          <p:cNvSpPr/>
          <p:nvPr/>
        </p:nvSpPr>
        <p:spPr>
          <a:xfrm>
            <a:off x="566928" y="2148840"/>
            <a:ext cx="2028688" cy="2286000"/>
          </a:xfrm>
          <a:prstGeom prst="roundRect">
            <a:avLst>
              <a:gd name="adj" fmla="val 2704"/>
            </a:avLst>
          </a:prstGeom>
          <a:solidFill>
            <a:srgbClr val="FFFFFF"/>
          </a:solidFill>
          <a:ln w="12700">
            <a:solidFill>
              <a:srgbClr val="DCE3EE"/>
            </a:solidFill>
            <a:prstDash val="solid"/>
          </a:ln>
        </p:spPr>
      </p:sp>
      <p:sp>
        <p:nvSpPr>
          <p:cNvPr id="6" name="Shape 4"/>
          <p:cNvSpPr/>
          <p:nvPr/>
        </p:nvSpPr>
        <p:spPr>
          <a:xfrm>
            <a:off x="804672" y="2404872"/>
            <a:ext cx="502920" cy="502920"/>
          </a:xfrm>
          <a:prstGeom prst="ellipse">
            <a:avLst/>
          </a:prstGeom>
          <a:solidFill>
            <a:srgbClr val="00AEEF"/>
          </a:solidFill>
          <a:ln/>
        </p:spPr>
      </p:sp>
      <p:sp>
        <p:nvSpPr>
          <p:cNvPr id="7" name="Text 5"/>
          <p:cNvSpPr txBox="1"/>
          <p:nvPr/>
        </p:nvSpPr>
        <p:spPr>
          <a:xfrm>
            <a:off x="804672" y="2404872"/>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a:t>
            </a:r>
            <a:endParaRPr lang="en-US" sz="2200" dirty="0"/>
          </a:p>
        </p:txBody>
      </p:sp>
      <p:sp>
        <p:nvSpPr>
          <p:cNvPr id="8" name="Text 6"/>
          <p:cNvSpPr txBox="1"/>
          <p:nvPr/>
        </p:nvSpPr>
        <p:spPr>
          <a:xfrm>
            <a:off x="804672" y="3063240"/>
            <a:ext cx="1553200" cy="960120"/>
          </a:xfrm>
          <a:prstGeom prst="rect">
            <a:avLst/>
          </a:prstGeom>
          <a:noFill/>
          <a:ln/>
        </p:spPr>
        <p:txBody>
          <a:bodyPr wrap="square" lIns="0" tIns="0" rIns="0" bIns="0" rtlCol="0" anchor="ctr"/>
          <a:lstStyle/>
          <a:p>
            <a:pPr indent="0" marL="0">
              <a:lnSpc>
                <a:spcPts val="1800"/>
              </a:lnSpc>
              <a:buNone/>
            </a:pPr>
            <a:r>
              <a:rPr lang="en-US" sz="1350" b="1" dirty="0">
                <a:solidFill>
                  <a:srgbClr val="131C3D"/>
                </a:solidFill>
                <a:latin typeface="Calibri" pitchFamily="34" charset="0"/>
                <a:ea typeface="Calibri" pitchFamily="34" charset="-122"/>
                <a:cs typeface="Calibri" pitchFamily="34" charset="-120"/>
              </a:rPr>
              <a:t>The engine decides for the customer</a:t>
            </a:r>
            <a:endParaRPr lang="en-US" sz="1350" dirty="0"/>
          </a:p>
        </p:txBody>
      </p:sp>
      <p:sp>
        <p:nvSpPr>
          <p:cNvPr id="9" name="Text 7"/>
          <p:cNvSpPr txBox="1"/>
          <p:nvPr/>
        </p:nvSpPr>
        <p:spPr>
          <a:xfrm>
            <a:off x="804672" y="4050792"/>
            <a:ext cx="1553200" cy="274320"/>
          </a:xfrm>
          <a:prstGeom prst="rect">
            <a:avLst/>
          </a:prstGeom>
          <a:noFill/>
          <a:ln/>
        </p:spPr>
        <p:txBody>
          <a:bodyPr wrap="square" lIns="0" tIns="0" rIns="0" bIns="0" rtlCol="0" anchor="ctr"/>
          <a:lstStyle/>
          <a:p>
            <a:pPr indent="0" marL="0">
              <a:buNone/>
            </a:pPr>
            <a:r>
              <a:rPr lang="en-US" sz="1050" b="1" spc="100" kern="0" dirty="0">
                <a:solidFill>
                  <a:srgbClr val="69718C"/>
                </a:solidFill>
                <a:latin typeface="Calibri" pitchFamily="34" charset="0"/>
                <a:ea typeface="Calibri" pitchFamily="34" charset="-122"/>
                <a:cs typeface="Calibri" pitchFamily="34" charset="-120"/>
              </a:rPr>
              <a:t>6 PROBLEMS</a:t>
            </a:r>
            <a:endParaRPr lang="en-US" sz="1050" dirty="0"/>
          </a:p>
        </p:txBody>
      </p:sp>
      <p:sp>
        <p:nvSpPr>
          <p:cNvPr id="10" name="Shape 8"/>
          <p:cNvSpPr/>
          <p:nvPr/>
        </p:nvSpPr>
        <p:spPr>
          <a:xfrm>
            <a:off x="2824216" y="2148840"/>
            <a:ext cx="2028688" cy="2286000"/>
          </a:xfrm>
          <a:prstGeom prst="roundRect">
            <a:avLst>
              <a:gd name="adj" fmla="val 2704"/>
            </a:avLst>
          </a:prstGeom>
          <a:solidFill>
            <a:srgbClr val="FFFFFF"/>
          </a:solidFill>
          <a:ln w="12700">
            <a:solidFill>
              <a:srgbClr val="DCE3EE"/>
            </a:solidFill>
            <a:prstDash val="solid"/>
          </a:ln>
        </p:spPr>
      </p:sp>
      <p:sp>
        <p:nvSpPr>
          <p:cNvPr id="11" name="Shape 9"/>
          <p:cNvSpPr/>
          <p:nvPr/>
        </p:nvSpPr>
        <p:spPr>
          <a:xfrm>
            <a:off x="3061960" y="2404872"/>
            <a:ext cx="502920" cy="502920"/>
          </a:xfrm>
          <a:prstGeom prst="ellipse">
            <a:avLst/>
          </a:prstGeom>
          <a:solidFill>
            <a:srgbClr val="00AEEF"/>
          </a:solidFill>
          <a:ln/>
        </p:spPr>
      </p:sp>
      <p:sp>
        <p:nvSpPr>
          <p:cNvPr id="12" name="Text 10"/>
          <p:cNvSpPr txBox="1"/>
          <p:nvPr/>
        </p:nvSpPr>
        <p:spPr>
          <a:xfrm>
            <a:off x="3061960" y="2404872"/>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a:t>
            </a:r>
            <a:endParaRPr lang="en-US" sz="2200" dirty="0"/>
          </a:p>
        </p:txBody>
      </p:sp>
      <p:sp>
        <p:nvSpPr>
          <p:cNvPr id="13" name="Text 11"/>
          <p:cNvSpPr txBox="1"/>
          <p:nvPr/>
        </p:nvSpPr>
        <p:spPr>
          <a:xfrm>
            <a:off x="3061960" y="3063240"/>
            <a:ext cx="1553200" cy="960120"/>
          </a:xfrm>
          <a:prstGeom prst="rect">
            <a:avLst/>
          </a:prstGeom>
          <a:noFill/>
          <a:ln/>
        </p:spPr>
        <p:txBody>
          <a:bodyPr wrap="square" lIns="0" tIns="0" rIns="0" bIns="0" rtlCol="0" anchor="ctr"/>
          <a:lstStyle/>
          <a:p>
            <a:pPr indent="0" marL="0">
              <a:lnSpc>
                <a:spcPts val="1800"/>
              </a:lnSpc>
              <a:buNone/>
            </a:pPr>
            <a:r>
              <a:rPr lang="en-US" sz="1350" b="1" dirty="0">
                <a:solidFill>
                  <a:srgbClr val="131C3D"/>
                </a:solidFill>
                <a:latin typeface="Calibri" pitchFamily="34" charset="0"/>
                <a:ea typeface="Calibri" pitchFamily="34" charset="-122"/>
                <a:cs typeface="Calibri" pitchFamily="34" charset="-120"/>
              </a:rPr>
              <a:t>The shape of the journey</a:t>
            </a:r>
            <a:endParaRPr lang="en-US" sz="1350" dirty="0"/>
          </a:p>
        </p:txBody>
      </p:sp>
      <p:sp>
        <p:nvSpPr>
          <p:cNvPr id="14" name="Text 12"/>
          <p:cNvSpPr txBox="1"/>
          <p:nvPr/>
        </p:nvSpPr>
        <p:spPr>
          <a:xfrm>
            <a:off x="3061960" y="4050792"/>
            <a:ext cx="1553200" cy="274320"/>
          </a:xfrm>
          <a:prstGeom prst="rect">
            <a:avLst/>
          </a:prstGeom>
          <a:noFill/>
          <a:ln/>
        </p:spPr>
        <p:txBody>
          <a:bodyPr wrap="square" lIns="0" tIns="0" rIns="0" bIns="0" rtlCol="0" anchor="ctr"/>
          <a:lstStyle/>
          <a:p>
            <a:pPr indent="0" marL="0">
              <a:buNone/>
            </a:pPr>
            <a:r>
              <a:rPr lang="en-US" sz="1050" b="1" spc="100" kern="0" dirty="0">
                <a:solidFill>
                  <a:srgbClr val="69718C"/>
                </a:solidFill>
                <a:latin typeface="Calibri" pitchFamily="34" charset="0"/>
                <a:ea typeface="Calibri" pitchFamily="34" charset="-122"/>
                <a:cs typeface="Calibri" pitchFamily="34" charset="-120"/>
              </a:rPr>
              <a:t>5 PROBLEMS</a:t>
            </a:r>
            <a:endParaRPr lang="en-US" sz="1050" dirty="0"/>
          </a:p>
        </p:txBody>
      </p:sp>
      <p:sp>
        <p:nvSpPr>
          <p:cNvPr id="15" name="Shape 13"/>
          <p:cNvSpPr/>
          <p:nvPr/>
        </p:nvSpPr>
        <p:spPr>
          <a:xfrm>
            <a:off x="5081504" y="2148840"/>
            <a:ext cx="2028688" cy="2286000"/>
          </a:xfrm>
          <a:prstGeom prst="roundRect">
            <a:avLst>
              <a:gd name="adj" fmla="val 2704"/>
            </a:avLst>
          </a:prstGeom>
          <a:solidFill>
            <a:srgbClr val="FFFFFF"/>
          </a:solidFill>
          <a:ln w="12700">
            <a:solidFill>
              <a:srgbClr val="DCE3EE"/>
            </a:solidFill>
            <a:prstDash val="solid"/>
          </a:ln>
        </p:spPr>
      </p:sp>
      <p:sp>
        <p:nvSpPr>
          <p:cNvPr id="16" name="Shape 14"/>
          <p:cNvSpPr/>
          <p:nvPr/>
        </p:nvSpPr>
        <p:spPr>
          <a:xfrm>
            <a:off x="5319248" y="2404872"/>
            <a:ext cx="502920" cy="502920"/>
          </a:xfrm>
          <a:prstGeom prst="ellipse">
            <a:avLst/>
          </a:prstGeom>
          <a:solidFill>
            <a:srgbClr val="00AEEF"/>
          </a:solidFill>
          <a:ln/>
        </p:spPr>
      </p:sp>
      <p:sp>
        <p:nvSpPr>
          <p:cNvPr id="17" name="Text 15"/>
          <p:cNvSpPr txBox="1"/>
          <p:nvPr/>
        </p:nvSpPr>
        <p:spPr>
          <a:xfrm>
            <a:off x="5319248" y="2404872"/>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C</a:t>
            </a:r>
            <a:endParaRPr lang="en-US" sz="2200" dirty="0"/>
          </a:p>
        </p:txBody>
      </p:sp>
      <p:sp>
        <p:nvSpPr>
          <p:cNvPr id="18" name="Text 16"/>
          <p:cNvSpPr txBox="1"/>
          <p:nvPr/>
        </p:nvSpPr>
        <p:spPr>
          <a:xfrm>
            <a:off x="5319248" y="3063240"/>
            <a:ext cx="1553200" cy="960120"/>
          </a:xfrm>
          <a:prstGeom prst="rect">
            <a:avLst/>
          </a:prstGeom>
          <a:noFill/>
          <a:ln/>
        </p:spPr>
        <p:txBody>
          <a:bodyPr wrap="square" lIns="0" tIns="0" rIns="0" bIns="0" rtlCol="0" anchor="ctr"/>
          <a:lstStyle/>
          <a:p>
            <a:pPr indent="0" marL="0">
              <a:lnSpc>
                <a:spcPts val="1800"/>
              </a:lnSpc>
              <a:buNone/>
            </a:pPr>
            <a:r>
              <a:rPr lang="en-US" sz="1350" b="1" dirty="0">
                <a:solidFill>
                  <a:srgbClr val="131C3D"/>
                </a:solidFill>
                <a:latin typeface="Calibri" pitchFamily="34" charset="0"/>
                <a:ea typeface="Calibri" pitchFamily="34" charset="-122"/>
                <a:cs typeface="Calibri" pitchFamily="34" charset="-120"/>
              </a:rPr>
              <a:t>Making the system understandable</a:t>
            </a:r>
            <a:endParaRPr lang="en-US" sz="1350" dirty="0"/>
          </a:p>
        </p:txBody>
      </p:sp>
      <p:sp>
        <p:nvSpPr>
          <p:cNvPr id="19" name="Text 17"/>
          <p:cNvSpPr txBox="1"/>
          <p:nvPr/>
        </p:nvSpPr>
        <p:spPr>
          <a:xfrm>
            <a:off x="5319248" y="4050792"/>
            <a:ext cx="1553200" cy="274320"/>
          </a:xfrm>
          <a:prstGeom prst="rect">
            <a:avLst/>
          </a:prstGeom>
          <a:noFill/>
          <a:ln/>
        </p:spPr>
        <p:txBody>
          <a:bodyPr wrap="square" lIns="0" tIns="0" rIns="0" bIns="0" rtlCol="0" anchor="ctr"/>
          <a:lstStyle/>
          <a:p>
            <a:pPr indent="0" marL="0">
              <a:buNone/>
            </a:pPr>
            <a:r>
              <a:rPr lang="en-US" sz="1050" b="1" spc="100" kern="0" dirty="0">
                <a:solidFill>
                  <a:srgbClr val="69718C"/>
                </a:solidFill>
                <a:latin typeface="Calibri" pitchFamily="34" charset="0"/>
                <a:ea typeface="Calibri" pitchFamily="34" charset="-122"/>
                <a:cs typeface="Calibri" pitchFamily="34" charset="-120"/>
              </a:rPr>
              <a:t>8 PROBLEMS</a:t>
            </a:r>
            <a:endParaRPr lang="en-US" sz="1050" dirty="0"/>
          </a:p>
        </p:txBody>
      </p:sp>
      <p:sp>
        <p:nvSpPr>
          <p:cNvPr id="20" name="Shape 18"/>
          <p:cNvSpPr/>
          <p:nvPr/>
        </p:nvSpPr>
        <p:spPr>
          <a:xfrm>
            <a:off x="7338792" y="2148840"/>
            <a:ext cx="2028688" cy="2286000"/>
          </a:xfrm>
          <a:prstGeom prst="roundRect">
            <a:avLst>
              <a:gd name="adj" fmla="val 2704"/>
            </a:avLst>
          </a:prstGeom>
          <a:solidFill>
            <a:srgbClr val="FFFFFF"/>
          </a:solidFill>
          <a:ln w="12700">
            <a:solidFill>
              <a:srgbClr val="DCE3EE"/>
            </a:solidFill>
            <a:prstDash val="solid"/>
          </a:ln>
        </p:spPr>
      </p:sp>
      <p:sp>
        <p:nvSpPr>
          <p:cNvPr id="21" name="Shape 19"/>
          <p:cNvSpPr/>
          <p:nvPr/>
        </p:nvSpPr>
        <p:spPr>
          <a:xfrm>
            <a:off x="7576536" y="2404872"/>
            <a:ext cx="502920" cy="502920"/>
          </a:xfrm>
          <a:prstGeom prst="ellipse">
            <a:avLst/>
          </a:prstGeom>
          <a:solidFill>
            <a:srgbClr val="00AEEF"/>
          </a:solidFill>
          <a:ln/>
        </p:spPr>
      </p:sp>
      <p:sp>
        <p:nvSpPr>
          <p:cNvPr id="22" name="Text 20"/>
          <p:cNvSpPr txBox="1"/>
          <p:nvPr/>
        </p:nvSpPr>
        <p:spPr>
          <a:xfrm>
            <a:off x="7576536" y="2404872"/>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D</a:t>
            </a:r>
            <a:endParaRPr lang="en-US" sz="2200" dirty="0"/>
          </a:p>
        </p:txBody>
      </p:sp>
      <p:sp>
        <p:nvSpPr>
          <p:cNvPr id="23" name="Text 21"/>
          <p:cNvSpPr txBox="1"/>
          <p:nvPr/>
        </p:nvSpPr>
        <p:spPr>
          <a:xfrm>
            <a:off x="7576536" y="3063240"/>
            <a:ext cx="1553200" cy="960120"/>
          </a:xfrm>
          <a:prstGeom prst="rect">
            <a:avLst/>
          </a:prstGeom>
          <a:noFill/>
          <a:ln/>
        </p:spPr>
        <p:txBody>
          <a:bodyPr wrap="square" lIns="0" tIns="0" rIns="0" bIns="0" rtlCol="0" anchor="ctr"/>
          <a:lstStyle/>
          <a:p>
            <a:pPr indent="0" marL="0">
              <a:lnSpc>
                <a:spcPts val="1800"/>
              </a:lnSpc>
              <a:buNone/>
            </a:pPr>
            <a:r>
              <a:rPr lang="en-US" sz="1350" b="1" dirty="0">
                <a:solidFill>
                  <a:srgbClr val="131C3D"/>
                </a:solidFill>
                <a:latin typeface="Calibri" pitchFamily="34" charset="0"/>
                <a:ea typeface="Calibri" pitchFamily="34" charset="-122"/>
                <a:cs typeface="Calibri" pitchFamily="34" charset="-120"/>
              </a:rPr>
              <a:t>The installer's own tools</a:t>
            </a:r>
            <a:endParaRPr lang="en-US" sz="1350" dirty="0"/>
          </a:p>
        </p:txBody>
      </p:sp>
      <p:sp>
        <p:nvSpPr>
          <p:cNvPr id="24" name="Text 22"/>
          <p:cNvSpPr txBox="1"/>
          <p:nvPr/>
        </p:nvSpPr>
        <p:spPr>
          <a:xfrm>
            <a:off x="7576536" y="4050792"/>
            <a:ext cx="1553200" cy="274320"/>
          </a:xfrm>
          <a:prstGeom prst="rect">
            <a:avLst/>
          </a:prstGeom>
          <a:noFill/>
          <a:ln/>
        </p:spPr>
        <p:txBody>
          <a:bodyPr wrap="square" lIns="0" tIns="0" rIns="0" bIns="0" rtlCol="0" anchor="ctr"/>
          <a:lstStyle/>
          <a:p>
            <a:pPr indent="0" marL="0">
              <a:buNone/>
            </a:pPr>
            <a:r>
              <a:rPr lang="en-US" sz="1050" b="1" spc="100" kern="0" dirty="0">
                <a:solidFill>
                  <a:srgbClr val="69718C"/>
                </a:solidFill>
                <a:latin typeface="Calibri" pitchFamily="34" charset="0"/>
                <a:ea typeface="Calibri" pitchFamily="34" charset="-122"/>
                <a:cs typeface="Calibri" pitchFamily="34" charset="-120"/>
              </a:rPr>
              <a:t>4 PROBLEMS</a:t>
            </a:r>
            <a:endParaRPr lang="en-US" sz="1050" dirty="0"/>
          </a:p>
        </p:txBody>
      </p:sp>
      <p:sp>
        <p:nvSpPr>
          <p:cNvPr id="25" name="Shape 23"/>
          <p:cNvSpPr/>
          <p:nvPr/>
        </p:nvSpPr>
        <p:spPr>
          <a:xfrm>
            <a:off x="9596079" y="2148840"/>
            <a:ext cx="2028688" cy="2286000"/>
          </a:xfrm>
          <a:prstGeom prst="roundRect">
            <a:avLst>
              <a:gd name="adj" fmla="val 2704"/>
            </a:avLst>
          </a:prstGeom>
          <a:solidFill>
            <a:srgbClr val="FFFFFF"/>
          </a:solidFill>
          <a:ln w="12700">
            <a:solidFill>
              <a:srgbClr val="DCE3EE"/>
            </a:solidFill>
            <a:prstDash val="solid"/>
          </a:ln>
        </p:spPr>
      </p:sp>
      <p:sp>
        <p:nvSpPr>
          <p:cNvPr id="26" name="Shape 24"/>
          <p:cNvSpPr/>
          <p:nvPr/>
        </p:nvSpPr>
        <p:spPr>
          <a:xfrm>
            <a:off x="9833823" y="2404872"/>
            <a:ext cx="502920" cy="502920"/>
          </a:xfrm>
          <a:prstGeom prst="ellipse">
            <a:avLst/>
          </a:prstGeom>
          <a:solidFill>
            <a:srgbClr val="00AEEF"/>
          </a:solidFill>
          <a:ln/>
        </p:spPr>
      </p:sp>
      <p:sp>
        <p:nvSpPr>
          <p:cNvPr id="27" name="Text 25"/>
          <p:cNvSpPr txBox="1"/>
          <p:nvPr/>
        </p:nvSpPr>
        <p:spPr>
          <a:xfrm>
            <a:off x="9833823" y="2404872"/>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E</a:t>
            </a:r>
            <a:endParaRPr lang="en-US" sz="2200" dirty="0"/>
          </a:p>
        </p:txBody>
      </p:sp>
      <p:sp>
        <p:nvSpPr>
          <p:cNvPr id="28" name="Text 26"/>
          <p:cNvSpPr txBox="1"/>
          <p:nvPr/>
        </p:nvSpPr>
        <p:spPr>
          <a:xfrm>
            <a:off x="9833823" y="3063240"/>
            <a:ext cx="1553200" cy="960120"/>
          </a:xfrm>
          <a:prstGeom prst="rect">
            <a:avLst/>
          </a:prstGeom>
          <a:noFill/>
          <a:ln/>
        </p:spPr>
        <p:txBody>
          <a:bodyPr wrap="square" lIns="0" tIns="0" rIns="0" bIns="0" rtlCol="0" anchor="ctr"/>
          <a:lstStyle/>
          <a:p>
            <a:pPr indent="0" marL="0">
              <a:lnSpc>
                <a:spcPts val="1800"/>
              </a:lnSpc>
              <a:buNone/>
            </a:pPr>
            <a:r>
              <a:rPr lang="en-US" sz="1350" b="1" dirty="0">
                <a:solidFill>
                  <a:srgbClr val="131C3D"/>
                </a:solidFill>
                <a:latin typeface="Calibri" pitchFamily="34" charset="0"/>
                <a:ea typeface="Calibri" pitchFamily="34" charset="-122"/>
                <a:cs typeface="Calibri" pitchFamily="34" charset="-120"/>
              </a:rPr>
              <a:t>When the tool can't decide</a:t>
            </a:r>
            <a:endParaRPr lang="en-US" sz="1350" dirty="0"/>
          </a:p>
        </p:txBody>
      </p:sp>
      <p:sp>
        <p:nvSpPr>
          <p:cNvPr id="29" name="Text 27"/>
          <p:cNvSpPr txBox="1"/>
          <p:nvPr/>
        </p:nvSpPr>
        <p:spPr>
          <a:xfrm>
            <a:off x="9833823" y="4050792"/>
            <a:ext cx="1553200" cy="274320"/>
          </a:xfrm>
          <a:prstGeom prst="rect">
            <a:avLst/>
          </a:prstGeom>
          <a:noFill/>
          <a:ln/>
        </p:spPr>
        <p:txBody>
          <a:bodyPr wrap="square" lIns="0" tIns="0" rIns="0" bIns="0" rtlCol="0" anchor="ctr"/>
          <a:lstStyle/>
          <a:p>
            <a:pPr indent="0" marL="0">
              <a:buNone/>
            </a:pPr>
            <a:r>
              <a:rPr lang="en-US" sz="1050" b="1" spc="100" kern="0" dirty="0">
                <a:solidFill>
                  <a:srgbClr val="69718C"/>
                </a:solidFill>
                <a:latin typeface="Calibri" pitchFamily="34" charset="0"/>
                <a:ea typeface="Calibri" pitchFamily="34" charset="-122"/>
                <a:cs typeface="Calibri" pitchFamily="34" charset="-120"/>
              </a:rPr>
              <a:t>3 PROBLEMS</a:t>
            </a:r>
            <a:endParaRPr lang="en-US" sz="1050" dirty="0"/>
          </a:p>
        </p:txBody>
      </p:sp>
      <p:sp>
        <p:nvSpPr>
          <p:cNvPr id="30" name="Text 28"/>
          <p:cNvSpPr txBox="1"/>
          <p:nvPr/>
        </p:nvSpPr>
        <p:spPr>
          <a:xfrm>
            <a:off x="566928" y="4846320"/>
            <a:ext cx="11057839" cy="365760"/>
          </a:xfrm>
          <a:prstGeom prst="rect">
            <a:avLst/>
          </a:prstGeom>
          <a:noFill/>
          <a:ln/>
        </p:spPr>
        <p:txBody>
          <a:bodyPr wrap="square" lIns="0" tIns="0" rIns="0" bIns="0" rtlCol="0" anchor="ctr"/>
          <a:lstStyle/>
          <a:p>
            <a:pPr indent="0" marL="0">
              <a:buNone/>
            </a:pPr>
            <a:r>
              <a:rPr lang="en-US" sz="1300" i="1" dirty="0">
                <a:solidFill>
                  <a:srgbClr val="69718C"/>
                </a:solidFill>
                <a:latin typeface="Calibri" pitchFamily="34" charset="0"/>
                <a:ea typeface="Calibri" pitchFamily="34" charset="-122"/>
                <a:cs typeface="Calibri" pitchFamily="34" charset="-120"/>
              </a:rPr>
              <a:t>This is the plan for the next 12 minutes: one group, one answer, one live look at the tool.</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CFE"/>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56032"/>
          </a:xfrm>
          <a:prstGeom prst="rect">
            <a:avLst/>
          </a:prstGeom>
          <a:noFill/>
          <a:ln/>
        </p:spPr>
        <p:txBody>
          <a:bodyPr wrap="square" lIns="0" tIns="0" rIns="0" bIns="0" rtlCol="0" anchor="ctr"/>
          <a:lstStyle/>
          <a:p>
            <a:pPr indent="0" marL="0">
              <a:buNone/>
            </a:pPr>
            <a:r>
              <a:rPr lang="en-US" sz="1100" b="1" spc="160" kern="0" dirty="0">
                <a:solidFill>
                  <a:srgbClr val="0079A8"/>
                </a:solidFill>
                <a:latin typeface="Calibri" pitchFamily="34" charset="0"/>
                <a:ea typeface="Calibri" pitchFamily="34" charset="-122"/>
                <a:cs typeface="Calibri" pitchFamily="34" charset="-120"/>
              </a:rPr>
              <a:t>BEFORE THE GROUPS · THE IDEA UNDERNEATH</a:t>
            </a:r>
            <a:endParaRPr lang="en-US" sz="1100" dirty="0"/>
          </a:p>
        </p:txBody>
      </p:sp>
      <p:sp>
        <p:nvSpPr>
          <p:cNvPr id="3" name="Text 1"/>
          <p:cNvSpPr txBox="1"/>
          <p:nvPr/>
        </p:nvSpPr>
        <p:spPr>
          <a:xfrm>
            <a:off x="566928" y="658368"/>
            <a:ext cx="11057839" cy="822960"/>
          </a:xfrm>
          <a:prstGeom prst="rect">
            <a:avLst/>
          </a:prstGeom>
          <a:noFill/>
          <a:ln/>
        </p:spPr>
        <p:txBody>
          <a:bodyPr wrap="square" lIns="0" tIns="0" rIns="0" bIns="0" rtlCol="0" anchor="t"/>
          <a:lstStyle/>
          <a:p>
            <a:pPr indent="0" marL="0">
              <a:buNone/>
            </a:pPr>
            <a:r>
              <a:rPr lang="en-US" sz="3400" b="1" dirty="0">
                <a:solidFill>
                  <a:srgbClr val="131C3D"/>
                </a:solidFill>
                <a:latin typeface="Calibri" pitchFamily="34" charset="0"/>
                <a:ea typeface="Calibri" pitchFamily="34" charset="-122"/>
                <a:cs typeface="Calibri" pitchFamily="34" charset="-120"/>
              </a:rPr>
              <a:t>The questions never name a product</a:t>
            </a:r>
            <a:endParaRPr lang="en-US" sz="3400" dirty="0"/>
          </a:p>
        </p:txBody>
      </p:sp>
      <p:sp>
        <p:nvSpPr>
          <p:cNvPr id="4" name="Text 2"/>
          <p:cNvSpPr txBox="1"/>
          <p:nvPr/>
        </p:nvSpPr>
        <p:spPr>
          <a:xfrm>
            <a:off x="566928" y="1572768"/>
            <a:ext cx="10058400" cy="548640"/>
          </a:xfrm>
          <a:prstGeom prst="rect">
            <a:avLst/>
          </a:prstGeom>
          <a:noFill/>
          <a:ln/>
        </p:spPr>
        <p:txBody>
          <a:bodyPr wrap="square" lIns="0" tIns="0" rIns="0" bIns="0" rtlCol="0" anchor="ctr"/>
          <a:lstStyle/>
          <a:p>
            <a:pPr indent="0" marL="0">
              <a:lnSpc>
                <a:spcPts val="2100"/>
              </a:lnSpc>
              <a:buNone/>
            </a:pPr>
            <a:r>
              <a:rPr lang="en-US" sz="1500" dirty="0">
                <a:solidFill>
                  <a:srgbClr val="1D2858"/>
                </a:solidFill>
                <a:latin typeface="Calibri" pitchFamily="34" charset="0"/>
                <a:ea typeface="Calibri" pitchFamily="34" charset="-122"/>
                <a:cs typeface="Calibri" pitchFamily="34" charset="-120"/>
              </a:rPr>
              <a:t>Every configurator we have today asks the customer to pick from a catalogue. This one asks about the home, turns the answers into roles, and only picks product codes at the last moment.</a:t>
            </a:r>
            <a:endParaRPr lang="en-US" sz="1500" dirty="0"/>
          </a:p>
        </p:txBody>
      </p:sp>
      <p:sp>
        <p:nvSpPr>
          <p:cNvPr id="5" name="Shape 3"/>
          <p:cNvSpPr/>
          <p:nvPr/>
        </p:nvSpPr>
        <p:spPr>
          <a:xfrm>
            <a:off x="566928" y="2286000"/>
            <a:ext cx="2455850" cy="2057400"/>
          </a:xfrm>
          <a:prstGeom prst="roundRect">
            <a:avLst>
              <a:gd name="adj" fmla="val 2667"/>
            </a:avLst>
          </a:prstGeom>
          <a:solidFill>
            <a:srgbClr val="FFFFFF"/>
          </a:solidFill>
          <a:ln w="12700">
            <a:solidFill>
              <a:srgbClr val="DCE3EE"/>
            </a:solidFill>
            <a:prstDash val="solid"/>
          </a:ln>
        </p:spPr>
      </p:sp>
      <p:sp>
        <p:nvSpPr>
          <p:cNvPr id="6" name="Text 4"/>
          <p:cNvSpPr txBox="1"/>
          <p:nvPr/>
        </p:nvSpPr>
        <p:spPr>
          <a:xfrm>
            <a:off x="795528" y="2487168"/>
            <a:ext cx="1998650" cy="228600"/>
          </a:xfrm>
          <a:prstGeom prst="rect">
            <a:avLst/>
          </a:prstGeom>
          <a:noFill/>
          <a:ln/>
        </p:spPr>
        <p:txBody>
          <a:bodyPr wrap="square" lIns="0" tIns="0" rIns="0" bIns="0" rtlCol="0" anchor="ctr"/>
          <a:lstStyle/>
          <a:p>
            <a:pPr indent="0" marL="0">
              <a:buNone/>
            </a:pPr>
            <a:r>
              <a:rPr lang="en-US" sz="1000" b="1" spc="110" kern="0" dirty="0">
                <a:solidFill>
                  <a:srgbClr val="69718C"/>
                </a:solidFill>
                <a:latin typeface="Calibri" pitchFamily="34" charset="0"/>
                <a:ea typeface="Calibri" pitchFamily="34" charset="-122"/>
                <a:cs typeface="Calibri" pitchFamily="34" charset="-120"/>
              </a:rPr>
              <a:t>STAGE 1</a:t>
            </a:r>
            <a:endParaRPr lang="en-US" sz="1000" dirty="0"/>
          </a:p>
        </p:txBody>
      </p:sp>
      <p:sp>
        <p:nvSpPr>
          <p:cNvPr id="7" name="Text 5"/>
          <p:cNvSpPr txBox="1"/>
          <p:nvPr/>
        </p:nvSpPr>
        <p:spPr>
          <a:xfrm>
            <a:off x="795528" y="2743200"/>
            <a:ext cx="1998650" cy="365760"/>
          </a:xfrm>
          <a:prstGeom prst="rect">
            <a:avLst/>
          </a:prstGeom>
          <a:noFill/>
          <a:ln/>
        </p:spPr>
        <p:txBody>
          <a:bodyPr wrap="square" lIns="0" tIns="0" rIns="0" bIns="0" rtlCol="0" anchor="ctr"/>
          <a:lstStyle/>
          <a:p>
            <a:pPr indent="0" marL="0">
              <a:buNone/>
            </a:pPr>
            <a:r>
              <a:rPr lang="en-US" sz="1900" b="1" dirty="0">
                <a:solidFill>
                  <a:srgbClr val="131C3D"/>
                </a:solidFill>
                <a:latin typeface="Calibri" pitchFamily="34" charset="0"/>
                <a:ea typeface="Calibri" pitchFamily="34" charset="-122"/>
                <a:cs typeface="Calibri" pitchFamily="34" charset="-120"/>
              </a:rPr>
              <a:t>Questions</a:t>
            </a:r>
            <a:endParaRPr lang="en-US" sz="1900" dirty="0"/>
          </a:p>
        </p:txBody>
      </p:sp>
      <p:sp>
        <p:nvSpPr>
          <p:cNvPr id="8" name="Text 6"/>
          <p:cNvSpPr txBox="1"/>
          <p:nvPr/>
        </p:nvSpPr>
        <p:spPr>
          <a:xfrm>
            <a:off x="795528" y="3200400"/>
            <a:ext cx="1998650" cy="1005840"/>
          </a:xfrm>
          <a:prstGeom prst="rect">
            <a:avLst/>
          </a:prstGeom>
          <a:noFill/>
          <a:ln/>
        </p:spPr>
        <p:txBody>
          <a:bodyPr wrap="square" lIns="0" tIns="0" rIns="0" bIns="0" rtlCol="0" anchor="ctr"/>
          <a:lstStyle/>
          <a:p>
            <a:pPr indent="0" marL="0">
              <a:lnSpc>
                <a:spcPts val="1700"/>
              </a:lnSpc>
              <a:buNone/>
            </a:pPr>
            <a:r>
              <a:rPr lang="en-US" sz="1200" dirty="0">
                <a:solidFill>
                  <a:srgbClr val="1D2858"/>
                </a:solidFill>
                <a:latin typeface="Calibri" pitchFamily="34" charset="0"/>
                <a:ea typeface="Calibri" pitchFamily="34" charset="-122"/>
                <a:cs typeface="Calibri" pitchFamily="34" charset="-120"/>
              </a:rPr>
              <a:t>Under 10 screens.</a:t>
            </a:r>
            <a:endParaRPr lang="en-US" sz="1200" dirty="0"/>
          </a:p>
          <a:p>
            <a:pPr indent="0" marL="0">
              <a:lnSpc>
                <a:spcPts val="1700"/>
              </a:lnSpc>
              <a:buNone/>
            </a:pPr>
            <a:r>
              <a:rPr lang="en-US" sz="1200" dirty="0">
                <a:solidFill>
                  <a:srgbClr val="1D2858"/>
                </a:solidFill>
                <a:latin typeface="Calibri" pitchFamily="34" charset="0"/>
                <a:ea typeface="Calibri" pitchFamily="34" charset="-122"/>
                <a:cs typeface="Calibri" pitchFamily="34" charset="-120"/>
              </a:rPr>
              <a:t>Illustrated cards.</a:t>
            </a:r>
            <a:endParaRPr lang="en-US" sz="1200" dirty="0"/>
          </a:p>
          <a:p>
            <a:pPr indent="0" marL="0">
              <a:lnSpc>
                <a:spcPts val="1700"/>
              </a:lnSpc>
              <a:buNone/>
            </a:pPr>
            <a:r>
              <a:rPr lang="en-US" sz="1200" dirty="0">
                <a:solidFill>
                  <a:srgbClr val="1D2858"/>
                </a:solidFill>
                <a:latin typeface="Calibri" pitchFamily="34" charset="0"/>
                <a:ea typeface="Calibri" pitchFamily="34" charset="-122"/>
                <a:cs typeface="Calibri" pitchFamily="34" charset="-120"/>
              </a:rPr>
              <a:t>No catalogue.</a:t>
            </a:r>
            <a:endParaRPr lang="en-US" sz="1200" dirty="0"/>
          </a:p>
        </p:txBody>
      </p:sp>
      <p:sp>
        <p:nvSpPr>
          <p:cNvPr id="9" name="Text 7"/>
          <p:cNvSpPr txBox="1"/>
          <p:nvPr/>
        </p:nvSpPr>
        <p:spPr>
          <a:xfrm>
            <a:off x="3041066" y="3063240"/>
            <a:ext cx="374904" cy="457200"/>
          </a:xfrm>
          <a:prstGeom prst="rect">
            <a:avLst/>
          </a:prstGeom>
          <a:noFill/>
          <a:ln/>
        </p:spPr>
        <p:txBody>
          <a:bodyPr wrap="square" lIns="0" tIns="0" rIns="0" bIns="0" rtlCol="0" anchor="ctr"/>
          <a:lstStyle/>
          <a:p>
            <a:pPr algn="ctr" indent="0" marL="0">
              <a:buNone/>
            </a:pPr>
            <a:r>
              <a:rPr lang="en-US" sz="2600" b="1" dirty="0">
                <a:solidFill>
                  <a:srgbClr val="00AEEF"/>
                </a:solidFill>
                <a:latin typeface="Calibri" pitchFamily="34" charset="0"/>
                <a:ea typeface="Calibri" pitchFamily="34" charset="-122"/>
                <a:cs typeface="Calibri" pitchFamily="34" charset="-120"/>
              </a:rPr>
              <a:t>›</a:t>
            </a:r>
            <a:endParaRPr lang="en-US" sz="2600" dirty="0"/>
          </a:p>
        </p:txBody>
      </p:sp>
      <p:sp>
        <p:nvSpPr>
          <p:cNvPr id="10" name="Shape 8"/>
          <p:cNvSpPr/>
          <p:nvPr/>
        </p:nvSpPr>
        <p:spPr>
          <a:xfrm>
            <a:off x="3434258" y="2286000"/>
            <a:ext cx="2455850" cy="2057400"/>
          </a:xfrm>
          <a:prstGeom prst="roundRect">
            <a:avLst>
              <a:gd name="adj" fmla="val 2667"/>
            </a:avLst>
          </a:prstGeom>
          <a:solidFill>
            <a:srgbClr val="FFFFFF"/>
          </a:solidFill>
          <a:ln w="12700">
            <a:solidFill>
              <a:srgbClr val="DCE3EE"/>
            </a:solidFill>
            <a:prstDash val="solid"/>
          </a:ln>
        </p:spPr>
      </p:sp>
      <p:sp>
        <p:nvSpPr>
          <p:cNvPr id="11" name="Text 9"/>
          <p:cNvSpPr txBox="1"/>
          <p:nvPr/>
        </p:nvSpPr>
        <p:spPr>
          <a:xfrm>
            <a:off x="3662858" y="2487168"/>
            <a:ext cx="1998650" cy="228600"/>
          </a:xfrm>
          <a:prstGeom prst="rect">
            <a:avLst/>
          </a:prstGeom>
          <a:noFill/>
          <a:ln/>
        </p:spPr>
        <p:txBody>
          <a:bodyPr wrap="square" lIns="0" tIns="0" rIns="0" bIns="0" rtlCol="0" anchor="ctr"/>
          <a:lstStyle/>
          <a:p>
            <a:pPr indent="0" marL="0">
              <a:buNone/>
            </a:pPr>
            <a:r>
              <a:rPr lang="en-US" sz="1000" b="1" spc="110" kern="0" dirty="0">
                <a:solidFill>
                  <a:srgbClr val="69718C"/>
                </a:solidFill>
                <a:latin typeface="Calibri" pitchFamily="34" charset="0"/>
                <a:ea typeface="Calibri" pitchFamily="34" charset="-122"/>
                <a:cs typeface="Calibri" pitchFamily="34" charset="-120"/>
              </a:rPr>
              <a:t>STAGE 2</a:t>
            </a:r>
            <a:endParaRPr lang="en-US" sz="1000" dirty="0"/>
          </a:p>
        </p:txBody>
      </p:sp>
      <p:sp>
        <p:nvSpPr>
          <p:cNvPr id="12" name="Text 10"/>
          <p:cNvSpPr txBox="1"/>
          <p:nvPr/>
        </p:nvSpPr>
        <p:spPr>
          <a:xfrm>
            <a:off x="3662858" y="2743200"/>
            <a:ext cx="1998650" cy="365760"/>
          </a:xfrm>
          <a:prstGeom prst="rect">
            <a:avLst/>
          </a:prstGeom>
          <a:noFill/>
          <a:ln/>
        </p:spPr>
        <p:txBody>
          <a:bodyPr wrap="square" lIns="0" tIns="0" rIns="0" bIns="0" rtlCol="0" anchor="ctr"/>
          <a:lstStyle/>
          <a:p>
            <a:pPr indent="0" marL="0">
              <a:buNone/>
            </a:pPr>
            <a:r>
              <a:rPr lang="en-US" sz="1900" b="1" dirty="0">
                <a:solidFill>
                  <a:srgbClr val="131C3D"/>
                </a:solidFill>
                <a:latin typeface="Calibri" pitchFamily="34" charset="0"/>
                <a:ea typeface="Calibri" pitchFamily="34" charset="-122"/>
                <a:cs typeface="Calibri" pitchFamily="34" charset="-120"/>
              </a:rPr>
              <a:t>Attributes</a:t>
            </a:r>
            <a:endParaRPr lang="en-US" sz="1900" dirty="0"/>
          </a:p>
        </p:txBody>
      </p:sp>
      <p:sp>
        <p:nvSpPr>
          <p:cNvPr id="13" name="Text 11"/>
          <p:cNvSpPr txBox="1"/>
          <p:nvPr/>
        </p:nvSpPr>
        <p:spPr>
          <a:xfrm>
            <a:off x="3662858" y="3200400"/>
            <a:ext cx="1998650" cy="1005840"/>
          </a:xfrm>
          <a:prstGeom prst="rect">
            <a:avLst/>
          </a:prstGeom>
          <a:noFill/>
          <a:ln/>
        </p:spPr>
        <p:txBody>
          <a:bodyPr wrap="square" lIns="0" tIns="0" rIns="0" bIns="0" rtlCol="0" anchor="ctr"/>
          <a:lstStyle/>
          <a:p>
            <a:pPr indent="0" marL="0">
              <a:lnSpc>
                <a:spcPts val="1700"/>
              </a:lnSpc>
              <a:buNone/>
            </a:pPr>
            <a:r>
              <a:rPr lang="en-US" sz="1200" dirty="0">
                <a:solidFill>
                  <a:srgbClr val="1D2858"/>
                </a:solidFill>
                <a:latin typeface="Calibri" pitchFamily="34" charset="0"/>
                <a:ea typeface="Calibri" pitchFamily="34" charset="-122"/>
                <a:cs typeface="Calibri" pitchFamily="34" charset="-120"/>
              </a:rPr>
              <a:t>homeType, walls,</a:t>
            </a:r>
            <a:endParaRPr lang="en-US" sz="1200" dirty="0"/>
          </a:p>
          <a:p>
            <a:pPr indent="0" marL="0">
              <a:lnSpc>
                <a:spcPts val="1700"/>
              </a:lnSpc>
              <a:buNone/>
            </a:pPr>
            <a:r>
              <a:rPr lang="en-US" sz="1200" dirty="0">
                <a:solidFill>
                  <a:srgbClr val="1D2858"/>
                </a:solidFill>
                <a:latin typeface="Calibri" pitchFamily="34" charset="0"/>
                <a:ea typeface="Calibri" pitchFamily="34" charset="-122"/>
                <a:cs typeface="Calibri" pitchFamily="34" charset="-120"/>
              </a:rPr>
              <a:t>rooms + emitter,</a:t>
            </a:r>
            <a:endParaRPr lang="en-US" sz="1200" dirty="0"/>
          </a:p>
          <a:p>
            <a:pPr indent="0" marL="0">
              <a:lnSpc>
                <a:spcPts val="1700"/>
              </a:lnSpc>
              <a:buNone/>
            </a:pPr>
            <a:r>
              <a:rPr lang="en-US" sz="1200" dirty="0">
                <a:solidFill>
                  <a:srgbClr val="1D2858"/>
                </a:solidFill>
                <a:latin typeface="Calibri" pitchFamily="34" charset="0"/>
                <a:ea typeface="Calibri" pitchFamily="34" charset="-122"/>
                <a:cs typeface="Calibri" pitchFamily="34" charset="-120"/>
              </a:rPr>
              <a:t>remote, budget</a:t>
            </a:r>
            <a:endParaRPr lang="en-US" sz="1200" dirty="0"/>
          </a:p>
        </p:txBody>
      </p:sp>
      <p:sp>
        <p:nvSpPr>
          <p:cNvPr id="14" name="Text 12"/>
          <p:cNvSpPr txBox="1"/>
          <p:nvPr/>
        </p:nvSpPr>
        <p:spPr>
          <a:xfrm>
            <a:off x="5908396" y="3063240"/>
            <a:ext cx="374904" cy="457200"/>
          </a:xfrm>
          <a:prstGeom prst="rect">
            <a:avLst/>
          </a:prstGeom>
          <a:noFill/>
          <a:ln/>
        </p:spPr>
        <p:txBody>
          <a:bodyPr wrap="square" lIns="0" tIns="0" rIns="0" bIns="0" rtlCol="0" anchor="ctr"/>
          <a:lstStyle/>
          <a:p>
            <a:pPr algn="ctr" indent="0" marL="0">
              <a:buNone/>
            </a:pPr>
            <a:r>
              <a:rPr lang="en-US" sz="2600" b="1" dirty="0">
                <a:solidFill>
                  <a:srgbClr val="00AEEF"/>
                </a:solidFill>
                <a:latin typeface="Calibri" pitchFamily="34" charset="0"/>
                <a:ea typeface="Calibri" pitchFamily="34" charset="-122"/>
                <a:cs typeface="Calibri" pitchFamily="34" charset="-120"/>
              </a:rPr>
              <a:t>›</a:t>
            </a:r>
            <a:endParaRPr lang="en-US" sz="2600" dirty="0"/>
          </a:p>
        </p:txBody>
      </p:sp>
      <p:sp>
        <p:nvSpPr>
          <p:cNvPr id="15" name="Shape 13"/>
          <p:cNvSpPr/>
          <p:nvPr/>
        </p:nvSpPr>
        <p:spPr>
          <a:xfrm>
            <a:off x="6301588" y="2286000"/>
            <a:ext cx="2455850" cy="2057400"/>
          </a:xfrm>
          <a:prstGeom prst="roundRect">
            <a:avLst>
              <a:gd name="adj" fmla="val 2667"/>
            </a:avLst>
          </a:prstGeom>
          <a:solidFill>
            <a:srgbClr val="FFFFFF"/>
          </a:solidFill>
          <a:ln w="12700">
            <a:solidFill>
              <a:srgbClr val="DCE3EE"/>
            </a:solidFill>
            <a:prstDash val="solid"/>
          </a:ln>
        </p:spPr>
      </p:sp>
      <p:sp>
        <p:nvSpPr>
          <p:cNvPr id="16" name="Text 14"/>
          <p:cNvSpPr txBox="1"/>
          <p:nvPr/>
        </p:nvSpPr>
        <p:spPr>
          <a:xfrm>
            <a:off x="6530188" y="2487168"/>
            <a:ext cx="1998650" cy="228600"/>
          </a:xfrm>
          <a:prstGeom prst="rect">
            <a:avLst/>
          </a:prstGeom>
          <a:noFill/>
          <a:ln/>
        </p:spPr>
        <p:txBody>
          <a:bodyPr wrap="square" lIns="0" tIns="0" rIns="0" bIns="0" rtlCol="0" anchor="ctr"/>
          <a:lstStyle/>
          <a:p>
            <a:pPr indent="0" marL="0">
              <a:buNone/>
            </a:pPr>
            <a:r>
              <a:rPr lang="en-US" sz="1000" b="1" spc="110" kern="0" dirty="0">
                <a:solidFill>
                  <a:srgbClr val="69718C"/>
                </a:solidFill>
                <a:latin typeface="Calibri" pitchFamily="34" charset="0"/>
                <a:ea typeface="Calibri" pitchFamily="34" charset="-122"/>
                <a:cs typeface="Calibri" pitchFamily="34" charset="-120"/>
              </a:rPr>
              <a:t>STAGE 3</a:t>
            </a:r>
            <a:endParaRPr lang="en-US" sz="1000" dirty="0"/>
          </a:p>
        </p:txBody>
      </p:sp>
      <p:sp>
        <p:nvSpPr>
          <p:cNvPr id="17" name="Text 15"/>
          <p:cNvSpPr txBox="1"/>
          <p:nvPr/>
        </p:nvSpPr>
        <p:spPr>
          <a:xfrm>
            <a:off x="6530188" y="2743200"/>
            <a:ext cx="1998650" cy="365760"/>
          </a:xfrm>
          <a:prstGeom prst="rect">
            <a:avLst/>
          </a:prstGeom>
          <a:noFill/>
          <a:ln/>
        </p:spPr>
        <p:txBody>
          <a:bodyPr wrap="square" lIns="0" tIns="0" rIns="0" bIns="0" rtlCol="0" anchor="ctr"/>
          <a:lstStyle/>
          <a:p>
            <a:pPr indent="0" marL="0">
              <a:buNone/>
            </a:pPr>
            <a:r>
              <a:rPr lang="en-US" sz="1900" b="1" dirty="0">
                <a:solidFill>
                  <a:srgbClr val="131C3D"/>
                </a:solidFill>
                <a:latin typeface="Calibri" pitchFamily="34" charset="0"/>
                <a:ea typeface="Calibri" pitchFamily="34" charset="-122"/>
                <a:cs typeface="Calibri" pitchFamily="34" charset="-120"/>
              </a:rPr>
              <a:t>Roles</a:t>
            </a:r>
            <a:endParaRPr lang="en-US" sz="1900" dirty="0"/>
          </a:p>
        </p:txBody>
      </p:sp>
      <p:sp>
        <p:nvSpPr>
          <p:cNvPr id="18" name="Text 16"/>
          <p:cNvSpPr txBox="1"/>
          <p:nvPr/>
        </p:nvSpPr>
        <p:spPr>
          <a:xfrm>
            <a:off x="6530188" y="3200400"/>
            <a:ext cx="1998650" cy="1005840"/>
          </a:xfrm>
          <a:prstGeom prst="rect">
            <a:avLst/>
          </a:prstGeom>
          <a:noFill/>
          <a:ln/>
        </p:spPr>
        <p:txBody>
          <a:bodyPr wrap="square" lIns="0" tIns="0" rIns="0" bIns="0" rtlCol="0" anchor="ctr"/>
          <a:lstStyle/>
          <a:p>
            <a:pPr indent="0" marL="0">
              <a:lnSpc>
                <a:spcPts val="1700"/>
              </a:lnSpc>
              <a:buNone/>
            </a:pPr>
            <a:r>
              <a:rPr lang="en-US" sz="1200" dirty="0">
                <a:solidFill>
                  <a:srgbClr val="1D2858"/>
                </a:solidFill>
                <a:latin typeface="Calibri" pitchFamily="34" charset="0"/>
                <a:ea typeface="Calibri" pitchFamily="34" charset="-122"/>
                <a:cs typeface="Calibri" pitchFamily="34" charset="-120"/>
              </a:rPr>
              <a:t>trv ×4</a:t>
            </a:r>
            <a:endParaRPr lang="en-US" sz="1200" dirty="0"/>
          </a:p>
          <a:p>
            <a:pPr indent="0" marL="0">
              <a:lnSpc>
                <a:spcPts val="1700"/>
              </a:lnSpc>
              <a:buNone/>
            </a:pPr>
            <a:r>
              <a:rPr lang="en-US" sz="1200" dirty="0">
                <a:solidFill>
                  <a:srgbClr val="1D2858"/>
                </a:solidFill>
                <a:latin typeface="Calibri" pitchFamily="34" charset="0"/>
                <a:ea typeface="Calibri" pitchFamily="34" charset="-122"/>
                <a:cs typeface="Calibri" pitchFamily="34" charset="-120"/>
              </a:rPr>
              <a:t>zonestat ×1</a:t>
            </a:r>
            <a:endParaRPr lang="en-US" sz="1200" dirty="0"/>
          </a:p>
          <a:p>
            <a:pPr indent="0" marL="0">
              <a:lnSpc>
                <a:spcPts val="1700"/>
              </a:lnSpc>
              <a:buNone/>
            </a:pPr>
            <a:r>
              <a:rPr lang="en-US" sz="1200" dirty="0">
                <a:solidFill>
                  <a:srgbClr val="1D2858"/>
                </a:solidFill>
                <a:latin typeface="Calibri" pitchFamily="34" charset="0"/>
                <a:ea typeface="Calibri" pitchFamily="34" charset="-122"/>
                <a:cs typeface="Calibri" pitchFamily="34" charset="-120"/>
              </a:rPr>
              <a:t>gateway ×1</a:t>
            </a:r>
            <a:endParaRPr lang="en-US" sz="1200" dirty="0"/>
          </a:p>
        </p:txBody>
      </p:sp>
      <p:sp>
        <p:nvSpPr>
          <p:cNvPr id="19" name="Text 17"/>
          <p:cNvSpPr txBox="1"/>
          <p:nvPr/>
        </p:nvSpPr>
        <p:spPr>
          <a:xfrm>
            <a:off x="8775725" y="3063240"/>
            <a:ext cx="374904" cy="457200"/>
          </a:xfrm>
          <a:prstGeom prst="rect">
            <a:avLst/>
          </a:prstGeom>
          <a:noFill/>
          <a:ln/>
        </p:spPr>
        <p:txBody>
          <a:bodyPr wrap="square" lIns="0" tIns="0" rIns="0" bIns="0" rtlCol="0" anchor="ctr"/>
          <a:lstStyle/>
          <a:p>
            <a:pPr algn="ctr" indent="0" marL="0">
              <a:buNone/>
            </a:pPr>
            <a:r>
              <a:rPr lang="en-US" sz="2600" b="1" dirty="0">
                <a:solidFill>
                  <a:srgbClr val="00AEEF"/>
                </a:solidFill>
                <a:latin typeface="Calibri" pitchFamily="34" charset="0"/>
                <a:ea typeface="Calibri" pitchFamily="34" charset="-122"/>
                <a:cs typeface="Calibri" pitchFamily="34" charset="-120"/>
              </a:rPr>
              <a:t>›</a:t>
            </a:r>
            <a:endParaRPr lang="en-US" sz="2600" dirty="0"/>
          </a:p>
        </p:txBody>
      </p:sp>
      <p:sp>
        <p:nvSpPr>
          <p:cNvPr id="20" name="Shape 18"/>
          <p:cNvSpPr/>
          <p:nvPr/>
        </p:nvSpPr>
        <p:spPr>
          <a:xfrm>
            <a:off x="9168917" y="2286000"/>
            <a:ext cx="2455850" cy="2057400"/>
          </a:xfrm>
          <a:prstGeom prst="roundRect">
            <a:avLst>
              <a:gd name="adj" fmla="val 2667"/>
            </a:avLst>
          </a:prstGeom>
          <a:solidFill>
            <a:srgbClr val="F2F7FC"/>
          </a:solidFill>
          <a:ln w="12700">
            <a:solidFill>
              <a:srgbClr val="00AEEF"/>
            </a:solidFill>
            <a:prstDash val="solid"/>
          </a:ln>
        </p:spPr>
      </p:sp>
      <p:sp>
        <p:nvSpPr>
          <p:cNvPr id="21" name="Text 19"/>
          <p:cNvSpPr txBox="1"/>
          <p:nvPr/>
        </p:nvSpPr>
        <p:spPr>
          <a:xfrm>
            <a:off x="9397517" y="2487168"/>
            <a:ext cx="1998650" cy="228600"/>
          </a:xfrm>
          <a:prstGeom prst="rect">
            <a:avLst/>
          </a:prstGeom>
          <a:noFill/>
          <a:ln/>
        </p:spPr>
        <p:txBody>
          <a:bodyPr wrap="square" lIns="0" tIns="0" rIns="0" bIns="0" rtlCol="0" anchor="ctr"/>
          <a:lstStyle/>
          <a:p>
            <a:pPr indent="0" marL="0">
              <a:buNone/>
            </a:pPr>
            <a:r>
              <a:rPr lang="en-US" sz="1000" b="1" spc="110" kern="0" dirty="0">
                <a:solidFill>
                  <a:srgbClr val="0079A8"/>
                </a:solidFill>
                <a:latin typeface="Calibri" pitchFamily="34" charset="0"/>
                <a:ea typeface="Calibri" pitchFamily="34" charset="-122"/>
                <a:cs typeface="Calibri" pitchFamily="34" charset="-120"/>
              </a:rPr>
              <a:t>STAGE 4 · THE SEAM</a:t>
            </a:r>
            <a:endParaRPr lang="en-US" sz="1000" dirty="0"/>
          </a:p>
        </p:txBody>
      </p:sp>
      <p:sp>
        <p:nvSpPr>
          <p:cNvPr id="22" name="Text 20"/>
          <p:cNvSpPr txBox="1"/>
          <p:nvPr/>
        </p:nvSpPr>
        <p:spPr>
          <a:xfrm>
            <a:off x="9397517" y="2743200"/>
            <a:ext cx="1998650" cy="365760"/>
          </a:xfrm>
          <a:prstGeom prst="rect">
            <a:avLst/>
          </a:prstGeom>
          <a:noFill/>
          <a:ln/>
        </p:spPr>
        <p:txBody>
          <a:bodyPr wrap="square" lIns="0" tIns="0" rIns="0" bIns="0" rtlCol="0" anchor="ctr"/>
          <a:lstStyle/>
          <a:p>
            <a:pPr indent="0" marL="0">
              <a:buNone/>
            </a:pPr>
            <a:r>
              <a:rPr lang="en-US" sz="1900" b="1" dirty="0">
                <a:solidFill>
                  <a:srgbClr val="131C3D"/>
                </a:solidFill>
                <a:latin typeface="Calibri" pitchFamily="34" charset="0"/>
                <a:ea typeface="Calibri" pitchFamily="34" charset="-122"/>
                <a:cs typeface="Calibri" pitchFamily="34" charset="-120"/>
              </a:rPr>
              <a:t>Products</a:t>
            </a:r>
            <a:endParaRPr lang="en-US" sz="1900" dirty="0"/>
          </a:p>
        </p:txBody>
      </p:sp>
      <p:sp>
        <p:nvSpPr>
          <p:cNvPr id="23" name="Text 21"/>
          <p:cNvSpPr txBox="1"/>
          <p:nvPr/>
        </p:nvSpPr>
        <p:spPr>
          <a:xfrm>
            <a:off x="9397517" y="3200400"/>
            <a:ext cx="1998650" cy="1005840"/>
          </a:xfrm>
          <a:prstGeom prst="rect">
            <a:avLst/>
          </a:prstGeom>
          <a:noFill/>
          <a:ln/>
        </p:spPr>
        <p:txBody>
          <a:bodyPr wrap="square" lIns="0" tIns="0" rIns="0" bIns="0" rtlCol="0" anchor="ctr"/>
          <a:lstStyle/>
          <a:p>
            <a:pPr indent="0" marL="0">
              <a:lnSpc>
                <a:spcPts val="1700"/>
              </a:lnSpc>
              <a:buNone/>
            </a:pPr>
            <a:r>
              <a:rPr lang="en-US" sz="1200" dirty="0">
                <a:solidFill>
                  <a:srgbClr val="1D2858"/>
                </a:solidFill>
                <a:latin typeface="Calibri" pitchFamily="34" charset="0"/>
                <a:ea typeface="Calibri" pitchFamily="34" charset="-122"/>
                <a:cs typeface="Calibri" pitchFamily="34" charset="-120"/>
              </a:rPr>
              <a:t>TRV3RF · SQ610RF</a:t>
            </a:r>
            <a:endParaRPr lang="en-US" sz="1200" dirty="0"/>
          </a:p>
          <a:p>
            <a:pPr indent="0" marL="0">
              <a:lnSpc>
                <a:spcPts val="1700"/>
              </a:lnSpc>
              <a:buNone/>
            </a:pPr>
            <a:r>
              <a:rPr lang="en-US" sz="1200" dirty="0">
                <a:solidFill>
                  <a:srgbClr val="1D2858"/>
                </a:solidFill>
                <a:latin typeface="Calibri" pitchFamily="34" charset="0"/>
                <a:ea typeface="Calibri" pitchFamily="34" charset="-122"/>
                <a:cs typeface="Calibri" pitchFamily="34" charset="-120"/>
              </a:rPr>
              <a:t>T30NC · UG800</a:t>
            </a:r>
            <a:endParaRPr lang="en-US" sz="1200" dirty="0"/>
          </a:p>
          <a:p>
            <a:pPr indent="0" marL="0">
              <a:lnSpc>
                <a:spcPts val="1700"/>
              </a:lnSpc>
              <a:buNone/>
            </a:pPr>
            <a:r>
              <a:rPr lang="en-US" sz="1200" dirty="0">
                <a:solidFill>
                  <a:srgbClr val="1D2858"/>
                </a:solidFill>
                <a:latin typeface="Calibri" pitchFamily="34" charset="0"/>
                <a:ea typeface="Calibri" pitchFamily="34" charset="-122"/>
                <a:cs typeface="Calibri" pitchFamily="34" charset="-120"/>
              </a:rPr>
              <a:t>price, protocol, docs</a:t>
            </a:r>
            <a:endParaRPr lang="en-US" sz="1200" dirty="0"/>
          </a:p>
        </p:txBody>
      </p:sp>
      <p:sp>
        <p:nvSpPr>
          <p:cNvPr id="24" name="Text 22"/>
          <p:cNvSpPr txBox="1"/>
          <p:nvPr/>
        </p:nvSpPr>
        <p:spPr>
          <a:xfrm>
            <a:off x="566928" y="4617720"/>
            <a:ext cx="5254600" cy="548640"/>
          </a:xfrm>
          <a:prstGeom prst="rect">
            <a:avLst/>
          </a:prstGeom>
          <a:noFill/>
          <a:ln/>
        </p:spPr>
        <p:txBody>
          <a:bodyPr wrap="square" lIns="0" tIns="0" rIns="0" bIns="0" rtlCol="0" anchor="ctr"/>
          <a:lstStyle/>
          <a:p>
            <a:pPr indent="0" marL="0">
              <a:lnSpc>
                <a:spcPts val="1800"/>
              </a:lnSpc>
              <a:buNone/>
            </a:pPr>
            <a:r>
              <a:rPr lang="en-US" sz="1250" b="1" dirty="0">
                <a:solidFill>
                  <a:srgbClr val="131C3D"/>
                </a:solidFill>
                <a:latin typeface="Calibri" pitchFamily="34" charset="0"/>
                <a:ea typeface="Calibri" pitchFamily="34" charset="-122"/>
                <a:cs typeface="Calibri" pitchFamily="34" charset="-120"/>
              </a:rPr>
              <a:t>Left of the seam: </a:t>
            </a:r>
            <a:pPr indent="0" marL="0">
              <a:lnSpc>
                <a:spcPts val="1800"/>
              </a:lnSpc>
              <a:buNone/>
            </a:pPr>
            <a:r>
              <a:rPr lang="en-US" sz="1250" dirty="0">
                <a:solidFill>
                  <a:srgbClr val="69718C"/>
                </a:solidFill>
                <a:latin typeface="Calibri" pitchFamily="34" charset="0"/>
                <a:ea typeface="Calibri" pitchFamily="34" charset="-122"/>
                <a:cs typeface="Calibri" pitchFamily="34" charset="-120"/>
              </a:rPr>
              <a:t>questions, wording, composition rules. Never move.</a:t>
            </a:r>
            <a:endParaRPr lang="en-US" sz="1250" dirty="0"/>
          </a:p>
        </p:txBody>
      </p:sp>
      <p:sp>
        <p:nvSpPr>
          <p:cNvPr id="25" name="Text 23"/>
          <p:cNvSpPr txBox="1"/>
          <p:nvPr/>
        </p:nvSpPr>
        <p:spPr>
          <a:xfrm>
            <a:off x="6370168" y="4617720"/>
            <a:ext cx="5254600" cy="548640"/>
          </a:xfrm>
          <a:prstGeom prst="rect">
            <a:avLst/>
          </a:prstGeom>
          <a:noFill/>
          <a:ln/>
        </p:spPr>
        <p:txBody>
          <a:bodyPr wrap="square" lIns="0" tIns="0" rIns="0" bIns="0" rtlCol="0" anchor="ctr"/>
          <a:lstStyle/>
          <a:p>
            <a:pPr indent="0" marL="0">
              <a:lnSpc>
                <a:spcPts val="1800"/>
              </a:lnSpc>
              <a:buNone/>
            </a:pPr>
            <a:r>
              <a:rPr lang="en-US" sz="1250" b="1" dirty="0">
                <a:solidFill>
                  <a:srgbClr val="131C3D"/>
                </a:solidFill>
                <a:latin typeface="Calibri" pitchFamily="34" charset="0"/>
                <a:ea typeface="Calibri" pitchFamily="34" charset="-122"/>
                <a:cs typeface="Calibri" pitchFamily="34" charset="-120"/>
              </a:rPr>
              <a:t>Right of the seam: </a:t>
            </a:r>
            <a:pPr indent="0" marL="0">
              <a:lnSpc>
                <a:spcPts val="1800"/>
              </a:lnSpc>
              <a:buNone/>
            </a:pPr>
            <a:r>
              <a:rPr lang="en-US" sz="1250" dirty="0">
                <a:solidFill>
                  <a:srgbClr val="69718C"/>
                </a:solidFill>
                <a:latin typeface="Calibri" pitchFamily="34" charset="0"/>
                <a:ea typeface="Calibri" pitchFamily="34" charset="-122"/>
                <a:cs typeface="Calibri" pitchFamily="34" charset="-120"/>
              </a:rPr>
              <a:t>new reference, new price, country availability. A catalogue edit.</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CFE"/>
        </a:solidFill>
      </p:bgPr>
    </p:bg>
    <p:spTree>
      <p:nvGrpSpPr>
        <p:cNvPr id="1" name=""/>
        <p:cNvGrpSpPr/>
        <p:nvPr/>
      </p:nvGrpSpPr>
      <p:grpSpPr>
        <a:xfrm>
          <a:off x="0" y="0"/>
          <a:ext cx="0" cy="0"/>
          <a:chOff x="0" y="0"/>
          <a:chExt cx="0" cy="0"/>
        </a:xfrm>
      </p:grpSpPr>
      <p:sp>
        <p:nvSpPr>
          <p:cNvPr id="2" name="Text 0"/>
          <p:cNvSpPr txBox="1"/>
          <p:nvPr/>
        </p:nvSpPr>
        <p:spPr>
          <a:xfrm>
            <a:off x="1298448" y="384048"/>
            <a:ext cx="10326319" cy="256032"/>
          </a:xfrm>
          <a:prstGeom prst="rect">
            <a:avLst/>
          </a:prstGeom>
          <a:noFill/>
          <a:ln/>
        </p:spPr>
        <p:txBody>
          <a:bodyPr wrap="square" lIns="0" tIns="0" rIns="0" bIns="0" rtlCol="0" anchor="ctr"/>
          <a:lstStyle/>
          <a:p>
            <a:pPr indent="0" marL="0">
              <a:buNone/>
            </a:pPr>
            <a:r>
              <a:rPr lang="en-US" sz="1100" b="1" spc="160" kern="0" dirty="0">
                <a:solidFill>
                  <a:srgbClr val="0079A8"/>
                </a:solidFill>
                <a:latin typeface="Calibri" pitchFamily="34" charset="0"/>
                <a:ea typeface="Calibri" pitchFamily="34" charset="-122"/>
                <a:cs typeface="Calibri" pitchFamily="34" charset="-120"/>
              </a:rPr>
              <a:t>GROUP A · 6 PROBLEMS</a:t>
            </a:r>
            <a:endParaRPr lang="en-US" sz="1100" dirty="0"/>
          </a:p>
        </p:txBody>
      </p:sp>
      <p:sp>
        <p:nvSpPr>
          <p:cNvPr id="3" name="Shape 1"/>
          <p:cNvSpPr/>
          <p:nvPr/>
        </p:nvSpPr>
        <p:spPr>
          <a:xfrm>
            <a:off x="566928" y="640080"/>
            <a:ext cx="566928" cy="566928"/>
          </a:xfrm>
          <a:prstGeom prst="ellipse">
            <a:avLst/>
          </a:prstGeom>
          <a:solidFill>
            <a:srgbClr val="00AEEF"/>
          </a:solidFill>
          <a:ln/>
        </p:spPr>
      </p:sp>
      <p:sp>
        <p:nvSpPr>
          <p:cNvPr id="4" name="Text 2"/>
          <p:cNvSpPr txBox="1"/>
          <p:nvPr/>
        </p:nvSpPr>
        <p:spPr>
          <a:xfrm>
            <a:off x="566928" y="640080"/>
            <a:ext cx="566928" cy="566928"/>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a:t>
            </a:r>
            <a:endParaRPr lang="en-US" sz="2600" dirty="0"/>
          </a:p>
        </p:txBody>
      </p:sp>
      <p:sp>
        <p:nvSpPr>
          <p:cNvPr id="5" name="Text 3"/>
          <p:cNvSpPr txBox="1"/>
          <p:nvPr/>
        </p:nvSpPr>
        <p:spPr>
          <a:xfrm>
            <a:off x="1298448" y="621792"/>
            <a:ext cx="10326319" cy="658368"/>
          </a:xfrm>
          <a:prstGeom prst="rect">
            <a:avLst/>
          </a:prstGeom>
          <a:noFill/>
          <a:ln/>
        </p:spPr>
        <p:txBody>
          <a:bodyPr wrap="square" lIns="0" tIns="0" rIns="0" bIns="0" rtlCol="0" anchor="ctr"/>
          <a:lstStyle/>
          <a:p>
            <a:pPr indent="0" marL="0">
              <a:buNone/>
            </a:pPr>
            <a:r>
              <a:rPr lang="en-US" sz="2700" b="1" dirty="0">
                <a:solidFill>
                  <a:srgbClr val="131C3D"/>
                </a:solidFill>
                <a:latin typeface="Calibri" pitchFamily="34" charset="0"/>
                <a:ea typeface="Calibri" pitchFamily="34" charset="-122"/>
                <a:cs typeface="Calibri" pitchFamily="34" charset="-120"/>
              </a:rPr>
              <a:t>The engine decides, so the customer doesn't have to</a:t>
            </a:r>
            <a:endParaRPr lang="en-US" sz="2700" dirty="0"/>
          </a:p>
        </p:txBody>
      </p:sp>
      <p:sp>
        <p:nvSpPr>
          <p:cNvPr id="6" name="Shape 4"/>
          <p:cNvSpPr/>
          <p:nvPr/>
        </p:nvSpPr>
        <p:spPr>
          <a:xfrm>
            <a:off x="566928" y="1417320"/>
            <a:ext cx="11057839" cy="713232"/>
          </a:xfrm>
          <a:prstGeom prst="roundRect">
            <a:avLst>
              <a:gd name="adj" fmla="val 7692"/>
            </a:avLst>
          </a:prstGeom>
          <a:solidFill>
            <a:srgbClr val="F2F7FC"/>
          </a:solidFill>
          <a:ln w="12700">
            <a:solidFill>
              <a:srgbClr val="DCE3EE"/>
            </a:solidFill>
            <a:prstDash val="solid"/>
          </a:ln>
        </p:spPr>
      </p:sp>
      <p:sp>
        <p:nvSpPr>
          <p:cNvPr id="7" name="Text 5"/>
          <p:cNvSpPr txBox="1"/>
          <p:nvPr/>
        </p:nvSpPr>
        <p:spPr>
          <a:xfrm>
            <a:off x="795528" y="1490472"/>
            <a:ext cx="10600639" cy="566928"/>
          </a:xfrm>
          <a:prstGeom prst="rect">
            <a:avLst/>
          </a:prstGeom>
          <a:noFill/>
          <a:ln/>
        </p:spPr>
        <p:txBody>
          <a:bodyPr wrap="square" lIns="0" tIns="0" rIns="0" bIns="0" rtlCol="0" anchor="ctr"/>
          <a:lstStyle/>
          <a:p>
            <a:pPr indent="0" marL="0">
              <a:lnSpc>
                <a:spcPts val="1800"/>
              </a:lnSpc>
              <a:buNone/>
            </a:pPr>
            <a:r>
              <a:rPr lang="en-US" sz="1200" b="1" dirty="0">
                <a:solidFill>
                  <a:srgbClr val="0079A8"/>
                </a:solidFill>
                <a:latin typeface="Calibri" pitchFamily="34" charset="0"/>
                <a:ea typeface="Calibri" pitchFamily="34" charset="-122"/>
                <a:cs typeface="Calibri" pitchFamily="34" charset="-120"/>
              </a:rPr>
              <a:t>P1 </a:t>
            </a:r>
            <a:pPr indent="0" marL="0">
              <a:lnSpc>
                <a:spcPts val="1800"/>
              </a:lnSpc>
              <a:buNone/>
            </a:pPr>
            <a:r>
              <a:rPr lang="en-US" sz="1200" dirty="0">
                <a:solidFill>
                  <a:srgbClr val="1D2858"/>
                </a:solidFill>
                <a:latin typeface="Calibri" pitchFamily="34" charset="0"/>
                <a:ea typeface="Calibri" pitchFamily="34" charset="-122"/>
                <a:cs typeface="Calibri" pitchFamily="34" charset="-120"/>
              </a:rPr>
              <a:t>Which devices work together     </a:t>
            </a:r>
            <a:pPr indent="0" marL="0">
              <a:lnSpc>
                <a:spcPts val="1800"/>
              </a:lnSpc>
              <a:buNone/>
            </a:pPr>
            <a:r>
              <a:rPr lang="en-US" sz="1200" b="1" dirty="0">
                <a:solidFill>
                  <a:srgbClr val="0079A8"/>
                </a:solidFill>
                <a:latin typeface="Calibri" pitchFamily="34" charset="0"/>
                <a:ea typeface="Calibri" pitchFamily="34" charset="-122"/>
                <a:cs typeface="Calibri" pitchFamily="34" charset="-120"/>
              </a:rPr>
              <a:t>P2 </a:t>
            </a:r>
            <a:pPr indent="0" marL="0">
              <a:lnSpc>
                <a:spcPts val="1800"/>
              </a:lnSpc>
              <a:buNone/>
            </a:pPr>
            <a:r>
              <a:rPr lang="en-US" sz="1200" dirty="0">
                <a:solidFill>
                  <a:srgbClr val="1D2858"/>
                </a:solidFill>
                <a:latin typeface="Calibri" pitchFamily="34" charset="0"/>
                <a:ea typeface="Calibri" pitchFamily="34" charset="-122"/>
                <a:cs typeface="Calibri" pitchFamily="34" charset="-120"/>
              </a:rPr>
              <a:t>Matching needs to devices     </a:t>
            </a:r>
            <a:pPr indent="0" marL="0">
              <a:lnSpc>
                <a:spcPts val="1800"/>
              </a:lnSpc>
              <a:buNone/>
            </a:pPr>
            <a:r>
              <a:rPr lang="en-US" sz="1200" b="1" dirty="0">
                <a:solidFill>
                  <a:srgbClr val="0079A8"/>
                </a:solidFill>
                <a:latin typeface="Calibri" pitchFamily="34" charset="0"/>
                <a:ea typeface="Calibri" pitchFamily="34" charset="-122"/>
                <a:cs typeface="Calibri" pitchFamily="34" charset="-120"/>
              </a:rPr>
              <a:t>P4 </a:t>
            </a:r>
            <a:pPr indent="0" marL="0">
              <a:lnSpc>
                <a:spcPts val="1800"/>
              </a:lnSpc>
              <a:buNone/>
            </a:pPr>
            <a:r>
              <a:rPr lang="en-US" sz="1200" dirty="0">
                <a:solidFill>
                  <a:srgbClr val="1D2858"/>
                </a:solidFill>
                <a:latin typeface="Calibri" pitchFamily="34" charset="0"/>
                <a:ea typeface="Calibri" pitchFamily="34" charset="-122"/>
                <a:cs typeface="Calibri" pitchFamily="34" charset="-120"/>
              </a:rPr>
              <a:t>Which products suit me     </a:t>
            </a:r>
            <a:pPr indent="0" marL="0">
              <a:lnSpc>
                <a:spcPts val="1800"/>
              </a:lnSpc>
              <a:buNone/>
            </a:pPr>
            <a:r>
              <a:rPr lang="en-US" sz="1200" b="1" dirty="0">
                <a:solidFill>
                  <a:srgbClr val="0079A8"/>
                </a:solidFill>
                <a:latin typeface="Calibri" pitchFamily="34" charset="0"/>
                <a:ea typeface="Calibri" pitchFamily="34" charset="-122"/>
                <a:cs typeface="Calibri" pitchFamily="34" charset="-120"/>
              </a:rPr>
              <a:t>P6 </a:t>
            </a:r>
            <a:pPr indent="0" marL="0">
              <a:lnSpc>
                <a:spcPts val="1800"/>
              </a:lnSpc>
              <a:buNone/>
            </a:pPr>
            <a:r>
              <a:rPr lang="en-US" sz="1200" dirty="0">
                <a:solidFill>
                  <a:srgbClr val="1D2858"/>
                </a:solidFill>
                <a:latin typeface="Calibri" pitchFamily="34" charset="0"/>
                <a:ea typeface="Calibri" pitchFamily="34" charset="-122"/>
                <a:cs typeface="Calibri" pitchFamily="34" charset="-120"/>
              </a:rPr>
              <a:t>Seeing all the options     </a:t>
            </a:r>
            <a:pPr indent="0" marL="0">
              <a:lnSpc>
                <a:spcPts val="1800"/>
              </a:lnSpc>
              <a:buNone/>
            </a:pPr>
            <a:r>
              <a:rPr lang="en-US" sz="1200" b="1" dirty="0">
                <a:solidFill>
                  <a:srgbClr val="0079A8"/>
                </a:solidFill>
                <a:latin typeface="Calibri" pitchFamily="34" charset="0"/>
                <a:ea typeface="Calibri" pitchFamily="34" charset="-122"/>
                <a:cs typeface="Calibri" pitchFamily="34" charset="-120"/>
              </a:rPr>
              <a:t>P10 </a:t>
            </a:r>
            <a:pPr indent="0" marL="0">
              <a:lnSpc>
                <a:spcPts val="1800"/>
              </a:lnSpc>
              <a:buNone/>
            </a:pPr>
            <a:r>
              <a:rPr lang="en-US" sz="1200" dirty="0">
                <a:solidFill>
                  <a:srgbClr val="1D2858"/>
                </a:solidFill>
                <a:latin typeface="Calibri" pitchFamily="34" charset="0"/>
                <a:ea typeface="Calibri" pitchFamily="34" charset="-122"/>
                <a:cs typeface="Calibri" pitchFamily="34" charset="-120"/>
              </a:rPr>
              <a:t>Will it work in my house     </a:t>
            </a:r>
            <a:pPr indent="0" marL="0">
              <a:lnSpc>
                <a:spcPts val="1800"/>
              </a:lnSpc>
              <a:buNone/>
            </a:pPr>
            <a:r>
              <a:rPr lang="en-US" sz="1200" b="1" dirty="0">
                <a:solidFill>
                  <a:srgbClr val="0079A8"/>
                </a:solidFill>
                <a:latin typeface="Calibri" pitchFamily="34" charset="0"/>
                <a:ea typeface="Calibri" pitchFamily="34" charset="-122"/>
                <a:cs typeface="Calibri" pitchFamily="34" charset="-120"/>
              </a:rPr>
              <a:t>P24 </a:t>
            </a:r>
            <a:pPr indent="0" marL="0">
              <a:lnSpc>
                <a:spcPts val="1800"/>
              </a:lnSpc>
              <a:buNone/>
            </a:pPr>
            <a:r>
              <a:rPr lang="en-US" sz="1200" dirty="0">
                <a:solidFill>
                  <a:srgbClr val="1D2858"/>
                </a:solidFill>
                <a:latin typeface="Calibri" pitchFamily="34" charset="0"/>
                <a:ea typeface="Calibri" pitchFamily="34" charset="-122"/>
                <a:cs typeface="Calibri" pitchFamily="34" charset="-120"/>
              </a:rPr>
              <a:t>The right system for my budget</a:t>
            </a:r>
            <a:endParaRPr lang="en-US" sz="1200" dirty="0"/>
          </a:p>
        </p:txBody>
      </p:sp>
      <p:sp>
        <p:nvSpPr>
          <p:cNvPr id="8" name="Shape 6"/>
          <p:cNvSpPr/>
          <p:nvPr/>
        </p:nvSpPr>
        <p:spPr>
          <a:xfrm>
            <a:off x="585216" y="2414016"/>
            <a:ext cx="109728" cy="109728"/>
          </a:xfrm>
          <a:prstGeom prst="rect">
            <a:avLst/>
          </a:prstGeom>
          <a:solidFill>
            <a:srgbClr val="00AEEF"/>
          </a:solidFill>
          <a:ln/>
        </p:spPr>
      </p:sp>
      <p:sp>
        <p:nvSpPr>
          <p:cNvPr id="9" name="Text 7"/>
          <p:cNvSpPr txBox="1"/>
          <p:nvPr/>
        </p:nvSpPr>
        <p:spPr>
          <a:xfrm>
            <a:off x="877824" y="2304288"/>
            <a:ext cx="10746943" cy="566928"/>
          </a:xfrm>
          <a:prstGeom prst="rect">
            <a:avLst/>
          </a:prstGeom>
          <a:noFill/>
          <a:ln/>
        </p:spPr>
        <p:txBody>
          <a:bodyPr wrap="square" lIns="0" tIns="0" rIns="0" bIns="0" rtlCol="0" anchor="ctr"/>
          <a:lstStyle/>
          <a:p>
            <a:pPr indent="0" marL="0">
              <a:lnSpc>
                <a:spcPts val="1900"/>
              </a:lnSpc>
              <a:buNone/>
            </a:pPr>
            <a:r>
              <a:rPr lang="en-US" sz="1350" b="1" dirty="0">
                <a:solidFill>
                  <a:srgbClr val="131C3D"/>
                </a:solidFill>
                <a:latin typeface="Calibri" pitchFamily="34" charset="0"/>
                <a:ea typeface="Calibri" pitchFamily="34" charset="-122"/>
                <a:cs typeface="Calibri" pitchFamily="34" charset="-120"/>
              </a:rPr>
              <a:t>Three states instead of yes or no. </a:t>
            </a:r>
            <a:pPr indent="0" marL="0">
              <a:lnSpc>
                <a:spcPts val="1900"/>
              </a:lnSpc>
              <a:buNone/>
            </a:pPr>
            <a:r>
              <a:rPr lang="en-US" sz="1350" dirty="0">
                <a:solidFill>
                  <a:srgbClr val="1D2858"/>
                </a:solidFill>
                <a:latin typeface="Calibri" pitchFamily="34" charset="0"/>
                <a:ea typeface="Calibri" pitchFamily="34" charset="-122"/>
                <a:cs typeface="Calibri" pitchFamily="34" charset="-120"/>
              </a:rPr>
              <a:t>Compatible, compatible with a stated limit, or greyed out with the reason in one sentence and the missing part on an add button.</a:t>
            </a:r>
            <a:endParaRPr lang="en-US" sz="1350" dirty="0"/>
          </a:p>
        </p:txBody>
      </p:sp>
      <p:sp>
        <p:nvSpPr>
          <p:cNvPr id="10" name="Shape 8"/>
          <p:cNvSpPr/>
          <p:nvPr/>
        </p:nvSpPr>
        <p:spPr>
          <a:xfrm>
            <a:off x="585216" y="3072384"/>
            <a:ext cx="109728" cy="109728"/>
          </a:xfrm>
          <a:prstGeom prst="rect">
            <a:avLst/>
          </a:prstGeom>
          <a:solidFill>
            <a:srgbClr val="00AEEF"/>
          </a:solidFill>
          <a:ln/>
        </p:spPr>
      </p:sp>
      <p:sp>
        <p:nvSpPr>
          <p:cNvPr id="11" name="Text 9"/>
          <p:cNvSpPr txBox="1"/>
          <p:nvPr/>
        </p:nvSpPr>
        <p:spPr>
          <a:xfrm>
            <a:off x="877824" y="2962656"/>
            <a:ext cx="10746943" cy="566928"/>
          </a:xfrm>
          <a:prstGeom prst="rect">
            <a:avLst/>
          </a:prstGeom>
          <a:noFill/>
          <a:ln/>
        </p:spPr>
        <p:txBody>
          <a:bodyPr wrap="square" lIns="0" tIns="0" rIns="0" bIns="0" rtlCol="0" anchor="ctr"/>
          <a:lstStyle/>
          <a:p>
            <a:pPr indent="0" marL="0">
              <a:lnSpc>
                <a:spcPts val="1900"/>
              </a:lnSpc>
              <a:buNone/>
            </a:pPr>
            <a:r>
              <a:rPr lang="en-US" sz="1350" b="1" dirty="0">
                <a:solidFill>
                  <a:srgbClr val="131C3D"/>
                </a:solidFill>
                <a:latin typeface="Calibri" pitchFamily="34" charset="0"/>
                <a:ea typeface="Calibri" pitchFamily="34" charset="-122"/>
                <a:cs typeface="Calibri" pitchFamily="34" charset="-120"/>
              </a:rPr>
              <a:t>Nobody picks devices. </a:t>
            </a:r>
            <a:pPr indent="0" marL="0">
              <a:lnSpc>
                <a:spcPts val="1900"/>
              </a:lnSpc>
              <a:buNone/>
            </a:pPr>
            <a:r>
              <a:rPr lang="en-US" sz="1350" dirty="0">
                <a:solidFill>
                  <a:srgbClr val="1D2858"/>
                </a:solidFill>
                <a:latin typeface="Calibri" pitchFamily="34" charset="0"/>
                <a:ea typeface="Calibri" pitchFamily="34" charset="-122"/>
                <a:cs typeface="Calibri" pitchFamily="34" charset="-120"/>
              </a:rPr>
              <a:t>The tool proposes Essential, Comfort and Premium, built from composition rules: no thermostat, one in the living room, or one per room.</a:t>
            </a:r>
            <a:endParaRPr lang="en-US" sz="1350" dirty="0"/>
          </a:p>
        </p:txBody>
      </p:sp>
      <p:sp>
        <p:nvSpPr>
          <p:cNvPr id="12" name="Shape 10"/>
          <p:cNvSpPr/>
          <p:nvPr/>
        </p:nvSpPr>
        <p:spPr>
          <a:xfrm>
            <a:off x="585216" y="3730752"/>
            <a:ext cx="109728" cy="109728"/>
          </a:xfrm>
          <a:prstGeom prst="rect">
            <a:avLst/>
          </a:prstGeom>
          <a:solidFill>
            <a:srgbClr val="00AEEF"/>
          </a:solidFill>
          <a:ln/>
        </p:spPr>
      </p:sp>
      <p:sp>
        <p:nvSpPr>
          <p:cNvPr id="13" name="Text 11"/>
          <p:cNvSpPr txBox="1"/>
          <p:nvPr/>
        </p:nvSpPr>
        <p:spPr>
          <a:xfrm>
            <a:off x="877824" y="3621024"/>
            <a:ext cx="10746943" cy="566928"/>
          </a:xfrm>
          <a:prstGeom prst="rect">
            <a:avLst/>
          </a:prstGeom>
          <a:noFill/>
          <a:ln/>
        </p:spPr>
        <p:txBody>
          <a:bodyPr wrap="square" lIns="0" tIns="0" rIns="0" bIns="0" rtlCol="0" anchor="ctr"/>
          <a:lstStyle/>
          <a:p>
            <a:pPr indent="0" marL="0">
              <a:lnSpc>
                <a:spcPts val="1900"/>
              </a:lnSpc>
              <a:buNone/>
            </a:pPr>
            <a:r>
              <a:rPr lang="en-US" sz="1350" b="1" dirty="0">
                <a:solidFill>
                  <a:srgbClr val="131C3D"/>
                </a:solidFill>
                <a:latin typeface="Calibri" pitchFamily="34" charset="0"/>
                <a:ea typeface="Calibri" pitchFamily="34" charset="-122"/>
                <a:cs typeface="Calibri" pitchFamily="34" charset="-120"/>
              </a:rPr>
              <a:t>Budget is shown, not applied as a filter. </a:t>
            </a:r>
            <a:pPr indent="0" marL="0">
              <a:lnSpc>
                <a:spcPts val="1900"/>
              </a:lnSpc>
              <a:buNone/>
            </a:pPr>
            <a:r>
              <a:rPr lang="en-US" sz="1350" dirty="0">
                <a:solidFill>
                  <a:srgbClr val="1D2858"/>
                </a:solidFill>
                <a:latin typeface="Calibri" pitchFamily="34" charset="0"/>
                <a:ea typeface="Calibri" pitchFamily="34" charset="-122"/>
                <a:cs typeface="Calibri" pitchFamily="34" charset="-120"/>
              </a:rPr>
              <a:t>A level above budget stays visible and greyed, with the gap written next to it.</a:t>
            </a:r>
            <a:endParaRPr lang="en-US" sz="1350" dirty="0"/>
          </a:p>
        </p:txBody>
      </p:sp>
      <p:sp>
        <p:nvSpPr>
          <p:cNvPr id="14" name="Shape 12"/>
          <p:cNvSpPr/>
          <p:nvPr/>
        </p:nvSpPr>
        <p:spPr>
          <a:xfrm>
            <a:off x="566928" y="4407408"/>
            <a:ext cx="11057839" cy="1993392"/>
          </a:xfrm>
          <a:prstGeom prst="roundRect">
            <a:avLst>
              <a:gd name="adj" fmla="val 2752"/>
            </a:avLst>
          </a:prstGeom>
          <a:solidFill>
            <a:srgbClr val="F2FAFE"/>
          </a:solidFill>
          <a:ln w="19050">
            <a:solidFill>
              <a:srgbClr val="00AEEF"/>
            </a:solidFill>
            <a:prstDash val="dash"/>
          </a:ln>
        </p:spPr>
      </p:sp>
      <p:sp>
        <p:nvSpPr>
          <p:cNvPr id="15" name="Text 13"/>
          <p:cNvSpPr txBox="1"/>
          <p:nvPr/>
        </p:nvSpPr>
        <p:spPr>
          <a:xfrm>
            <a:off x="822960" y="4553712"/>
            <a:ext cx="2743200" cy="228600"/>
          </a:xfrm>
          <a:prstGeom prst="rect">
            <a:avLst/>
          </a:prstGeom>
          <a:noFill/>
          <a:ln/>
        </p:spPr>
        <p:txBody>
          <a:bodyPr wrap="square" lIns="0" tIns="0" rIns="0" bIns="0" rtlCol="0" anchor="ctr"/>
          <a:lstStyle/>
          <a:p>
            <a:pPr indent="0" marL="0">
              <a:buNone/>
            </a:pPr>
            <a:r>
              <a:rPr lang="en-US" sz="1100" b="1" spc="160" kern="0" dirty="0">
                <a:solidFill>
                  <a:srgbClr val="0079A8"/>
                </a:solidFill>
                <a:latin typeface="Calibri" pitchFamily="34" charset="0"/>
                <a:ea typeface="Calibri" pitchFamily="34" charset="-122"/>
                <a:cs typeface="Calibri" pitchFamily="34" charset="-120"/>
              </a:rPr>
              <a:t>LIVE DEMO</a:t>
            </a:r>
            <a:endParaRPr lang="en-US" sz="1100" dirty="0"/>
          </a:p>
        </p:txBody>
      </p:sp>
      <p:sp>
        <p:nvSpPr>
          <p:cNvPr id="16" name="Text 14"/>
          <p:cNvSpPr txBox="1"/>
          <p:nvPr/>
        </p:nvSpPr>
        <p:spPr>
          <a:xfrm>
            <a:off x="9997135" y="4553712"/>
            <a:ext cx="1371600" cy="228600"/>
          </a:xfrm>
          <a:prstGeom prst="rect">
            <a:avLst/>
          </a:prstGeom>
          <a:noFill/>
          <a:ln/>
        </p:spPr>
        <p:txBody>
          <a:bodyPr wrap="square" lIns="0" tIns="0" rIns="0" bIns="0" rtlCol="0" anchor="ctr"/>
          <a:lstStyle/>
          <a:p>
            <a:pPr algn="r" indent="0" marL="0">
              <a:buNone/>
            </a:pPr>
            <a:r>
              <a:rPr lang="en-US" sz="1100" b="1" spc="120" kern="0" dirty="0">
                <a:solidFill>
                  <a:srgbClr val="69718C"/>
                </a:solidFill>
                <a:latin typeface="Calibri" pitchFamily="34" charset="0"/>
                <a:ea typeface="Calibri" pitchFamily="34" charset="-122"/>
                <a:cs typeface="Calibri" pitchFamily="34" charset="-120"/>
              </a:rPr>
              <a:t>2 MIN</a:t>
            </a:r>
            <a:endParaRPr lang="en-US" sz="1100" dirty="0"/>
          </a:p>
        </p:txBody>
      </p:sp>
      <p:sp>
        <p:nvSpPr>
          <p:cNvPr id="17" name="Text 15"/>
          <p:cNvSpPr txBox="1"/>
          <p:nvPr/>
        </p:nvSpPr>
        <p:spPr>
          <a:xfrm>
            <a:off x="978408" y="4846320"/>
            <a:ext cx="10234879" cy="1426464"/>
          </a:xfrm>
          <a:prstGeom prst="rect">
            <a:avLst/>
          </a:prstGeom>
          <a:noFill/>
          <a:ln/>
        </p:spPr>
        <p:txBody>
          <a:bodyPr wrap="square" lIns="0" tIns="0" rIns="0" bIns="0" rtlCol="0" anchor="ctr"/>
          <a:lstStyle/>
          <a:p>
            <a:pPr marL="342900" indent="-342900">
              <a:lnSpc>
                <a:spcPts val="1700"/>
              </a:lnSpc>
              <a:spcAft>
                <a:spcPts val="500"/>
              </a:spcAft>
              <a:buSzPct val="100000"/>
              <a:buFont typeface="+mj-lt"/>
              <a:buAutoNum type="arabicPeriod" startAt="1"/>
            </a:pPr>
            <a:r>
              <a:rPr lang="en-US" sz="1250" dirty="0">
                <a:solidFill>
                  <a:srgbClr val="1D2858"/>
                </a:solidFill>
                <a:latin typeface="Calibri" pitchFamily="34" charset="0"/>
                <a:ea typeface="Calibri" pitchFamily="34" charset="-122"/>
                <a:cs typeface="Calibri" pitchFamily="34" charset="-120"/>
              </a:rPr>
              <a:t>Landing page → Demo scenario, mixed house in one click.</a:t>
            </a:r>
            <a:endParaRPr lang="en-US" sz="1250" dirty="0"/>
          </a:p>
          <a:p>
            <a:pPr marL="342900" indent="-342900">
              <a:lnSpc>
                <a:spcPts val="1700"/>
              </a:lnSpc>
              <a:spcAft>
                <a:spcPts val="500"/>
              </a:spcAft>
              <a:buSzPct val="100000"/>
              <a:buFont typeface="+mj-lt"/>
              <a:buAutoNum type="arabicPeriod" startAt="1"/>
            </a:pPr>
            <a:r>
              <a:rPr lang="en-US" sz="1250" dirty="0">
                <a:solidFill>
                  <a:srgbClr val="1D2858"/>
                </a:solidFill>
                <a:latin typeface="Calibri" pitchFamily="34" charset="0"/>
                <a:ea typeface="Calibri" pitchFamily="34" charset="-122"/>
                <a:cs typeface="Calibri" pitchFamily="34" charset="-120"/>
              </a:rPr>
              <a:t>On the result screen, open Other choice on a line, then pick a device that needs a gateway: greyed, with the reason and the add UG800 button.</a:t>
            </a:r>
            <a:endParaRPr lang="en-US" sz="1250" dirty="0"/>
          </a:p>
          <a:p>
            <a:pPr marL="342900" indent="-342900">
              <a:lnSpc>
                <a:spcPts val="1700"/>
              </a:lnSpc>
              <a:spcAft>
                <a:spcPts val="500"/>
              </a:spcAft>
              <a:buSzPct val="100000"/>
              <a:buFont typeface="+mj-lt"/>
              <a:buAutoNum type="arabicPeriod" startAt="1"/>
            </a:pPr>
            <a:r>
              <a:rPr lang="en-US" sz="1250" dirty="0">
                <a:solidFill>
                  <a:srgbClr val="1D2858"/>
                </a:solidFill>
                <a:latin typeface="Calibri" pitchFamily="34" charset="0"/>
                <a:ea typeface="Calibri" pitchFamily="34" charset="-122"/>
                <a:cs typeface="Calibri" pitchFamily="34" charset="-120"/>
              </a:rPr>
              <a:t>Move the budget slider down — Premium stays on screen with the gap.</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CFE"/>
        </a:solidFill>
      </p:bgPr>
    </p:bg>
    <p:spTree>
      <p:nvGrpSpPr>
        <p:cNvPr id="1" name=""/>
        <p:cNvGrpSpPr/>
        <p:nvPr/>
      </p:nvGrpSpPr>
      <p:grpSpPr>
        <a:xfrm>
          <a:off x="0" y="0"/>
          <a:ext cx="0" cy="0"/>
          <a:chOff x="0" y="0"/>
          <a:chExt cx="0" cy="0"/>
        </a:xfrm>
      </p:grpSpPr>
      <p:sp>
        <p:nvSpPr>
          <p:cNvPr id="2" name="Text 0"/>
          <p:cNvSpPr txBox="1"/>
          <p:nvPr/>
        </p:nvSpPr>
        <p:spPr>
          <a:xfrm>
            <a:off x="1298448" y="384048"/>
            <a:ext cx="10326319" cy="256032"/>
          </a:xfrm>
          <a:prstGeom prst="rect">
            <a:avLst/>
          </a:prstGeom>
          <a:noFill/>
          <a:ln/>
        </p:spPr>
        <p:txBody>
          <a:bodyPr wrap="square" lIns="0" tIns="0" rIns="0" bIns="0" rtlCol="0" anchor="ctr"/>
          <a:lstStyle/>
          <a:p>
            <a:pPr indent="0" marL="0">
              <a:buNone/>
            </a:pPr>
            <a:r>
              <a:rPr lang="en-US" sz="1100" b="1" spc="160" kern="0" dirty="0">
                <a:solidFill>
                  <a:srgbClr val="0079A8"/>
                </a:solidFill>
                <a:latin typeface="Calibri" pitchFamily="34" charset="0"/>
                <a:ea typeface="Calibri" pitchFamily="34" charset="-122"/>
                <a:cs typeface="Calibri" pitchFamily="34" charset="-120"/>
              </a:rPr>
              <a:t>GROUP B · 5 PROBLEMS</a:t>
            </a:r>
            <a:endParaRPr lang="en-US" sz="1100" dirty="0"/>
          </a:p>
        </p:txBody>
      </p:sp>
      <p:sp>
        <p:nvSpPr>
          <p:cNvPr id="3" name="Shape 1"/>
          <p:cNvSpPr/>
          <p:nvPr/>
        </p:nvSpPr>
        <p:spPr>
          <a:xfrm>
            <a:off x="566928" y="640080"/>
            <a:ext cx="566928" cy="566928"/>
          </a:xfrm>
          <a:prstGeom prst="ellipse">
            <a:avLst/>
          </a:prstGeom>
          <a:solidFill>
            <a:srgbClr val="00AEEF"/>
          </a:solidFill>
          <a:ln/>
        </p:spPr>
      </p:sp>
      <p:sp>
        <p:nvSpPr>
          <p:cNvPr id="4" name="Text 2"/>
          <p:cNvSpPr txBox="1"/>
          <p:nvPr/>
        </p:nvSpPr>
        <p:spPr>
          <a:xfrm>
            <a:off x="566928" y="640080"/>
            <a:ext cx="566928" cy="566928"/>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B</a:t>
            </a:r>
            <a:endParaRPr lang="en-US" sz="2600" dirty="0"/>
          </a:p>
        </p:txBody>
      </p:sp>
      <p:sp>
        <p:nvSpPr>
          <p:cNvPr id="5" name="Text 3"/>
          <p:cNvSpPr txBox="1"/>
          <p:nvPr/>
        </p:nvSpPr>
        <p:spPr>
          <a:xfrm>
            <a:off x="1298448" y="621792"/>
            <a:ext cx="10326319" cy="658368"/>
          </a:xfrm>
          <a:prstGeom prst="rect">
            <a:avLst/>
          </a:prstGeom>
          <a:noFill/>
          <a:ln/>
        </p:spPr>
        <p:txBody>
          <a:bodyPr wrap="square" lIns="0" tIns="0" rIns="0" bIns="0" rtlCol="0" anchor="ctr"/>
          <a:lstStyle/>
          <a:p>
            <a:pPr indent="0" marL="0">
              <a:buNone/>
            </a:pPr>
            <a:r>
              <a:rPr lang="en-US" sz="3100" b="1" dirty="0">
                <a:solidFill>
                  <a:srgbClr val="131C3D"/>
                </a:solidFill>
                <a:latin typeface="Calibri" pitchFamily="34" charset="0"/>
                <a:ea typeface="Calibri" pitchFamily="34" charset="-122"/>
                <a:cs typeface="Calibri" pitchFamily="34" charset="-120"/>
              </a:rPr>
              <a:t>The shape of the journey</a:t>
            </a:r>
            <a:endParaRPr lang="en-US" sz="3100" dirty="0"/>
          </a:p>
        </p:txBody>
      </p:sp>
      <p:sp>
        <p:nvSpPr>
          <p:cNvPr id="6" name="Shape 4"/>
          <p:cNvSpPr/>
          <p:nvPr/>
        </p:nvSpPr>
        <p:spPr>
          <a:xfrm>
            <a:off x="566928" y="1417320"/>
            <a:ext cx="11057839" cy="713232"/>
          </a:xfrm>
          <a:prstGeom prst="roundRect">
            <a:avLst>
              <a:gd name="adj" fmla="val 7692"/>
            </a:avLst>
          </a:prstGeom>
          <a:solidFill>
            <a:srgbClr val="F2F7FC"/>
          </a:solidFill>
          <a:ln w="12700">
            <a:solidFill>
              <a:srgbClr val="DCE3EE"/>
            </a:solidFill>
            <a:prstDash val="solid"/>
          </a:ln>
        </p:spPr>
      </p:sp>
      <p:sp>
        <p:nvSpPr>
          <p:cNvPr id="7" name="Text 5"/>
          <p:cNvSpPr txBox="1"/>
          <p:nvPr/>
        </p:nvSpPr>
        <p:spPr>
          <a:xfrm>
            <a:off x="795528" y="1490472"/>
            <a:ext cx="10600639" cy="566928"/>
          </a:xfrm>
          <a:prstGeom prst="rect">
            <a:avLst/>
          </a:prstGeom>
          <a:noFill/>
          <a:ln/>
        </p:spPr>
        <p:txBody>
          <a:bodyPr wrap="square" lIns="0" tIns="0" rIns="0" bIns="0" rtlCol="0" anchor="ctr"/>
          <a:lstStyle/>
          <a:p>
            <a:pPr indent="0" marL="0">
              <a:lnSpc>
                <a:spcPts val="1800"/>
              </a:lnSpc>
              <a:buNone/>
            </a:pPr>
            <a:r>
              <a:rPr lang="en-US" sz="1200" b="1" dirty="0">
                <a:solidFill>
                  <a:srgbClr val="0079A8"/>
                </a:solidFill>
                <a:latin typeface="Calibri" pitchFamily="34" charset="0"/>
                <a:ea typeface="Calibri" pitchFamily="34" charset="-122"/>
                <a:cs typeface="Calibri" pitchFamily="34" charset="-120"/>
              </a:rPr>
              <a:t>P3 </a:t>
            </a:r>
            <a:pPr indent="0" marL="0">
              <a:lnSpc>
                <a:spcPts val="1800"/>
              </a:lnSpc>
              <a:buNone/>
            </a:pPr>
            <a:r>
              <a:rPr lang="en-US" sz="1200" dirty="0">
                <a:solidFill>
                  <a:srgbClr val="1D2858"/>
                </a:solidFill>
                <a:latin typeface="Calibri" pitchFamily="34" charset="0"/>
                <a:ea typeface="Calibri" pitchFamily="34" charset="-122"/>
                <a:cs typeface="Calibri" pitchFamily="34" charset="-120"/>
              </a:rPr>
              <a:t>Unclear journey     </a:t>
            </a:r>
            <a:pPr indent="0" marL="0">
              <a:lnSpc>
                <a:spcPts val="1800"/>
              </a:lnSpc>
              <a:buNone/>
            </a:pPr>
            <a:r>
              <a:rPr lang="en-US" sz="1200" b="1" dirty="0">
                <a:solidFill>
                  <a:srgbClr val="0079A8"/>
                </a:solidFill>
                <a:latin typeface="Calibri" pitchFamily="34" charset="0"/>
                <a:ea typeface="Calibri" pitchFamily="34" charset="-122"/>
                <a:cs typeface="Calibri" pitchFamily="34" charset="-120"/>
              </a:rPr>
              <a:t>P5 </a:t>
            </a:r>
            <a:pPr indent="0" marL="0">
              <a:lnSpc>
                <a:spcPts val="1800"/>
              </a:lnSpc>
              <a:buNone/>
            </a:pPr>
            <a:r>
              <a:rPr lang="en-US" sz="1200" dirty="0">
                <a:solidFill>
                  <a:srgbClr val="1D2858"/>
                </a:solidFill>
                <a:latin typeface="Calibri" pitchFamily="34" charset="0"/>
                <a:ea typeface="Calibri" pitchFamily="34" charset="-122"/>
                <a:cs typeface="Calibri" pitchFamily="34" charset="-120"/>
              </a:rPr>
              <a:t>Not intuitive     </a:t>
            </a:r>
            <a:pPr indent="0" marL="0">
              <a:lnSpc>
                <a:spcPts val="1800"/>
              </a:lnSpc>
              <a:buNone/>
            </a:pPr>
            <a:r>
              <a:rPr lang="en-US" sz="1200" b="1" dirty="0">
                <a:solidFill>
                  <a:srgbClr val="0079A8"/>
                </a:solidFill>
                <a:latin typeface="Calibri" pitchFamily="34" charset="0"/>
                <a:ea typeface="Calibri" pitchFamily="34" charset="-122"/>
                <a:cs typeface="Calibri" pitchFamily="34" charset="-120"/>
              </a:rPr>
              <a:t>P7 </a:t>
            </a:r>
            <a:pPr indent="0" marL="0">
              <a:lnSpc>
                <a:spcPts val="1800"/>
              </a:lnSpc>
              <a:buNone/>
            </a:pPr>
            <a:r>
              <a:rPr lang="en-US" sz="1200" dirty="0">
                <a:solidFill>
                  <a:srgbClr val="1D2858"/>
                </a:solidFill>
                <a:latin typeface="Calibri" pitchFamily="34" charset="0"/>
                <a:ea typeface="Calibri" pitchFamily="34" charset="-122"/>
                <a:cs typeface="Calibri" pitchFamily="34" charset="-120"/>
              </a:rPr>
              <a:t>Too many steps before buying     </a:t>
            </a:r>
            <a:pPr indent="0" marL="0">
              <a:lnSpc>
                <a:spcPts val="1800"/>
              </a:lnSpc>
              <a:buNone/>
            </a:pPr>
            <a:r>
              <a:rPr lang="en-US" sz="1200" b="1" dirty="0">
                <a:solidFill>
                  <a:srgbClr val="0079A8"/>
                </a:solidFill>
                <a:latin typeface="Calibri" pitchFamily="34" charset="0"/>
                <a:ea typeface="Calibri" pitchFamily="34" charset="-122"/>
                <a:cs typeface="Calibri" pitchFamily="34" charset="-120"/>
              </a:rPr>
              <a:t>P11 </a:t>
            </a:r>
            <a:pPr indent="0" marL="0">
              <a:lnSpc>
                <a:spcPts val="1800"/>
              </a:lnSpc>
              <a:buNone/>
            </a:pPr>
            <a:r>
              <a:rPr lang="en-US" sz="1200" dirty="0">
                <a:solidFill>
                  <a:srgbClr val="1D2858"/>
                </a:solidFill>
                <a:latin typeface="Calibri" pitchFamily="34" charset="0"/>
                <a:ea typeface="Calibri" pitchFamily="34" charset="-122"/>
                <a:cs typeface="Calibri" pitchFamily="34" charset="-120"/>
              </a:rPr>
              <a:t>Online or offline     </a:t>
            </a:r>
            <a:pPr indent="0" marL="0">
              <a:lnSpc>
                <a:spcPts val="1800"/>
              </a:lnSpc>
              <a:buNone/>
            </a:pPr>
            <a:r>
              <a:rPr lang="en-US" sz="1200" b="1" dirty="0">
                <a:solidFill>
                  <a:srgbClr val="0079A8"/>
                </a:solidFill>
                <a:latin typeface="Calibri" pitchFamily="34" charset="0"/>
                <a:ea typeface="Calibri" pitchFamily="34" charset="-122"/>
                <a:cs typeface="Calibri" pitchFamily="34" charset="-120"/>
              </a:rPr>
              <a:t>P23 </a:t>
            </a:r>
            <a:pPr indent="0" marL="0">
              <a:lnSpc>
                <a:spcPts val="1800"/>
              </a:lnSpc>
              <a:buNone/>
            </a:pPr>
            <a:r>
              <a:rPr lang="en-US" sz="1200" dirty="0">
                <a:solidFill>
                  <a:srgbClr val="1D2858"/>
                </a:solidFill>
                <a:latin typeface="Calibri" pitchFamily="34" charset="0"/>
                <a:ea typeface="Calibri" pitchFamily="34" charset="-122"/>
                <a:cs typeface="Calibri" pitchFamily="34" charset="-120"/>
              </a:rPr>
              <a:t>Starting over every time</a:t>
            </a:r>
            <a:endParaRPr lang="en-US" sz="1200" dirty="0"/>
          </a:p>
        </p:txBody>
      </p:sp>
      <p:sp>
        <p:nvSpPr>
          <p:cNvPr id="8" name="Shape 6"/>
          <p:cNvSpPr/>
          <p:nvPr/>
        </p:nvSpPr>
        <p:spPr>
          <a:xfrm>
            <a:off x="585216" y="2414016"/>
            <a:ext cx="109728" cy="109728"/>
          </a:xfrm>
          <a:prstGeom prst="rect">
            <a:avLst/>
          </a:prstGeom>
          <a:solidFill>
            <a:srgbClr val="00AEEF"/>
          </a:solidFill>
          <a:ln/>
        </p:spPr>
      </p:sp>
      <p:sp>
        <p:nvSpPr>
          <p:cNvPr id="9" name="Text 7"/>
          <p:cNvSpPr txBox="1"/>
          <p:nvPr/>
        </p:nvSpPr>
        <p:spPr>
          <a:xfrm>
            <a:off x="877824" y="2304288"/>
            <a:ext cx="10746943" cy="566928"/>
          </a:xfrm>
          <a:prstGeom prst="rect">
            <a:avLst/>
          </a:prstGeom>
          <a:noFill/>
          <a:ln/>
        </p:spPr>
        <p:txBody>
          <a:bodyPr wrap="square" lIns="0" tIns="0" rIns="0" bIns="0" rtlCol="0" anchor="ctr"/>
          <a:lstStyle/>
          <a:p>
            <a:pPr indent="0" marL="0">
              <a:lnSpc>
                <a:spcPts val="1900"/>
              </a:lnSpc>
              <a:buNone/>
            </a:pPr>
            <a:r>
              <a:rPr lang="en-US" sz="1350" b="1" dirty="0">
                <a:solidFill>
                  <a:srgbClr val="131C3D"/>
                </a:solidFill>
                <a:latin typeface="Calibri" pitchFamily="34" charset="0"/>
                <a:ea typeface="Calibri" pitchFamily="34" charset="-122"/>
                <a:cs typeface="Calibri" pitchFamily="34" charset="-120"/>
              </a:rPr>
              <a:t>One path, four named steps. </a:t>
            </a:r>
            <a:pPr indent="0" marL="0">
              <a:lnSpc>
                <a:spcPts val="1900"/>
              </a:lnSpc>
              <a:buNone/>
            </a:pPr>
            <a:r>
              <a:rPr lang="en-US" sz="1350" dirty="0">
                <a:solidFill>
                  <a:srgbClr val="1D2858"/>
                </a:solidFill>
                <a:latin typeface="Calibri" pitchFamily="34" charset="0"/>
                <a:ea typeface="Calibri" pitchFamily="34" charset="-122"/>
                <a:cs typeface="Calibri" pitchFamily="34" charset="-120"/>
              </a:rPr>
              <a:t>My home, my heating, my habits, my solution. The bar is always visible and going back costs nothing.</a:t>
            </a:r>
            <a:endParaRPr lang="en-US" sz="1350" dirty="0"/>
          </a:p>
        </p:txBody>
      </p:sp>
      <p:sp>
        <p:nvSpPr>
          <p:cNvPr id="10" name="Shape 8"/>
          <p:cNvSpPr/>
          <p:nvPr/>
        </p:nvSpPr>
        <p:spPr>
          <a:xfrm>
            <a:off x="585216" y="3072384"/>
            <a:ext cx="109728" cy="109728"/>
          </a:xfrm>
          <a:prstGeom prst="rect">
            <a:avLst/>
          </a:prstGeom>
          <a:solidFill>
            <a:srgbClr val="00AEEF"/>
          </a:solidFill>
          <a:ln/>
        </p:spPr>
      </p:sp>
      <p:sp>
        <p:nvSpPr>
          <p:cNvPr id="11" name="Text 9"/>
          <p:cNvSpPr txBox="1"/>
          <p:nvPr/>
        </p:nvSpPr>
        <p:spPr>
          <a:xfrm>
            <a:off x="877824" y="2962656"/>
            <a:ext cx="10746943" cy="566928"/>
          </a:xfrm>
          <a:prstGeom prst="rect">
            <a:avLst/>
          </a:prstGeom>
          <a:noFill/>
          <a:ln/>
        </p:spPr>
        <p:txBody>
          <a:bodyPr wrap="square" lIns="0" tIns="0" rIns="0" bIns="0" rtlCol="0" anchor="ctr"/>
          <a:lstStyle/>
          <a:p>
            <a:pPr indent="0" marL="0">
              <a:lnSpc>
                <a:spcPts val="1900"/>
              </a:lnSpc>
              <a:buNone/>
            </a:pPr>
            <a:r>
              <a:rPr lang="en-US" sz="1350" b="1" dirty="0">
                <a:solidFill>
                  <a:srgbClr val="131C3D"/>
                </a:solidFill>
                <a:latin typeface="Calibri" pitchFamily="34" charset="0"/>
                <a:ea typeface="Calibri" pitchFamily="34" charset="-122"/>
                <a:cs typeface="Calibri" pitchFamily="34" charset="-120"/>
              </a:rPr>
              <a:t>The two hardest questions are never asked. </a:t>
            </a:r>
            <a:pPr indent="0" marL="0">
              <a:lnSpc>
                <a:spcPts val="1900"/>
              </a:lnSpc>
              <a:buNone/>
            </a:pPr>
            <a:r>
              <a:rPr lang="en-US" sz="1350" dirty="0">
                <a:solidFill>
                  <a:srgbClr val="1D2858"/>
                </a:solidFill>
                <a:latin typeface="Calibri" pitchFamily="34" charset="0"/>
                <a:ea typeface="Calibri" pitchFamily="34" charset="-122"/>
                <a:cs typeface="Calibri" pitchFamily="34" charset="-120"/>
              </a:rPr>
              <a:t>'Do I need connected?' becomes a conclusion after three questions about daily life. 'What will it cost?' appears as a running total from step two.</a:t>
            </a:r>
            <a:endParaRPr lang="en-US" sz="1350" dirty="0"/>
          </a:p>
        </p:txBody>
      </p:sp>
      <p:sp>
        <p:nvSpPr>
          <p:cNvPr id="12" name="Shape 10"/>
          <p:cNvSpPr/>
          <p:nvPr/>
        </p:nvSpPr>
        <p:spPr>
          <a:xfrm>
            <a:off x="585216" y="3730752"/>
            <a:ext cx="109728" cy="109728"/>
          </a:xfrm>
          <a:prstGeom prst="rect">
            <a:avLst/>
          </a:prstGeom>
          <a:solidFill>
            <a:srgbClr val="00AEEF"/>
          </a:solidFill>
          <a:ln/>
        </p:spPr>
      </p:sp>
      <p:sp>
        <p:nvSpPr>
          <p:cNvPr id="13" name="Text 11"/>
          <p:cNvSpPr txBox="1"/>
          <p:nvPr/>
        </p:nvSpPr>
        <p:spPr>
          <a:xfrm>
            <a:off x="877824" y="3621024"/>
            <a:ext cx="10746943" cy="566928"/>
          </a:xfrm>
          <a:prstGeom prst="rect">
            <a:avLst/>
          </a:prstGeom>
          <a:noFill/>
          <a:ln/>
        </p:spPr>
        <p:txBody>
          <a:bodyPr wrap="square" lIns="0" tIns="0" rIns="0" bIns="0" rtlCol="0" anchor="ctr"/>
          <a:lstStyle/>
          <a:p>
            <a:pPr indent="0" marL="0">
              <a:lnSpc>
                <a:spcPts val="1900"/>
              </a:lnSpc>
              <a:buNone/>
            </a:pPr>
            <a:r>
              <a:rPr lang="en-US" sz="1350" b="1" dirty="0">
                <a:solidFill>
                  <a:srgbClr val="131C3D"/>
                </a:solidFill>
                <a:latin typeface="Calibri" pitchFamily="34" charset="0"/>
                <a:ea typeface="Calibri" pitchFamily="34" charset="-122"/>
                <a:cs typeface="Calibri" pitchFamily="34" charset="-120"/>
              </a:rPr>
              <a:t>A project is never lost, only paused. </a:t>
            </a:r>
            <a:pPr indent="0" marL="0">
              <a:lnSpc>
                <a:spcPts val="1900"/>
              </a:lnSpc>
              <a:buNone/>
            </a:pPr>
            <a:r>
              <a:rPr lang="en-US" sz="1350" dirty="0">
                <a:solidFill>
                  <a:srgbClr val="1D2858"/>
                </a:solidFill>
                <a:latin typeface="Calibri" pitchFamily="34" charset="0"/>
                <a:ea typeface="Calibri" pitchFamily="34" charset="-122"/>
                <a:cs typeface="Calibri" pitchFamily="34" charset="-120"/>
              </a:rPr>
              <a:t>A project code from the first answer, the exact step restored, and a resume link by email — the same email that feeds the CRM.</a:t>
            </a:r>
            <a:endParaRPr lang="en-US" sz="1350" dirty="0"/>
          </a:p>
        </p:txBody>
      </p:sp>
      <p:sp>
        <p:nvSpPr>
          <p:cNvPr id="14" name="Shape 12"/>
          <p:cNvSpPr/>
          <p:nvPr/>
        </p:nvSpPr>
        <p:spPr>
          <a:xfrm>
            <a:off x="566928" y="4407408"/>
            <a:ext cx="11057839" cy="1993392"/>
          </a:xfrm>
          <a:prstGeom prst="roundRect">
            <a:avLst>
              <a:gd name="adj" fmla="val 2752"/>
            </a:avLst>
          </a:prstGeom>
          <a:solidFill>
            <a:srgbClr val="F2FAFE"/>
          </a:solidFill>
          <a:ln w="19050">
            <a:solidFill>
              <a:srgbClr val="00AEEF"/>
            </a:solidFill>
            <a:prstDash val="dash"/>
          </a:ln>
        </p:spPr>
      </p:sp>
      <p:sp>
        <p:nvSpPr>
          <p:cNvPr id="15" name="Text 13"/>
          <p:cNvSpPr txBox="1"/>
          <p:nvPr/>
        </p:nvSpPr>
        <p:spPr>
          <a:xfrm>
            <a:off x="822960" y="4553712"/>
            <a:ext cx="2743200" cy="228600"/>
          </a:xfrm>
          <a:prstGeom prst="rect">
            <a:avLst/>
          </a:prstGeom>
          <a:noFill/>
          <a:ln/>
        </p:spPr>
        <p:txBody>
          <a:bodyPr wrap="square" lIns="0" tIns="0" rIns="0" bIns="0" rtlCol="0" anchor="ctr"/>
          <a:lstStyle/>
          <a:p>
            <a:pPr indent="0" marL="0">
              <a:buNone/>
            </a:pPr>
            <a:r>
              <a:rPr lang="en-US" sz="1100" b="1" spc="160" kern="0" dirty="0">
                <a:solidFill>
                  <a:srgbClr val="0079A8"/>
                </a:solidFill>
                <a:latin typeface="Calibri" pitchFamily="34" charset="0"/>
                <a:ea typeface="Calibri" pitchFamily="34" charset="-122"/>
                <a:cs typeface="Calibri" pitchFamily="34" charset="-120"/>
              </a:rPr>
              <a:t>LIVE DEMO</a:t>
            </a:r>
            <a:endParaRPr lang="en-US" sz="1100" dirty="0"/>
          </a:p>
        </p:txBody>
      </p:sp>
      <p:sp>
        <p:nvSpPr>
          <p:cNvPr id="16" name="Text 14"/>
          <p:cNvSpPr txBox="1"/>
          <p:nvPr/>
        </p:nvSpPr>
        <p:spPr>
          <a:xfrm>
            <a:off x="9997135" y="4553712"/>
            <a:ext cx="1371600" cy="228600"/>
          </a:xfrm>
          <a:prstGeom prst="rect">
            <a:avLst/>
          </a:prstGeom>
          <a:noFill/>
          <a:ln/>
        </p:spPr>
        <p:txBody>
          <a:bodyPr wrap="square" lIns="0" tIns="0" rIns="0" bIns="0" rtlCol="0" anchor="ctr"/>
          <a:lstStyle/>
          <a:p>
            <a:pPr algn="r" indent="0" marL="0">
              <a:buNone/>
            </a:pPr>
            <a:r>
              <a:rPr lang="en-US" sz="1100" b="1" spc="120" kern="0" dirty="0">
                <a:solidFill>
                  <a:srgbClr val="69718C"/>
                </a:solidFill>
                <a:latin typeface="Calibri" pitchFamily="34" charset="0"/>
                <a:ea typeface="Calibri" pitchFamily="34" charset="-122"/>
                <a:cs typeface="Calibri" pitchFamily="34" charset="-120"/>
              </a:rPr>
              <a:t>2 MIN</a:t>
            </a:r>
            <a:endParaRPr lang="en-US" sz="1100" dirty="0"/>
          </a:p>
        </p:txBody>
      </p:sp>
      <p:sp>
        <p:nvSpPr>
          <p:cNvPr id="17" name="Text 15"/>
          <p:cNvSpPr txBox="1"/>
          <p:nvPr/>
        </p:nvSpPr>
        <p:spPr>
          <a:xfrm>
            <a:off x="978408" y="4846320"/>
            <a:ext cx="10234879" cy="1426464"/>
          </a:xfrm>
          <a:prstGeom prst="rect">
            <a:avLst/>
          </a:prstGeom>
          <a:noFill/>
          <a:ln/>
        </p:spPr>
        <p:txBody>
          <a:bodyPr wrap="square" lIns="0" tIns="0" rIns="0" bIns="0" rtlCol="0" anchor="ctr"/>
          <a:lstStyle/>
          <a:p>
            <a:pPr marL="342900" indent="-342900">
              <a:lnSpc>
                <a:spcPts val="1700"/>
              </a:lnSpc>
              <a:spcAft>
                <a:spcPts val="500"/>
              </a:spcAft>
              <a:buSzPct val="100000"/>
              <a:buFont typeface="+mj-lt"/>
              <a:buAutoNum type="arabicPeriod" startAt="1"/>
            </a:pPr>
            <a:r>
              <a:rPr lang="en-US" sz="1250" dirty="0">
                <a:solidFill>
                  <a:srgbClr val="1D2858"/>
                </a:solidFill>
                <a:latin typeface="Calibri" pitchFamily="34" charset="0"/>
                <a:ea typeface="Calibri" pitchFamily="34" charset="-122"/>
                <a:cs typeface="Calibri" pitchFamily="34" charset="-120"/>
              </a:rPr>
              <a:t>Start a fresh journey: homeowner, then one question per screen.</a:t>
            </a:r>
            <a:endParaRPr lang="en-US" sz="1250" dirty="0"/>
          </a:p>
          <a:p>
            <a:pPr marL="342900" indent="-342900">
              <a:lnSpc>
                <a:spcPts val="1700"/>
              </a:lnSpc>
              <a:spcAft>
                <a:spcPts val="500"/>
              </a:spcAft>
              <a:buSzPct val="100000"/>
              <a:buFont typeface="+mj-lt"/>
              <a:buAutoNum type="arabicPeriod" startAt="1"/>
            </a:pPr>
            <a:r>
              <a:rPr lang="en-US" sz="1250" dirty="0">
                <a:solidFill>
                  <a:srgbClr val="1D2858"/>
                </a:solidFill>
                <a:latin typeface="Calibri" pitchFamily="34" charset="0"/>
                <a:ea typeface="Calibri" pitchFamily="34" charset="-122"/>
                <a:cs typeface="Calibri" pitchFamily="34" charset="-120"/>
              </a:rPr>
              <a:t>Show the running total appearing at the end of 'My heating'.</a:t>
            </a:r>
            <a:endParaRPr lang="en-US" sz="1250" dirty="0"/>
          </a:p>
          <a:p>
            <a:pPr marL="342900" indent="-342900">
              <a:lnSpc>
                <a:spcPts val="1700"/>
              </a:lnSpc>
              <a:spcAft>
                <a:spcPts val="500"/>
              </a:spcAft>
              <a:buSzPct val="100000"/>
              <a:buFont typeface="+mj-lt"/>
              <a:buAutoNum type="arabicPeriod" startAt="1"/>
            </a:pPr>
            <a:r>
              <a:rPr lang="en-US" sz="1250" dirty="0">
                <a:solidFill>
                  <a:srgbClr val="1D2858"/>
                </a:solidFill>
                <a:latin typeface="Calibri" pitchFamily="34" charset="0"/>
                <a:ea typeface="Calibri" pitchFamily="34" charset="-122"/>
                <a:cs typeface="Calibri" pitchFamily="34" charset="-120"/>
              </a:rPr>
              <a:t>Answer the three habit questions → the connected conclusion and the comparison card, shown once.</a:t>
            </a:r>
            <a:endParaRPr lang="en-US" sz="1250" dirty="0"/>
          </a:p>
          <a:p>
            <a:pPr marL="342900" indent="-342900">
              <a:lnSpc>
                <a:spcPts val="1700"/>
              </a:lnSpc>
              <a:spcAft>
                <a:spcPts val="500"/>
              </a:spcAft>
              <a:buSzPct val="100000"/>
              <a:buFont typeface="+mj-lt"/>
              <a:buAutoNum type="arabicPeriod" startAt="1"/>
            </a:pPr>
            <a:r>
              <a:rPr lang="en-US" sz="1250" dirty="0">
                <a:solidFill>
                  <a:srgbClr val="1D2858"/>
                </a:solidFill>
                <a:latin typeface="Calibri" pitchFamily="34" charset="0"/>
                <a:ea typeface="Calibri" pitchFamily="34" charset="-122"/>
                <a:cs typeface="Calibri" pitchFamily="34" charset="-120"/>
              </a:rPr>
              <a:t>Reload the page → the project code brings the answers back.</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CFE"/>
        </a:solidFill>
      </p:bgPr>
    </p:bg>
    <p:spTree>
      <p:nvGrpSpPr>
        <p:cNvPr id="1" name=""/>
        <p:cNvGrpSpPr/>
        <p:nvPr/>
      </p:nvGrpSpPr>
      <p:grpSpPr>
        <a:xfrm>
          <a:off x="0" y="0"/>
          <a:ext cx="0" cy="0"/>
          <a:chOff x="0" y="0"/>
          <a:chExt cx="0" cy="0"/>
        </a:xfrm>
      </p:grpSpPr>
      <p:sp>
        <p:nvSpPr>
          <p:cNvPr id="2" name="Text 0"/>
          <p:cNvSpPr txBox="1"/>
          <p:nvPr/>
        </p:nvSpPr>
        <p:spPr>
          <a:xfrm>
            <a:off x="1298448" y="384048"/>
            <a:ext cx="10326319" cy="256032"/>
          </a:xfrm>
          <a:prstGeom prst="rect">
            <a:avLst/>
          </a:prstGeom>
          <a:noFill/>
          <a:ln/>
        </p:spPr>
        <p:txBody>
          <a:bodyPr wrap="square" lIns="0" tIns="0" rIns="0" bIns="0" rtlCol="0" anchor="ctr"/>
          <a:lstStyle/>
          <a:p>
            <a:pPr indent="0" marL="0">
              <a:buNone/>
            </a:pPr>
            <a:r>
              <a:rPr lang="en-US" sz="1100" b="1" spc="160" kern="0" dirty="0">
                <a:solidFill>
                  <a:srgbClr val="0079A8"/>
                </a:solidFill>
                <a:latin typeface="Calibri" pitchFamily="34" charset="0"/>
                <a:ea typeface="Calibri" pitchFamily="34" charset="-122"/>
                <a:cs typeface="Calibri" pitchFamily="34" charset="-120"/>
              </a:rPr>
              <a:t>GROUP C · 8 PROBLEMS — THE BIGGEST GROUP</a:t>
            </a:r>
            <a:endParaRPr lang="en-US" sz="1100" dirty="0"/>
          </a:p>
        </p:txBody>
      </p:sp>
      <p:sp>
        <p:nvSpPr>
          <p:cNvPr id="3" name="Shape 1"/>
          <p:cNvSpPr/>
          <p:nvPr/>
        </p:nvSpPr>
        <p:spPr>
          <a:xfrm>
            <a:off x="566928" y="640080"/>
            <a:ext cx="566928" cy="566928"/>
          </a:xfrm>
          <a:prstGeom prst="ellipse">
            <a:avLst/>
          </a:prstGeom>
          <a:solidFill>
            <a:srgbClr val="00AEEF"/>
          </a:solidFill>
          <a:ln/>
        </p:spPr>
      </p:sp>
      <p:sp>
        <p:nvSpPr>
          <p:cNvPr id="4" name="Text 2"/>
          <p:cNvSpPr txBox="1"/>
          <p:nvPr/>
        </p:nvSpPr>
        <p:spPr>
          <a:xfrm>
            <a:off x="566928" y="640080"/>
            <a:ext cx="566928" cy="566928"/>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C</a:t>
            </a:r>
            <a:endParaRPr lang="en-US" sz="2600" dirty="0"/>
          </a:p>
        </p:txBody>
      </p:sp>
      <p:sp>
        <p:nvSpPr>
          <p:cNvPr id="5" name="Text 3"/>
          <p:cNvSpPr txBox="1"/>
          <p:nvPr/>
        </p:nvSpPr>
        <p:spPr>
          <a:xfrm>
            <a:off x="1298448" y="621792"/>
            <a:ext cx="10326319" cy="658368"/>
          </a:xfrm>
          <a:prstGeom prst="rect">
            <a:avLst/>
          </a:prstGeom>
          <a:noFill/>
          <a:ln/>
        </p:spPr>
        <p:txBody>
          <a:bodyPr wrap="square" lIns="0" tIns="0" rIns="0" bIns="0" rtlCol="0" anchor="ctr"/>
          <a:lstStyle/>
          <a:p>
            <a:pPr indent="0" marL="0">
              <a:buNone/>
            </a:pPr>
            <a:r>
              <a:rPr lang="en-US" sz="3100" b="1" dirty="0">
                <a:solidFill>
                  <a:srgbClr val="131C3D"/>
                </a:solidFill>
                <a:latin typeface="Calibri" pitchFamily="34" charset="0"/>
                <a:ea typeface="Calibri" pitchFamily="34" charset="-122"/>
                <a:cs typeface="Calibri" pitchFamily="34" charset="-120"/>
              </a:rPr>
              <a:t>One configuration, eight outputs</a:t>
            </a:r>
            <a:endParaRPr lang="en-US" sz="3100" dirty="0"/>
          </a:p>
        </p:txBody>
      </p:sp>
      <p:sp>
        <p:nvSpPr>
          <p:cNvPr id="6" name="Shape 4"/>
          <p:cNvSpPr/>
          <p:nvPr/>
        </p:nvSpPr>
        <p:spPr>
          <a:xfrm>
            <a:off x="566928" y="1417320"/>
            <a:ext cx="11057839" cy="713232"/>
          </a:xfrm>
          <a:prstGeom prst="roundRect">
            <a:avLst>
              <a:gd name="adj" fmla="val 7692"/>
            </a:avLst>
          </a:prstGeom>
          <a:solidFill>
            <a:srgbClr val="F2F7FC"/>
          </a:solidFill>
          <a:ln w="12700">
            <a:solidFill>
              <a:srgbClr val="DCE3EE"/>
            </a:solidFill>
            <a:prstDash val="solid"/>
          </a:ln>
        </p:spPr>
      </p:sp>
      <p:sp>
        <p:nvSpPr>
          <p:cNvPr id="7" name="Text 5"/>
          <p:cNvSpPr txBox="1"/>
          <p:nvPr/>
        </p:nvSpPr>
        <p:spPr>
          <a:xfrm>
            <a:off x="795528" y="1490472"/>
            <a:ext cx="10600639" cy="566928"/>
          </a:xfrm>
          <a:prstGeom prst="rect">
            <a:avLst/>
          </a:prstGeom>
          <a:noFill/>
          <a:ln/>
        </p:spPr>
        <p:txBody>
          <a:bodyPr wrap="square" lIns="0" tIns="0" rIns="0" bIns="0" rtlCol="0" anchor="ctr"/>
          <a:lstStyle/>
          <a:p>
            <a:pPr indent="0" marL="0">
              <a:lnSpc>
                <a:spcPts val="1800"/>
              </a:lnSpc>
              <a:buNone/>
            </a:pPr>
            <a:r>
              <a:rPr lang="en-US" sz="1200" b="1" dirty="0">
                <a:solidFill>
                  <a:srgbClr val="0079A8"/>
                </a:solidFill>
                <a:latin typeface="Calibri" pitchFamily="34" charset="0"/>
                <a:ea typeface="Calibri" pitchFamily="34" charset="-122"/>
                <a:cs typeface="Calibri" pitchFamily="34" charset="-120"/>
              </a:rPr>
              <a:t>P12 </a:t>
            </a:r>
            <a:pPr indent="0" marL="0">
              <a:lnSpc>
                <a:spcPts val="1800"/>
              </a:lnSpc>
              <a:buNone/>
            </a:pPr>
            <a:r>
              <a:rPr lang="en-US" sz="1200" dirty="0">
                <a:solidFill>
                  <a:srgbClr val="1D2858"/>
                </a:solidFill>
                <a:latin typeface="Calibri" pitchFamily="34" charset="0"/>
                <a:ea typeface="Calibri" pitchFamily="34" charset="-122"/>
                <a:cs typeface="Calibri" pitchFamily="34" charset="-120"/>
              </a:rPr>
              <a:t>Why remote access helps     </a:t>
            </a:r>
            <a:pPr indent="0" marL="0">
              <a:lnSpc>
                <a:spcPts val="1800"/>
              </a:lnSpc>
              <a:buNone/>
            </a:pPr>
            <a:r>
              <a:rPr lang="en-US" sz="1200" b="1" dirty="0">
                <a:solidFill>
                  <a:srgbClr val="0079A8"/>
                </a:solidFill>
                <a:latin typeface="Calibri" pitchFamily="34" charset="0"/>
                <a:ea typeface="Calibri" pitchFamily="34" charset="-122"/>
                <a:cs typeface="Calibri" pitchFamily="34" charset="-120"/>
              </a:rPr>
              <a:t>P17 </a:t>
            </a:r>
            <a:pPr indent="0" marL="0">
              <a:lnSpc>
                <a:spcPts val="1800"/>
              </a:lnSpc>
              <a:buNone/>
            </a:pPr>
            <a:r>
              <a:rPr lang="en-US" sz="1200" dirty="0">
                <a:solidFill>
                  <a:srgbClr val="1D2858"/>
                </a:solidFill>
                <a:latin typeface="Calibri" pitchFamily="34" charset="0"/>
                <a:ea typeface="Calibri" pitchFamily="34" charset="-122"/>
                <a:cs typeface="Calibri" pitchFamily="34" charset="-120"/>
              </a:rPr>
              <a:t>Hard to picture the system     </a:t>
            </a:r>
            <a:pPr indent="0" marL="0">
              <a:lnSpc>
                <a:spcPts val="1800"/>
              </a:lnSpc>
              <a:buNone/>
            </a:pPr>
            <a:r>
              <a:rPr lang="en-US" sz="1200" b="1" dirty="0">
                <a:solidFill>
                  <a:srgbClr val="0079A8"/>
                </a:solidFill>
                <a:latin typeface="Calibri" pitchFamily="34" charset="0"/>
                <a:ea typeface="Calibri" pitchFamily="34" charset="-122"/>
                <a:cs typeface="Calibri" pitchFamily="34" charset="-120"/>
              </a:rPr>
              <a:t>P18 </a:t>
            </a:r>
            <a:pPr indent="0" marL="0">
              <a:lnSpc>
                <a:spcPts val="1800"/>
              </a:lnSpc>
              <a:buNone/>
            </a:pPr>
            <a:r>
              <a:rPr lang="en-US" sz="1200" dirty="0">
                <a:solidFill>
                  <a:srgbClr val="1D2858"/>
                </a:solidFill>
                <a:latin typeface="Calibri" pitchFamily="34" charset="0"/>
                <a:ea typeface="Calibri" pitchFamily="34" charset="-122"/>
                <a:cs typeface="Calibri" pitchFamily="34" charset="-120"/>
              </a:rPr>
              <a:t>Working out the total price     </a:t>
            </a:r>
            <a:pPr indent="0" marL="0">
              <a:lnSpc>
                <a:spcPts val="1800"/>
              </a:lnSpc>
              <a:buNone/>
            </a:pPr>
            <a:r>
              <a:rPr lang="en-US" sz="1200" b="1" dirty="0">
                <a:solidFill>
                  <a:srgbClr val="0079A8"/>
                </a:solidFill>
                <a:latin typeface="Calibri" pitchFamily="34" charset="0"/>
                <a:ea typeface="Calibri" pitchFamily="34" charset="-122"/>
                <a:cs typeface="Calibri" pitchFamily="34" charset="-120"/>
              </a:rPr>
              <a:t>P19 </a:t>
            </a:r>
            <a:pPr indent="0" marL="0">
              <a:lnSpc>
                <a:spcPts val="1800"/>
              </a:lnSpc>
              <a:buNone/>
            </a:pPr>
            <a:r>
              <a:rPr lang="en-US" sz="1200" dirty="0">
                <a:solidFill>
                  <a:srgbClr val="1D2858"/>
                </a:solidFill>
                <a:latin typeface="Calibri" pitchFamily="34" charset="0"/>
                <a:ea typeface="Calibri" pitchFamily="34" charset="-122"/>
                <a:cs typeface="Calibri" pitchFamily="34" charset="-120"/>
              </a:rPr>
              <a:t>Estimating the savings     </a:t>
            </a:r>
            <a:pPr indent="0" marL="0">
              <a:lnSpc>
                <a:spcPts val="1800"/>
              </a:lnSpc>
              <a:buNone/>
            </a:pPr>
            <a:r>
              <a:rPr lang="en-US" sz="1200" b="1" dirty="0">
                <a:solidFill>
                  <a:srgbClr val="0079A8"/>
                </a:solidFill>
                <a:latin typeface="Calibri" pitchFamily="34" charset="0"/>
                <a:ea typeface="Calibri" pitchFamily="34" charset="-122"/>
                <a:cs typeface="Calibri" pitchFamily="34" charset="-120"/>
              </a:rPr>
              <a:t>P20 </a:t>
            </a:r>
            <a:pPr indent="0" marL="0">
              <a:lnSpc>
                <a:spcPts val="1800"/>
              </a:lnSpc>
              <a:buNone/>
            </a:pPr>
            <a:r>
              <a:rPr lang="en-US" sz="1200" dirty="0">
                <a:solidFill>
                  <a:srgbClr val="1D2858"/>
                </a:solidFill>
                <a:latin typeface="Calibri" pitchFamily="34" charset="0"/>
                <a:ea typeface="Calibri" pitchFamily="34" charset="-122"/>
                <a:cs typeface="Calibri" pitchFamily="34" charset="-120"/>
              </a:rPr>
              <a:t>No step-by-step guide     </a:t>
            </a:r>
            <a:pPr indent="0" marL="0">
              <a:lnSpc>
                <a:spcPts val="1800"/>
              </a:lnSpc>
              <a:buNone/>
            </a:pPr>
            <a:r>
              <a:rPr lang="en-US" sz="1200" b="1" dirty="0">
                <a:solidFill>
                  <a:srgbClr val="0079A8"/>
                </a:solidFill>
                <a:latin typeface="Calibri" pitchFamily="34" charset="0"/>
                <a:ea typeface="Calibri" pitchFamily="34" charset="-122"/>
                <a:cs typeface="Calibri" pitchFamily="34" charset="-120"/>
              </a:rPr>
              <a:t>P21 </a:t>
            </a:r>
            <a:pPr indent="0" marL="0">
              <a:lnSpc>
                <a:spcPts val="1800"/>
              </a:lnSpc>
              <a:buNone/>
            </a:pPr>
            <a:r>
              <a:rPr lang="en-US" sz="1200" dirty="0">
                <a:solidFill>
                  <a:srgbClr val="1D2858"/>
                </a:solidFill>
                <a:latin typeface="Calibri" pitchFamily="34" charset="0"/>
                <a:ea typeface="Calibri" pitchFamily="34" charset="-122"/>
                <a:cs typeface="Calibri" pitchFamily="34" charset="-120"/>
              </a:rPr>
              <a:t>Benefits poorly explained     </a:t>
            </a:r>
            <a:pPr indent="0" marL="0">
              <a:lnSpc>
                <a:spcPts val="1800"/>
              </a:lnSpc>
              <a:buNone/>
            </a:pPr>
            <a:r>
              <a:rPr lang="en-US" sz="1200" b="1" dirty="0">
                <a:solidFill>
                  <a:srgbClr val="0079A8"/>
                </a:solidFill>
                <a:latin typeface="Calibri" pitchFamily="34" charset="0"/>
                <a:ea typeface="Calibri" pitchFamily="34" charset="-122"/>
                <a:cs typeface="Calibri" pitchFamily="34" charset="-120"/>
              </a:rPr>
              <a:t>P22 </a:t>
            </a:r>
            <a:pPr indent="0" marL="0">
              <a:lnSpc>
                <a:spcPts val="1800"/>
              </a:lnSpc>
              <a:buNone/>
            </a:pPr>
            <a:r>
              <a:rPr lang="en-US" sz="1200" dirty="0">
                <a:solidFill>
                  <a:srgbClr val="1D2858"/>
                </a:solidFill>
                <a:latin typeface="Calibri" pitchFamily="34" charset="0"/>
                <a:ea typeface="Calibri" pitchFamily="34" charset="-122"/>
                <a:cs typeface="Calibri" pitchFamily="34" charset="-120"/>
              </a:rPr>
              <a:t>Comparing the options     </a:t>
            </a:r>
            <a:pPr indent="0" marL="0">
              <a:lnSpc>
                <a:spcPts val="1800"/>
              </a:lnSpc>
              <a:buNone/>
            </a:pPr>
            <a:r>
              <a:rPr lang="en-US" sz="1200" b="1" dirty="0">
                <a:solidFill>
                  <a:srgbClr val="0079A8"/>
                </a:solidFill>
                <a:latin typeface="Calibri" pitchFamily="34" charset="0"/>
                <a:ea typeface="Calibri" pitchFamily="34" charset="-122"/>
                <a:cs typeface="Calibri" pitchFamily="34" charset="-120"/>
              </a:rPr>
              <a:t>P16 </a:t>
            </a:r>
            <a:pPr indent="0" marL="0">
              <a:lnSpc>
                <a:spcPts val="1800"/>
              </a:lnSpc>
              <a:buNone/>
            </a:pPr>
            <a:r>
              <a:rPr lang="en-US" sz="1200" dirty="0">
                <a:solidFill>
                  <a:srgbClr val="1D2858"/>
                </a:solidFill>
                <a:latin typeface="Calibri" pitchFamily="34" charset="0"/>
                <a:ea typeface="Calibri" pitchFamily="34" charset="-122"/>
                <a:cs typeface="Calibri" pitchFamily="34" charset="-120"/>
              </a:rPr>
              <a:t>No guided videos</a:t>
            </a:r>
            <a:endParaRPr lang="en-US" sz="1200" dirty="0"/>
          </a:p>
        </p:txBody>
      </p:sp>
      <p:sp>
        <p:nvSpPr>
          <p:cNvPr id="8" name="Shape 6"/>
          <p:cNvSpPr/>
          <p:nvPr/>
        </p:nvSpPr>
        <p:spPr>
          <a:xfrm>
            <a:off x="585216" y="2414016"/>
            <a:ext cx="109728" cy="109728"/>
          </a:xfrm>
          <a:prstGeom prst="rect">
            <a:avLst/>
          </a:prstGeom>
          <a:solidFill>
            <a:srgbClr val="00AEEF"/>
          </a:solidFill>
          <a:ln/>
        </p:spPr>
      </p:sp>
      <p:sp>
        <p:nvSpPr>
          <p:cNvPr id="9" name="Text 7"/>
          <p:cNvSpPr txBox="1"/>
          <p:nvPr/>
        </p:nvSpPr>
        <p:spPr>
          <a:xfrm>
            <a:off x="877824" y="2304288"/>
            <a:ext cx="10746943" cy="566928"/>
          </a:xfrm>
          <a:prstGeom prst="rect">
            <a:avLst/>
          </a:prstGeom>
          <a:noFill/>
          <a:ln/>
        </p:spPr>
        <p:txBody>
          <a:bodyPr wrap="square" lIns="0" tIns="0" rIns="0" bIns="0" rtlCol="0" anchor="ctr"/>
          <a:lstStyle/>
          <a:p>
            <a:pPr indent="0" marL="0">
              <a:lnSpc>
                <a:spcPts val="1900"/>
              </a:lnSpc>
              <a:buNone/>
            </a:pPr>
            <a:r>
              <a:rPr lang="en-US" sz="1350" b="1" dirty="0">
                <a:solidFill>
                  <a:srgbClr val="131C3D"/>
                </a:solidFill>
                <a:latin typeface="Calibri" pitchFamily="34" charset="0"/>
                <a:ea typeface="Calibri" pitchFamily="34" charset="-122"/>
                <a:cs typeface="Calibri" pitchFamily="34" charset="-120"/>
              </a:rPr>
              <a:t>Nothing is written in advance. </a:t>
            </a:r>
            <a:pPr indent="0" marL="0">
              <a:lnSpc>
                <a:spcPts val="1900"/>
              </a:lnSpc>
              <a:buNone/>
            </a:pPr>
            <a:r>
              <a:rPr lang="en-US" sz="1350" dirty="0">
                <a:solidFill>
                  <a:srgbClr val="1D2858"/>
                </a:solidFill>
                <a:latin typeface="Calibri" pitchFamily="34" charset="0"/>
                <a:ea typeface="Calibri" pitchFamily="34" charset="-122"/>
                <a:cs typeface="Calibri" pitchFamily="34" charset="-120"/>
              </a:rPr>
              <a:t>The diagram, the room-by-room benefits, the savings and the installation guide are all generated from the same configuration.</a:t>
            </a:r>
            <a:endParaRPr lang="en-US" sz="1350" dirty="0"/>
          </a:p>
        </p:txBody>
      </p:sp>
      <p:sp>
        <p:nvSpPr>
          <p:cNvPr id="10" name="Shape 8"/>
          <p:cNvSpPr/>
          <p:nvPr/>
        </p:nvSpPr>
        <p:spPr>
          <a:xfrm>
            <a:off x="585216" y="3072384"/>
            <a:ext cx="109728" cy="109728"/>
          </a:xfrm>
          <a:prstGeom prst="rect">
            <a:avLst/>
          </a:prstGeom>
          <a:solidFill>
            <a:srgbClr val="00AEEF"/>
          </a:solidFill>
          <a:ln/>
        </p:spPr>
      </p:sp>
      <p:sp>
        <p:nvSpPr>
          <p:cNvPr id="11" name="Text 9"/>
          <p:cNvSpPr txBox="1"/>
          <p:nvPr/>
        </p:nvSpPr>
        <p:spPr>
          <a:xfrm>
            <a:off x="877824" y="2962656"/>
            <a:ext cx="10746943" cy="566928"/>
          </a:xfrm>
          <a:prstGeom prst="rect">
            <a:avLst/>
          </a:prstGeom>
          <a:noFill/>
          <a:ln/>
        </p:spPr>
        <p:txBody>
          <a:bodyPr wrap="square" lIns="0" tIns="0" rIns="0" bIns="0" rtlCol="0" anchor="ctr"/>
          <a:lstStyle/>
          <a:p>
            <a:pPr indent="0" marL="0">
              <a:lnSpc>
                <a:spcPts val="1900"/>
              </a:lnSpc>
              <a:buNone/>
            </a:pPr>
            <a:r>
              <a:rPr lang="en-US" sz="1350" b="1" dirty="0">
                <a:solidFill>
                  <a:srgbClr val="131C3D"/>
                </a:solidFill>
                <a:latin typeface="Calibri" pitchFamily="34" charset="0"/>
                <a:ea typeface="Calibri" pitchFamily="34" charset="-122"/>
                <a:cs typeface="Calibri" pitchFamily="34" charset="-120"/>
              </a:rPr>
              <a:t>So the quote, the guide and the drawing can never disagree </a:t>
            </a:r>
            <a:pPr indent="0" marL="0">
              <a:lnSpc>
                <a:spcPts val="1900"/>
              </a:lnSpc>
              <a:buNone/>
            </a:pPr>
            <a:r>
              <a:rPr lang="en-US" sz="1350" dirty="0">
                <a:solidFill>
                  <a:srgbClr val="1D2858"/>
                </a:solidFill>
                <a:latin typeface="Calibri" pitchFamily="34" charset="0"/>
                <a:ea typeface="Calibri" pitchFamily="34" charset="-122"/>
                <a:cs typeface="Calibri" pitchFamily="34" charset="-120"/>
              </a:rPr>
              <a:t>— and the customer never re-enters anything to get them.</a:t>
            </a:r>
            <a:endParaRPr lang="en-US" sz="1350" dirty="0"/>
          </a:p>
        </p:txBody>
      </p:sp>
      <p:sp>
        <p:nvSpPr>
          <p:cNvPr id="12" name="Shape 10"/>
          <p:cNvSpPr/>
          <p:nvPr/>
        </p:nvSpPr>
        <p:spPr>
          <a:xfrm>
            <a:off x="585216" y="3730752"/>
            <a:ext cx="109728" cy="109728"/>
          </a:xfrm>
          <a:prstGeom prst="rect">
            <a:avLst/>
          </a:prstGeom>
          <a:solidFill>
            <a:srgbClr val="00AEEF"/>
          </a:solidFill>
          <a:ln/>
        </p:spPr>
      </p:sp>
      <p:sp>
        <p:nvSpPr>
          <p:cNvPr id="13" name="Text 11"/>
          <p:cNvSpPr txBox="1"/>
          <p:nvPr/>
        </p:nvSpPr>
        <p:spPr>
          <a:xfrm>
            <a:off x="877824" y="3621024"/>
            <a:ext cx="10746943" cy="566928"/>
          </a:xfrm>
          <a:prstGeom prst="rect">
            <a:avLst/>
          </a:prstGeom>
          <a:noFill/>
          <a:ln/>
        </p:spPr>
        <p:txBody>
          <a:bodyPr wrap="square" lIns="0" tIns="0" rIns="0" bIns="0" rtlCol="0" anchor="ctr"/>
          <a:lstStyle/>
          <a:p>
            <a:pPr indent="0" marL="0">
              <a:lnSpc>
                <a:spcPts val="1900"/>
              </a:lnSpc>
              <a:buNone/>
            </a:pPr>
            <a:r>
              <a:rPr lang="en-US" sz="1350" b="1" dirty="0">
                <a:solidFill>
                  <a:srgbClr val="131C3D"/>
                </a:solidFill>
                <a:latin typeface="Calibri" pitchFamily="34" charset="0"/>
                <a:ea typeface="Calibri" pitchFamily="34" charset="-122"/>
                <a:cs typeface="Calibri" pitchFamily="34" charset="-120"/>
              </a:rPr>
              <a:t>Savings come out as a range, never a single figure. </a:t>
            </a:r>
            <a:pPr indent="0" marL="0">
              <a:lnSpc>
                <a:spcPts val="1900"/>
              </a:lnSpc>
              <a:buNone/>
            </a:pPr>
            <a:r>
              <a:rPr lang="en-US" sz="1350" dirty="0">
                <a:solidFill>
                  <a:srgbClr val="1D2858"/>
                </a:solidFill>
                <a:latin typeface="Calibri" pitchFamily="34" charset="0"/>
                <a:ea typeface="Calibri" pitchFamily="34" charset="-122"/>
                <a:cs typeface="Calibri" pitchFamily="34" charset="-120"/>
              </a:rPr>
              <a:t>What the home uses today, then a saving band for the control level — built on a degree-day model of the local climate, the basis the recognised savings protocols use.</a:t>
            </a:r>
            <a:endParaRPr lang="en-US" sz="1350" dirty="0"/>
          </a:p>
        </p:txBody>
      </p:sp>
      <p:sp>
        <p:nvSpPr>
          <p:cNvPr id="14" name="Shape 12"/>
          <p:cNvSpPr/>
          <p:nvPr/>
        </p:nvSpPr>
        <p:spPr>
          <a:xfrm>
            <a:off x="566928" y="4407408"/>
            <a:ext cx="11057839" cy="1993392"/>
          </a:xfrm>
          <a:prstGeom prst="roundRect">
            <a:avLst>
              <a:gd name="adj" fmla="val 2752"/>
            </a:avLst>
          </a:prstGeom>
          <a:solidFill>
            <a:srgbClr val="F2FAFE"/>
          </a:solidFill>
          <a:ln w="19050">
            <a:solidFill>
              <a:srgbClr val="00AEEF"/>
            </a:solidFill>
            <a:prstDash val="dash"/>
          </a:ln>
        </p:spPr>
      </p:sp>
      <p:sp>
        <p:nvSpPr>
          <p:cNvPr id="15" name="Text 13"/>
          <p:cNvSpPr txBox="1"/>
          <p:nvPr/>
        </p:nvSpPr>
        <p:spPr>
          <a:xfrm>
            <a:off x="822960" y="4553712"/>
            <a:ext cx="2743200" cy="228600"/>
          </a:xfrm>
          <a:prstGeom prst="rect">
            <a:avLst/>
          </a:prstGeom>
          <a:noFill/>
          <a:ln/>
        </p:spPr>
        <p:txBody>
          <a:bodyPr wrap="square" lIns="0" tIns="0" rIns="0" bIns="0" rtlCol="0" anchor="ctr"/>
          <a:lstStyle/>
          <a:p>
            <a:pPr indent="0" marL="0">
              <a:buNone/>
            </a:pPr>
            <a:r>
              <a:rPr lang="en-US" sz="1100" b="1" spc="160" kern="0" dirty="0">
                <a:solidFill>
                  <a:srgbClr val="0079A8"/>
                </a:solidFill>
                <a:latin typeface="Calibri" pitchFamily="34" charset="0"/>
                <a:ea typeface="Calibri" pitchFamily="34" charset="-122"/>
                <a:cs typeface="Calibri" pitchFamily="34" charset="-120"/>
              </a:rPr>
              <a:t>LIVE DEMO</a:t>
            </a:r>
            <a:endParaRPr lang="en-US" sz="1100" dirty="0"/>
          </a:p>
        </p:txBody>
      </p:sp>
      <p:sp>
        <p:nvSpPr>
          <p:cNvPr id="16" name="Text 14"/>
          <p:cNvSpPr txBox="1"/>
          <p:nvPr/>
        </p:nvSpPr>
        <p:spPr>
          <a:xfrm>
            <a:off x="9997135" y="4553712"/>
            <a:ext cx="1371600" cy="228600"/>
          </a:xfrm>
          <a:prstGeom prst="rect">
            <a:avLst/>
          </a:prstGeom>
          <a:noFill/>
          <a:ln/>
        </p:spPr>
        <p:txBody>
          <a:bodyPr wrap="square" lIns="0" tIns="0" rIns="0" bIns="0" rtlCol="0" anchor="ctr"/>
          <a:lstStyle/>
          <a:p>
            <a:pPr algn="r" indent="0" marL="0">
              <a:buNone/>
            </a:pPr>
            <a:r>
              <a:rPr lang="en-US" sz="1100" b="1" spc="120" kern="0" dirty="0">
                <a:solidFill>
                  <a:srgbClr val="69718C"/>
                </a:solidFill>
                <a:latin typeface="Calibri" pitchFamily="34" charset="0"/>
                <a:ea typeface="Calibri" pitchFamily="34" charset="-122"/>
                <a:cs typeface="Calibri" pitchFamily="34" charset="-120"/>
              </a:rPr>
              <a:t>3 MIN</a:t>
            </a:r>
            <a:endParaRPr lang="en-US" sz="1100" dirty="0"/>
          </a:p>
        </p:txBody>
      </p:sp>
      <p:sp>
        <p:nvSpPr>
          <p:cNvPr id="17" name="Text 15"/>
          <p:cNvSpPr txBox="1"/>
          <p:nvPr/>
        </p:nvSpPr>
        <p:spPr>
          <a:xfrm>
            <a:off x="978408" y="4846320"/>
            <a:ext cx="10234879" cy="1426464"/>
          </a:xfrm>
          <a:prstGeom prst="rect">
            <a:avLst/>
          </a:prstGeom>
          <a:noFill/>
          <a:ln/>
        </p:spPr>
        <p:txBody>
          <a:bodyPr wrap="square" lIns="0" tIns="0" rIns="0" bIns="0" rtlCol="0" anchor="ctr"/>
          <a:lstStyle/>
          <a:p>
            <a:pPr marL="342900" indent="-342900">
              <a:lnSpc>
                <a:spcPts val="1700"/>
              </a:lnSpc>
              <a:spcAft>
                <a:spcPts val="500"/>
              </a:spcAft>
              <a:buSzPct val="100000"/>
              <a:buFont typeface="+mj-lt"/>
              <a:buAutoNum type="arabicPeriod" startAt="1"/>
            </a:pPr>
            <a:r>
              <a:rPr lang="en-US" sz="1250" dirty="0">
                <a:solidFill>
                  <a:srgbClr val="1D2858"/>
                </a:solidFill>
                <a:latin typeface="Calibri" pitchFamily="34" charset="0"/>
                <a:ea typeface="Calibri" pitchFamily="34" charset="-122"/>
                <a:cs typeface="Calibri" pitchFamily="34" charset="-120"/>
              </a:rPr>
              <a:t>Room by room at the top of the result screen — benefits written from the rooms they declared.</a:t>
            </a:r>
            <a:endParaRPr lang="en-US" sz="1250" dirty="0"/>
          </a:p>
          <a:p>
            <a:pPr marL="342900" indent="-342900">
              <a:lnSpc>
                <a:spcPts val="1700"/>
              </a:lnSpc>
              <a:spcAft>
                <a:spcPts val="500"/>
              </a:spcAft>
              <a:buSzPct val="100000"/>
              <a:buFont typeface="+mj-lt"/>
              <a:buAutoNum type="arabicPeriod" startAt="1"/>
            </a:pPr>
            <a:r>
              <a:rPr lang="en-US" sz="1250" dirty="0">
                <a:solidFill>
                  <a:srgbClr val="1D2858"/>
                </a:solidFill>
                <a:latin typeface="Calibri" pitchFamily="34" charset="0"/>
                <a:ea typeface="Calibri" pitchFamily="34" charset="-122"/>
                <a:cs typeface="Calibri" pitchFamily="34" charset="-120"/>
              </a:rPr>
              <a:t>The system diagram: solid lines are wired, dotted lines are radio.</a:t>
            </a:r>
            <a:endParaRPr lang="en-US" sz="1250" dirty="0"/>
          </a:p>
          <a:p>
            <a:pPr marL="342900" indent="-342900">
              <a:lnSpc>
                <a:spcPts val="1700"/>
              </a:lnSpc>
              <a:spcAft>
                <a:spcPts val="500"/>
              </a:spcAft>
              <a:buSzPct val="100000"/>
              <a:buFont typeface="+mj-lt"/>
              <a:buAutoNum type="arabicPeriod" startAt="1"/>
            </a:pPr>
            <a:r>
              <a:rPr lang="en-US" sz="1250" dirty="0">
                <a:solidFill>
                  <a:srgbClr val="1D2858"/>
                </a:solidFill>
                <a:latin typeface="Calibri" pitchFamily="34" charset="0"/>
                <a:ea typeface="Calibri" pitchFamily="34" charset="-122"/>
                <a:cs typeface="Calibri" pitchFamily="34" charset="-120"/>
              </a:rPr>
              <a:t>The savings range, then 'see the method'.</a:t>
            </a:r>
            <a:endParaRPr lang="en-US" sz="1250" dirty="0"/>
          </a:p>
          <a:p>
            <a:pPr marL="342900" indent="-342900">
              <a:lnSpc>
                <a:spcPts val="1700"/>
              </a:lnSpc>
              <a:spcAft>
                <a:spcPts val="500"/>
              </a:spcAft>
              <a:buSzPct val="100000"/>
              <a:buFont typeface="+mj-lt"/>
              <a:buAutoNum type="arabicPeriod" startAt="1"/>
            </a:pPr>
            <a:r>
              <a:rPr lang="en-US" sz="1250" dirty="0">
                <a:solidFill>
                  <a:srgbClr val="1D2858"/>
                </a:solidFill>
                <a:latin typeface="Calibri" pitchFamily="34" charset="0"/>
                <a:ea typeface="Calibri" pitchFamily="34" charset="-122"/>
                <a:cs typeface="Calibri" pitchFamily="34" charset="-120"/>
              </a:rPr>
              <a:t>Compare the three levels side by side, then open the installation guide PDF.</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CFE"/>
        </a:solidFill>
      </p:bgPr>
    </p:bg>
    <p:spTree>
      <p:nvGrpSpPr>
        <p:cNvPr id="1" name=""/>
        <p:cNvGrpSpPr/>
        <p:nvPr/>
      </p:nvGrpSpPr>
      <p:grpSpPr>
        <a:xfrm>
          <a:off x="0" y="0"/>
          <a:ext cx="0" cy="0"/>
          <a:chOff x="0" y="0"/>
          <a:chExt cx="0" cy="0"/>
        </a:xfrm>
      </p:grpSpPr>
      <p:sp>
        <p:nvSpPr>
          <p:cNvPr id="2" name="Text 0"/>
          <p:cNvSpPr txBox="1"/>
          <p:nvPr/>
        </p:nvSpPr>
        <p:spPr>
          <a:xfrm>
            <a:off x="1298448" y="384048"/>
            <a:ext cx="10326319" cy="256032"/>
          </a:xfrm>
          <a:prstGeom prst="rect">
            <a:avLst/>
          </a:prstGeom>
          <a:noFill/>
          <a:ln/>
        </p:spPr>
        <p:txBody>
          <a:bodyPr wrap="square" lIns="0" tIns="0" rIns="0" bIns="0" rtlCol="0" anchor="ctr"/>
          <a:lstStyle/>
          <a:p>
            <a:pPr indent="0" marL="0">
              <a:buNone/>
            </a:pPr>
            <a:r>
              <a:rPr lang="en-US" sz="1100" b="1" spc="160" kern="0" dirty="0">
                <a:solidFill>
                  <a:srgbClr val="0079A8"/>
                </a:solidFill>
                <a:latin typeface="Calibri" pitchFamily="34" charset="0"/>
                <a:ea typeface="Calibri" pitchFamily="34" charset="-122"/>
                <a:cs typeface="Calibri" pitchFamily="34" charset="-120"/>
              </a:rPr>
              <a:t>GROUP D · 4 PROBLEMS</a:t>
            </a:r>
            <a:endParaRPr lang="en-US" sz="1100" dirty="0"/>
          </a:p>
        </p:txBody>
      </p:sp>
      <p:sp>
        <p:nvSpPr>
          <p:cNvPr id="3" name="Shape 1"/>
          <p:cNvSpPr/>
          <p:nvPr/>
        </p:nvSpPr>
        <p:spPr>
          <a:xfrm>
            <a:off x="566928" y="640080"/>
            <a:ext cx="566928" cy="566928"/>
          </a:xfrm>
          <a:prstGeom prst="ellipse">
            <a:avLst/>
          </a:prstGeom>
          <a:solidFill>
            <a:srgbClr val="00AEEF"/>
          </a:solidFill>
          <a:ln/>
        </p:spPr>
      </p:sp>
      <p:sp>
        <p:nvSpPr>
          <p:cNvPr id="4" name="Text 2"/>
          <p:cNvSpPr txBox="1"/>
          <p:nvPr/>
        </p:nvSpPr>
        <p:spPr>
          <a:xfrm>
            <a:off x="566928" y="640080"/>
            <a:ext cx="566928" cy="566928"/>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D</a:t>
            </a:r>
            <a:endParaRPr lang="en-US" sz="2600" dirty="0"/>
          </a:p>
        </p:txBody>
      </p:sp>
      <p:sp>
        <p:nvSpPr>
          <p:cNvPr id="5" name="Text 3"/>
          <p:cNvSpPr txBox="1"/>
          <p:nvPr/>
        </p:nvSpPr>
        <p:spPr>
          <a:xfrm>
            <a:off x="1298448" y="621792"/>
            <a:ext cx="10326319" cy="658368"/>
          </a:xfrm>
          <a:prstGeom prst="rect">
            <a:avLst/>
          </a:prstGeom>
          <a:noFill/>
          <a:ln/>
        </p:spPr>
        <p:txBody>
          <a:bodyPr wrap="square" lIns="0" tIns="0" rIns="0" bIns="0" rtlCol="0" anchor="ctr"/>
          <a:lstStyle/>
          <a:p>
            <a:pPr indent="0" marL="0">
              <a:buNone/>
            </a:pPr>
            <a:r>
              <a:rPr lang="en-US" sz="3100" b="1" dirty="0">
                <a:solidFill>
                  <a:srgbClr val="131C3D"/>
                </a:solidFill>
                <a:latin typeface="Calibri" pitchFamily="34" charset="0"/>
                <a:ea typeface="Calibri" pitchFamily="34" charset="-122"/>
                <a:cs typeface="Calibri" pitchFamily="34" charset="-120"/>
              </a:rPr>
              <a:t>The installer is a second user</a:t>
            </a:r>
            <a:endParaRPr lang="en-US" sz="3100" dirty="0"/>
          </a:p>
        </p:txBody>
      </p:sp>
      <p:sp>
        <p:nvSpPr>
          <p:cNvPr id="6" name="Shape 4"/>
          <p:cNvSpPr/>
          <p:nvPr/>
        </p:nvSpPr>
        <p:spPr>
          <a:xfrm>
            <a:off x="566928" y="1417320"/>
            <a:ext cx="11057839" cy="713232"/>
          </a:xfrm>
          <a:prstGeom prst="roundRect">
            <a:avLst>
              <a:gd name="adj" fmla="val 7692"/>
            </a:avLst>
          </a:prstGeom>
          <a:solidFill>
            <a:srgbClr val="F2F7FC"/>
          </a:solidFill>
          <a:ln w="12700">
            <a:solidFill>
              <a:srgbClr val="DCE3EE"/>
            </a:solidFill>
            <a:prstDash val="solid"/>
          </a:ln>
        </p:spPr>
      </p:sp>
      <p:sp>
        <p:nvSpPr>
          <p:cNvPr id="7" name="Text 5"/>
          <p:cNvSpPr txBox="1"/>
          <p:nvPr/>
        </p:nvSpPr>
        <p:spPr>
          <a:xfrm>
            <a:off x="795528" y="1490472"/>
            <a:ext cx="10600639" cy="566928"/>
          </a:xfrm>
          <a:prstGeom prst="rect">
            <a:avLst/>
          </a:prstGeom>
          <a:noFill/>
          <a:ln/>
        </p:spPr>
        <p:txBody>
          <a:bodyPr wrap="square" lIns="0" tIns="0" rIns="0" bIns="0" rtlCol="0" anchor="ctr"/>
          <a:lstStyle/>
          <a:p>
            <a:pPr indent="0" marL="0">
              <a:lnSpc>
                <a:spcPts val="1800"/>
              </a:lnSpc>
              <a:buNone/>
            </a:pPr>
            <a:r>
              <a:rPr lang="en-US" sz="1200" b="1" dirty="0">
                <a:solidFill>
                  <a:srgbClr val="0079A8"/>
                </a:solidFill>
                <a:latin typeface="Calibri" pitchFamily="34" charset="0"/>
                <a:ea typeface="Calibri" pitchFamily="34" charset="-122"/>
                <a:cs typeface="Calibri" pitchFamily="34" charset="-120"/>
              </a:rPr>
              <a:t>P8 </a:t>
            </a:r>
            <a:pPr indent="0" marL="0">
              <a:lnSpc>
                <a:spcPts val="1800"/>
              </a:lnSpc>
              <a:buNone/>
            </a:pPr>
            <a:r>
              <a:rPr lang="en-US" sz="1200" dirty="0">
                <a:solidFill>
                  <a:srgbClr val="1D2858"/>
                </a:solidFill>
                <a:latin typeface="Calibri" pitchFamily="34" charset="0"/>
                <a:ea typeface="Calibri" pitchFamily="34" charset="-122"/>
                <a:cs typeface="Calibri" pitchFamily="34" charset="-120"/>
              </a:rPr>
              <a:t>Having to be on site to specify     </a:t>
            </a:r>
            <a:pPr indent="0" marL="0">
              <a:lnSpc>
                <a:spcPts val="1800"/>
              </a:lnSpc>
              <a:buNone/>
            </a:pPr>
            <a:r>
              <a:rPr lang="en-US" sz="1200" b="1" dirty="0">
                <a:solidFill>
                  <a:srgbClr val="0079A8"/>
                </a:solidFill>
                <a:latin typeface="Calibri" pitchFamily="34" charset="0"/>
                <a:ea typeface="Calibri" pitchFamily="34" charset="-122"/>
                <a:cs typeface="Calibri" pitchFamily="34" charset="-120"/>
              </a:rPr>
              <a:t>P13 </a:t>
            </a:r>
            <a:pPr indent="0" marL="0">
              <a:lnSpc>
                <a:spcPts val="1800"/>
              </a:lnSpc>
              <a:buNone/>
            </a:pPr>
            <a:r>
              <a:rPr lang="en-US" sz="1200" dirty="0">
                <a:solidFill>
                  <a:srgbClr val="1D2858"/>
                </a:solidFill>
                <a:latin typeface="Calibri" pitchFamily="34" charset="0"/>
                <a:ea typeface="Calibri" pitchFamily="34" charset="-122"/>
                <a:cs typeface="Calibri" pitchFamily="34" charset="-120"/>
              </a:rPr>
              <a:t>Drowning in documentation     </a:t>
            </a:r>
            <a:pPr indent="0" marL="0">
              <a:lnSpc>
                <a:spcPts val="1800"/>
              </a:lnSpc>
              <a:buNone/>
            </a:pPr>
            <a:r>
              <a:rPr lang="en-US" sz="1200" b="1" dirty="0">
                <a:solidFill>
                  <a:srgbClr val="0079A8"/>
                </a:solidFill>
                <a:latin typeface="Calibri" pitchFamily="34" charset="0"/>
                <a:ea typeface="Calibri" pitchFamily="34" charset="-122"/>
                <a:cs typeface="Calibri" pitchFamily="34" charset="-120"/>
              </a:rPr>
              <a:t>P14 </a:t>
            </a:r>
            <a:pPr indent="0" marL="0">
              <a:lnSpc>
                <a:spcPts val="1800"/>
              </a:lnSpc>
              <a:buNone/>
            </a:pPr>
            <a:r>
              <a:rPr lang="en-US" sz="1200" dirty="0">
                <a:solidFill>
                  <a:srgbClr val="1D2858"/>
                </a:solidFill>
                <a:latin typeface="Calibri" pitchFamily="34" charset="0"/>
                <a:ea typeface="Calibri" pitchFamily="34" charset="-122"/>
                <a:cs typeface="Calibri" pitchFamily="34" charset="-120"/>
              </a:rPr>
              <a:t>Finding a replacement device     </a:t>
            </a:r>
            <a:pPr indent="0" marL="0">
              <a:lnSpc>
                <a:spcPts val="1800"/>
              </a:lnSpc>
              <a:buNone/>
            </a:pPr>
            <a:r>
              <a:rPr lang="en-US" sz="1200" b="1" dirty="0">
                <a:solidFill>
                  <a:srgbClr val="0079A8"/>
                </a:solidFill>
                <a:latin typeface="Calibri" pitchFamily="34" charset="0"/>
                <a:ea typeface="Calibri" pitchFamily="34" charset="-122"/>
                <a:cs typeface="Calibri" pitchFamily="34" charset="-120"/>
              </a:rPr>
              <a:t>P25 </a:t>
            </a:r>
            <a:pPr indent="0" marL="0">
              <a:lnSpc>
                <a:spcPts val="1800"/>
              </a:lnSpc>
              <a:buNone/>
            </a:pPr>
            <a:r>
              <a:rPr lang="en-US" sz="1200" dirty="0">
                <a:solidFill>
                  <a:srgbClr val="1D2858"/>
                </a:solidFill>
                <a:latin typeface="Calibri" pitchFamily="34" charset="0"/>
                <a:ea typeface="Calibri" pitchFamily="34" charset="-122"/>
                <a:cs typeface="Calibri" pitchFamily="34" charset="-120"/>
              </a:rPr>
              <a:t>Turning a configuration into a quote</a:t>
            </a:r>
            <a:endParaRPr lang="en-US" sz="1200" dirty="0"/>
          </a:p>
        </p:txBody>
      </p:sp>
      <p:sp>
        <p:nvSpPr>
          <p:cNvPr id="8" name="Shape 6"/>
          <p:cNvSpPr/>
          <p:nvPr/>
        </p:nvSpPr>
        <p:spPr>
          <a:xfrm>
            <a:off x="585216" y="2414016"/>
            <a:ext cx="109728" cy="109728"/>
          </a:xfrm>
          <a:prstGeom prst="rect">
            <a:avLst/>
          </a:prstGeom>
          <a:solidFill>
            <a:srgbClr val="00AEEF"/>
          </a:solidFill>
          <a:ln/>
        </p:spPr>
      </p:sp>
      <p:sp>
        <p:nvSpPr>
          <p:cNvPr id="9" name="Text 7"/>
          <p:cNvSpPr txBox="1"/>
          <p:nvPr/>
        </p:nvSpPr>
        <p:spPr>
          <a:xfrm>
            <a:off x="877824" y="2304288"/>
            <a:ext cx="10746943" cy="566928"/>
          </a:xfrm>
          <a:prstGeom prst="rect">
            <a:avLst/>
          </a:prstGeom>
          <a:noFill/>
          <a:ln/>
        </p:spPr>
        <p:txBody>
          <a:bodyPr wrap="square" lIns="0" tIns="0" rIns="0" bIns="0" rtlCol="0" anchor="ctr"/>
          <a:lstStyle/>
          <a:p>
            <a:pPr indent="0" marL="0">
              <a:lnSpc>
                <a:spcPts val="1900"/>
              </a:lnSpc>
              <a:buNone/>
            </a:pPr>
            <a:r>
              <a:rPr lang="en-US" sz="1350" b="1" dirty="0">
                <a:solidFill>
                  <a:srgbClr val="131C3D"/>
                </a:solidFill>
                <a:latin typeface="Calibri" pitchFamily="34" charset="0"/>
                <a:ea typeface="Calibri" pitchFamily="34" charset="-122"/>
                <a:cs typeface="Calibri" pitchFamily="34" charset="-120"/>
              </a:rPr>
              <a:t>Arrive prepared. </a:t>
            </a:r>
            <a:pPr indent="0" marL="0">
              <a:lnSpc>
                <a:spcPts val="1900"/>
              </a:lnSpc>
              <a:buNone/>
            </a:pPr>
            <a:r>
              <a:rPr lang="en-US" sz="1350" dirty="0">
                <a:solidFill>
                  <a:srgbClr val="1D2858"/>
                </a:solidFill>
                <a:latin typeface="Calibri" pitchFamily="34" charset="0"/>
                <a:ea typeface="Calibri" pitchFamily="34" charset="-122"/>
                <a:cs typeface="Calibri" pitchFamily="34" charset="-120"/>
              </a:rPr>
              <a:t>A pre-visit link goes to the customer, who answers the home questions and sends three photos we ask for by name: heat source, radiator with its valve, electrical panel.</a:t>
            </a:r>
            <a:endParaRPr lang="en-US" sz="1350" dirty="0"/>
          </a:p>
        </p:txBody>
      </p:sp>
      <p:sp>
        <p:nvSpPr>
          <p:cNvPr id="10" name="Shape 8"/>
          <p:cNvSpPr/>
          <p:nvPr/>
        </p:nvSpPr>
        <p:spPr>
          <a:xfrm>
            <a:off x="585216" y="3072384"/>
            <a:ext cx="109728" cy="109728"/>
          </a:xfrm>
          <a:prstGeom prst="rect">
            <a:avLst/>
          </a:prstGeom>
          <a:solidFill>
            <a:srgbClr val="00AEEF"/>
          </a:solidFill>
          <a:ln/>
        </p:spPr>
      </p:sp>
      <p:sp>
        <p:nvSpPr>
          <p:cNvPr id="11" name="Text 9"/>
          <p:cNvSpPr txBox="1"/>
          <p:nvPr/>
        </p:nvSpPr>
        <p:spPr>
          <a:xfrm>
            <a:off x="877824" y="2962656"/>
            <a:ext cx="10746943" cy="566928"/>
          </a:xfrm>
          <a:prstGeom prst="rect">
            <a:avLst/>
          </a:prstGeom>
          <a:noFill/>
          <a:ln/>
        </p:spPr>
        <p:txBody>
          <a:bodyPr wrap="square" lIns="0" tIns="0" rIns="0" bIns="0" rtlCol="0" anchor="ctr"/>
          <a:lstStyle/>
          <a:p>
            <a:pPr indent="0" marL="0">
              <a:lnSpc>
                <a:spcPts val="1900"/>
              </a:lnSpc>
              <a:buNone/>
            </a:pPr>
            <a:r>
              <a:rPr lang="en-US" sz="1350" b="1" dirty="0">
                <a:solidFill>
                  <a:srgbClr val="131C3D"/>
                </a:solidFill>
                <a:latin typeface="Calibri" pitchFamily="34" charset="0"/>
                <a:ea typeface="Calibri" pitchFamily="34" charset="-122"/>
                <a:cs typeface="Calibri" pitchFamily="34" charset="-120"/>
              </a:rPr>
              <a:t>Only the documents that matter. </a:t>
            </a:r>
            <a:pPr indent="0" marL="0">
              <a:lnSpc>
                <a:spcPts val="1900"/>
              </a:lnSpc>
              <a:buNone/>
            </a:pPr>
            <a:r>
              <a:rPr lang="en-US" sz="1350" dirty="0">
                <a:solidFill>
                  <a:srgbClr val="1D2858"/>
                </a:solidFill>
                <a:latin typeface="Calibri" pitchFamily="34" charset="0"/>
                <a:ea typeface="Calibri" pitchFamily="34" charset="-122"/>
                <a:cs typeface="Calibri" pitchFamily="34" charset="-120"/>
              </a:rPr>
              <a:t>The matrix is queried with the selected products, and a document that does not exist is shown as missing instead of hidden.</a:t>
            </a:r>
            <a:endParaRPr lang="en-US" sz="1350" dirty="0"/>
          </a:p>
        </p:txBody>
      </p:sp>
      <p:sp>
        <p:nvSpPr>
          <p:cNvPr id="12" name="Shape 10"/>
          <p:cNvSpPr/>
          <p:nvPr/>
        </p:nvSpPr>
        <p:spPr>
          <a:xfrm>
            <a:off x="585216" y="3730752"/>
            <a:ext cx="109728" cy="109728"/>
          </a:xfrm>
          <a:prstGeom prst="rect">
            <a:avLst/>
          </a:prstGeom>
          <a:solidFill>
            <a:srgbClr val="00AEEF"/>
          </a:solidFill>
          <a:ln/>
        </p:spPr>
      </p:sp>
      <p:sp>
        <p:nvSpPr>
          <p:cNvPr id="13" name="Text 11"/>
          <p:cNvSpPr txBox="1"/>
          <p:nvPr/>
        </p:nvSpPr>
        <p:spPr>
          <a:xfrm>
            <a:off x="877824" y="3621024"/>
            <a:ext cx="10746943" cy="566928"/>
          </a:xfrm>
          <a:prstGeom prst="rect">
            <a:avLst/>
          </a:prstGeom>
          <a:noFill/>
          <a:ln/>
        </p:spPr>
        <p:txBody>
          <a:bodyPr wrap="square" lIns="0" tIns="0" rIns="0" bIns="0" rtlCol="0" anchor="ctr"/>
          <a:lstStyle/>
          <a:p>
            <a:pPr indent="0" marL="0">
              <a:lnSpc>
                <a:spcPts val="1900"/>
              </a:lnSpc>
              <a:buNone/>
            </a:pPr>
            <a:r>
              <a:rPr lang="en-US" sz="1350" b="1" dirty="0">
                <a:solidFill>
                  <a:srgbClr val="131C3D"/>
                </a:solidFill>
                <a:latin typeface="Calibri" pitchFamily="34" charset="0"/>
                <a:ea typeface="Calibri" pitchFamily="34" charset="-122"/>
                <a:cs typeface="Calibri" pitchFamily="34" charset="-120"/>
              </a:rPr>
              <a:t>The quote protects the distributor. </a:t>
            </a:r>
            <a:pPr indent="0" marL="0">
              <a:lnSpc>
                <a:spcPts val="1900"/>
              </a:lnSpc>
              <a:buNone/>
            </a:pPr>
            <a:r>
              <a:rPr lang="en-US" sz="1350" dirty="0">
                <a:solidFill>
                  <a:srgbClr val="1D2858"/>
                </a:solidFill>
                <a:latin typeface="Calibri" pitchFamily="34" charset="0"/>
                <a:ea typeface="Calibri" pitchFamily="34" charset="-122"/>
                <a:cs typeface="Calibri" pitchFamily="34" charset="-120"/>
              </a:rPr>
              <a:t>Retail price with the exact product codes, plus the line 'present this quote to your Salus distributor'. No net price in the tool.</a:t>
            </a:r>
            <a:endParaRPr lang="en-US" sz="1350" dirty="0"/>
          </a:p>
        </p:txBody>
      </p:sp>
      <p:sp>
        <p:nvSpPr>
          <p:cNvPr id="14" name="Shape 12"/>
          <p:cNvSpPr/>
          <p:nvPr/>
        </p:nvSpPr>
        <p:spPr>
          <a:xfrm>
            <a:off x="566928" y="4407408"/>
            <a:ext cx="11057839" cy="1993392"/>
          </a:xfrm>
          <a:prstGeom prst="roundRect">
            <a:avLst>
              <a:gd name="adj" fmla="val 2752"/>
            </a:avLst>
          </a:prstGeom>
          <a:solidFill>
            <a:srgbClr val="F2FAFE"/>
          </a:solidFill>
          <a:ln w="19050">
            <a:solidFill>
              <a:srgbClr val="00AEEF"/>
            </a:solidFill>
            <a:prstDash val="dash"/>
          </a:ln>
        </p:spPr>
      </p:sp>
      <p:sp>
        <p:nvSpPr>
          <p:cNvPr id="15" name="Text 13"/>
          <p:cNvSpPr txBox="1"/>
          <p:nvPr/>
        </p:nvSpPr>
        <p:spPr>
          <a:xfrm>
            <a:off x="822960" y="4553712"/>
            <a:ext cx="2743200" cy="228600"/>
          </a:xfrm>
          <a:prstGeom prst="rect">
            <a:avLst/>
          </a:prstGeom>
          <a:noFill/>
          <a:ln/>
        </p:spPr>
        <p:txBody>
          <a:bodyPr wrap="square" lIns="0" tIns="0" rIns="0" bIns="0" rtlCol="0" anchor="ctr"/>
          <a:lstStyle/>
          <a:p>
            <a:pPr indent="0" marL="0">
              <a:buNone/>
            </a:pPr>
            <a:r>
              <a:rPr lang="en-US" sz="1100" b="1" spc="160" kern="0" dirty="0">
                <a:solidFill>
                  <a:srgbClr val="0079A8"/>
                </a:solidFill>
                <a:latin typeface="Calibri" pitchFamily="34" charset="0"/>
                <a:ea typeface="Calibri" pitchFamily="34" charset="-122"/>
                <a:cs typeface="Calibri" pitchFamily="34" charset="-120"/>
              </a:rPr>
              <a:t>LIVE DEMO</a:t>
            </a:r>
            <a:endParaRPr lang="en-US" sz="1100" dirty="0"/>
          </a:p>
        </p:txBody>
      </p:sp>
      <p:sp>
        <p:nvSpPr>
          <p:cNvPr id="16" name="Text 14"/>
          <p:cNvSpPr txBox="1"/>
          <p:nvPr/>
        </p:nvSpPr>
        <p:spPr>
          <a:xfrm>
            <a:off x="9997135" y="4553712"/>
            <a:ext cx="1371600" cy="228600"/>
          </a:xfrm>
          <a:prstGeom prst="rect">
            <a:avLst/>
          </a:prstGeom>
          <a:noFill/>
          <a:ln/>
        </p:spPr>
        <p:txBody>
          <a:bodyPr wrap="square" lIns="0" tIns="0" rIns="0" bIns="0" rtlCol="0" anchor="ctr"/>
          <a:lstStyle/>
          <a:p>
            <a:pPr algn="r" indent="0" marL="0">
              <a:buNone/>
            </a:pPr>
            <a:r>
              <a:rPr lang="en-US" sz="1100" b="1" spc="120" kern="0" dirty="0">
                <a:solidFill>
                  <a:srgbClr val="69718C"/>
                </a:solidFill>
                <a:latin typeface="Calibri" pitchFamily="34" charset="0"/>
                <a:ea typeface="Calibri" pitchFamily="34" charset="-122"/>
                <a:cs typeface="Calibri" pitchFamily="34" charset="-120"/>
              </a:rPr>
              <a:t>2 MIN</a:t>
            </a:r>
            <a:endParaRPr lang="en-US" sz="1100" dirty="0"/>
          </a:p>
        </p:txBody>
      </p:sp>
      <p:sp>
        <p:nvSpPr>
          <p:cNvPr id="17" name="Text 15"/>
          <p:cNvSpPr txBox="1"/>
          <p:nvPr/>
        </p:nvSpPr>
        <p:spPr>
          <a:xfrm>
            <a:off x="978408" y="4846320"/>
            <a:ext cx="10234879" cy="1426464"/>
          </a:xfrm>
          <a:prstGeom prst="rect">
            <a:avLst/>
          </a:prstGeom>
          <a:noFill/>
          <a:ln/>
        </p:spPr>
        <p:txBody>
          <a:bodyPr wrap="square" lIns="0" tIns="0" rIns="0" bIns="0" rtlCol="0" anchor="ctr"/>
          <a:lstStyle/>
          <a:p>
            <a:pPr marL="342900" indent="-342900">
              <a:lnSpc>
                <a:spcPts val="1700"/>
              </a:lnSpc>
              <a:spcAft>
                <a:spcPts val="500"/>
              </a:spcAft>
              <a:buSzPct val="100000"/>
              <a:buFont typeface="+mj-lt"/>
              <a:buAutoNum type="arabicPeriod" startAt="1"/>
            </a:pPr>
            <a:r>
              <a:rPr lang="en-US" sz="1250" dirty="0">
                <a:solidFill>
                  <a:srgbClr val="1D2858"/>
                </a:solidFill>
                <a:latin typeface="Calibri" pitchFamily="34" charset="0"/>
                <a:ea typeface="Calibri" pitchFamily="34" charset="-122"/>
                <a:cs typeface="Calibri" pitchFamily="34" charset="-120"/>
              </a:rPr>
              <a:t>Replacement search — type a competitor name with a typo (Delta Dore, Netatmo, Honeywell, Tado) and show the extra products the swap needs.</a:t>
            </a:r>
            <a:endParaRPr lang="en-US" sz="1250" dirty="0"/>
          </a:p>
          <a:p>
            <a:pPr marL="342900" indent="-342900">
              <a:lnSpc>
                <a:spcPts val="1700"/>
              </a:lnSpc>
              <a:spcAft>
                <a:spcPts val="500"/>
              </a:spcAft>
              <a:buSzPct val="100000"/>
              <a:buFont typeface="+mj-lt"/>
              <a:buAutoNum type="arabicPeriod" startAt="1"/>
            </a:pPr>
            <a:r>
              <a:rPr lang="en-US" sz="1250" dirty="0">
                <a:solidFill>
                  <a:srgbClr val="1D2858"/>
                </a:solidFill>
                <a:latin typeface="Calibri" pitchFamily="34" charset="0"/>
                <a:ea typeface="Calibri" pitchFamily="34" charset="-122"/>
                <a:cs typeface="Calibri" pitchFamily="34" charset="-120"/>
              </a:rPr>
              <a:t>The documents block on the result screen, with one entry marked missing.</a:t>
            </a:r>
            <a:endParaRPr lang="en-US" sz="1250" dirty="0"/>
          </a:p>
          <a:p>
            <a:pPr marL="342900" indent="-342900">
              <a:lnSpc>
                <a:spcPts val="1700"/>
              </a:lnSpc>
              <a:spcAft>
                <a:spcPts val="500"/>
              </a:spcAft>
              <a:buSzPct val="100000"/>
              <a:buFont typeface="+mj-lt"/>
              <a:buAutoNum type="arabicPeriod" startAt="1"/>
            </a:pPr>
            <a:r>
              <a:rPr lang="en-US" sz="1250" dirty="0">
                <a:solidFill>
                  <a:srgbClr val="1D2858"/>
                </a:solidFill>
                <a:latin typeface="Calibri" pitchFamily="34" charset="0"/>
                <a:ea typeface="Calibri" pitchFamily="34" charset="-122"/>
                <a:cs typeface="Calibri" pitchFamily="34" charset="-120"/>
              </a:rPr>
              <a:t>Generate the quote PDF.</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CFE"/>
        </a:solidFill>
      </p:bgPr>
    </p:bg>
    <p:spTree>
      <p:nvGrpSpPr>
        <p:cNvPr id="1" name=""/>
        <p:cNvGrpSpPr/>
        <p:nvPr/>
      </p:nvGrpSpPr>
      <p:grpSpPr>
        <a:xfrm>
          <a:off x="0" y="0"/>
          <a:ext cx="0" cy="0"/>
          <a:chOff x="0" y="0"/>
          <a:chExt cx="0" cy="0"/>
        </a:xfrm>
      </p:grpSpPr>
      <p:sp>
        <p:nvSpPr>
          <p:cNvPr id="2" name="Text 0"/>
          <p:cNvSpPr txBox="1"/>
          <p:nvPr/>
        </p:nvSpPr>
        <p:spPr>
          <a:xfrm>
            <a:off x="1298448" y="384048"/>
            <a:ext cx="10326319" cy="256032"/>
          </a:xfrm>
          <a:prstGeom prst="rect">
            <a:avLst/>
          </a:prstGeom>
          <a:noFill/>
          <a:ln/>
        </p:spPr>
        <p:txBody>
          <a:bodyPr wrap="square" lIns="0" tIns="0" rIns="0" bIns="0" rtlCol="0" anchor="ctr"/>
          <a:lstStyle/>
          <a:p>
            <a:pPr indent="0" marL="0">
              <a:buNone/>
            </a:pPr>
            <a:r>
              <a:rPr lang="en-US" sz="1100" b="1" spc="160" kern="0" dirty="0">
                <a:solidFill>
                  <a:srgbClr val="0079A8"/>
                </a:solidFill>
                <a:latin typeface="Calibri" pitchFamily="34" charset="0"/>
                <a:ea typeface="Calibri" pitchFamily="34" charset="-122"/>
                <a:cs typeface="Calibri" pitchFamily="34" charset="-120"/>
              </a:rPr>
              <a:t>GROUP E · 3 PROBLEMS — LEAST CODE, MOST VALUE</a:t>
            </a:r>
            <a:endParaRPr lang="en-US" sz="1100" dirty="0"/>
          </a:p>
        </p:txBody>
      </p:sp>
      <p:sp>
        <p:nvSpPr>
          <p:cNvPr id="3" name="Shape 1"/>
          <p:cNvSpPr/>
          <p:nvPr/>
        </p:nvSpPr>
        <p:spPr>
          <a:xfrm>
            <a:off x="566928" y="640080"/>
            <a:ext cx="566928" cy="566928"/>
          </a:xfrm>
          <a:prstGeom prst="ellipse">
            <a:avLst/>
          </a:prstGeom>
          <a:solidFill>
            <a:srgbClr val="00AEEF"/>
          </a:solidFill>
          <a:ln/>
        </p:spPr>
      </p:sp>
      <p:sp>
        <p:nvSpPr>
          <p:cNvPr id="4" name="Text 2"/>
          <p:cNvSpPr txBox="1"/>
          <p:nvPr/>
        </p:nvSpPr>
        <p:spPr>
          <a:xfrm>
            <a:off x="566928" y="640080"/>
            <a:ext cx="566928" cy="566928"/>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E</a:t>
            </a:r>
            <a:endParaRPr lang="en-US" sz="2600" dirty="0"/>
          </a:p>
        </p:txBody>
      </p:sp>
      <p:sp>
        <p:nvSpPr>
          <p:cNvPr id="5" name="Text 3"/>
          <p:cNvSpPr txBox="1"/>
          <p:nvPr/>
        </p:nvSpPr>
        <p:spPr>
          <a:xfrm>
            <a:off x="1298448" y="621792"/>
            <a:ext cx="10326319" cy="658368"/>
          </a:xfrm>
          <a:prstGeom prst="rect">
            <a:avLst/>
          </a:prstGeom>
          <a:noFill/>
          <a:ln/>
        </p:spPr>
        <p:txBody>
          <a:bodyPr wrap="square" lIns="0" tIns="0" rIns="0" bIns="0" rtlCol="0" anchor="ctr"/>
          <a:lstStyle/>
          <a:p>
            <a:pPr indent="0" marL="0">
              <a:buNone/>
            </a:pPr>
            <a:r>
              <a:rPr lang="en-US" sz="2700" b="1" dirty="0">
                <a:solidFill>
                  <a:srgbClr val="131C3D"/>
                </a:solidFill>
                <a:latin typeface="Calibri" pitchFamily="34" charset="0"/>
                <a:ea typeface="Calibri" pitchFamily="34" charset="-122"/>
                <a:cs typeface="Calibri" pitchFamily="34" charset="-120"/>
              </a:rPr>
              <a:t>When the tool can't decide, and how it learns</a:t>
            </a:r>
            <a:endParaRPr lang="en-US" sz="2700" dirty="0"/>
          </a:p>
        </p:txBody>
      </p:sp>
      <p:sp>
        <p:nvSpPr>
          <p:cNvPr id="6" name="Shape 4"/>
          <p:cNvSpPr/>
          <p:nvPr/>
        </p:nvSpPr>
        <p:spPr>
          <a:xfrm>
            <a:off x="566928" y="1417320"/>
            <a:ext cx="11057839" cy="713232"/>
          </a:xfrm>
          <a:prstGeom prst="roundRect">
            <a:avLst>
              <a:gd name="adj" fmla="val 7692"/>
            </a:avLst>
          </a:prstGeom>
          <a:solidFill>
            <a:srgbClr val="F2F7FC"/>
          </a:solidFill>
          <a:ln w="12700">
            <a:solidFill>
              <a:srgbClr val="DCE3EE"/>
            </a:solidFill>
            <a:prstDash val="solid"/>
          </a:ln>
        </p:spPr>
      </p:sp>
      <p:sp>
        <p:nvSpPr>
          <p:cNvPr id="7" name="Text 5"/>
          <p:cNvSpPr txBox="1"/>
          <p:nvPr/>
        </p:nvSpPr>
        <p:spPr>
          <a:xfrm>
            <a:off x="795528" y="1490472"/>
            <a:ext cx="10600639" cy="566928"/>
          </a:xfrm>
          <a:prstGeom prst="rect">
            <a:avLst/>
          </a:prstGeom>
          <a:noFill/>
          <a:ln/>
        </p:spPr>
        <p:txBody>
          <a:bodyPr wrap="square" lIns="0" tIns="0" rIns="0" bIns="0" rtlCol="0" anchor="ctr"/>
          <a:lstStyle/>
          <a:p>
            <a:pPr indent="0" marL="0">
              <a:lnSpc>
                <a:spcPts val="1800"/>
              </a:lnSpc>
              <a:buNone/>
            </a:pPr>
            <a:r>
              <a:rPr lang="en-US" sz="1200" b="1" dirty="0">
                <a:solidFill>
                  <a:srgbClr val="0079A8"/>
                </a:solidFill>
                <a:latin typeface="Calibri" pitchFamily="34" charset="0"/>
                <a:ea typeface="Calibri" pitchFamily="34" charset="-122"/>
                <a:cs typeface="Calibri" pitchFamily="34" charset="-120"/>
              </a:rPr>
              <a:t>P9 </a:t>
            </a:r>
            <a:pPr indent="0" marL="0">
              <a:lnSpc>
                <a:spcPts val="1800"/>
              </a:lnSpc>
              <a:buNone/>
            </a:pPr>
            <a:r>
              <a:rPr lang="en-US" sz="1200" dirty="0">
                <a:solidFill>
                  <a:srgbClr val="1D2858"/>
                </a:solidFill>
                <a:latin typeface="Calibri" pitchFamily="34" charset="0"/>
                <a:ea typeface="Calibri" pitchFamily="34" charset="-122"/>
                <a:cs typeface="Calibri" pitchFamily="34" charset="-120"/>
              </a:rPr>
              <a:t>No single supplier for everything     </a:t>
            </a:r>
            <a:pPr indent="0" marL="0">
              <a:lnSpc>
                <a:spcPts val="1800"/>
              </a:lnSpc>
              <a:buNone/>
            </a:pPr>
            <a:r>
              <a:rPr lang="en-US" sz="1200" b="1" dirty="0">
                <a:solidFill>
                  <a:srgbClr val="0079A8"/>
                </a:solidFill>
                <a:latin typeface="Calibri" pitchFamily="34" charset="0"/>
                <a:ea typeface="Calibri" pitchFamily="34" charset="-122"/>
                <a:cs typeface="Calibri" pitchFamily="34" charset="-120"/>
              </a:rPr>
              <a:t>P15 </a:t>
            </a:r>
            <a:pPr indent="0" marL="0">
              <a:lnSpc>
                <a:spcPts val="1800"/>
              </a:lnSpc>
              <a:buNone/>
            </a:pPr>
            <a:r>
              <a:rPr lang="en-US" sz="1200" dirty="0">
                <a:solidFill>
                  <a:srgbClr val="1D2858"/>
                </a:solidFill>
                <a:latin typeface="Calibri" pitchFamily="34" charset="0"/>
                <a:ea typeface="Calibri" pitchFamily="34" charset="-122"/>
                <a:cs typeface="Calibri" pitchFamily="34" charset="-120"/>
              </a:rPr>
              <a:t>Market configurators are too limited     </a:t>
            </a:r>
            <a:pPr indent="0" marL="0">
              <a:lnSpc>
                <a:spcPts val="1800"/>
              </a:lnSpc>
              <a:buNone/>
            </a:pPr>
            <a:r>
              <a:rPr lang="en-US" sz="1200" b="1" dirty="0">
                <a:solidFill>
                  <a:srgbClr val="0079A8"/>
                </a:solidFill>
                <a:latin typeface="Calibri" pitchFamily="34" charset="0"/>
                <a:ea typeface="Calibri" pitchFamily="34" charset="-122"/>
                <a:cs typeface="Calibri" pitchFamily="34" charset="-120"/>
              </a:rPr>
              <a:t>P26 </a:t>
            </a:r>
            <a:pPr indent="0" marL="0">
              <a:lnSpc>
                <a:spcPts val="1800"/>
              </a:lnSpc>
              <a:buNone/>
            </a:pPr>
            <a:r>
              <a:rPr lang="en-US" sz="1200" dirty="0">
                <a:solidFill>
                  <a:srgbClr val="1D2858"/>
                </a:solidFill>
                <a:latin typeface="Calibri" pitchFamily="34" charset="0"/>
                <a:ea typeface="Calibri" pitchFamily="34" charset="-122"/>
                <a:cs typeface="Calibri" pitchFamily="34" charset="-120"/>
              </a:rPr>
              <a:t>Not connected to the CRM</a:t>
            </a:r>
            <a:endParaRPr lang="en-US" sz="1200" dirty="0"/>
          </a:p>
        </p:txBody>
      </p:sp>
      <p:sp>
        <p:nvSpPr>
          <p:cNvPr id="8" name="Shape 6"/>
          <p:cNvSpPr/>
          <p:nvPr/>
        </p:nvSpPr>
        <p:spPr>
          <a:xfrm>
            <a:off x="585216" y="2414016"/>
            <a:ext cx="109728" cy="109728"/>
          </a:xfrm>
          <a:prstGeom prst="rect">
            <a:avLst/>
          </a:prstGeom>
          <a:solidFill>
            <a:srgbClr val="00AEEF"/>
          </a:solidFill>
          <a:ln/>
        </p:spPr>
      </p:sp>
      <p:sp>
        <p:nvSpPr>
          <p:cNvPr id="9" name="Text 7"/>
          <p:cNvSpPr txBox="1"/>
          <p:nvPr/>
        </p:nvSpPr>
        <p:spPr>
          <a:xfrm>
            <a:off x="877824" y="2304288"/>
            <a:ext cx="10746943" cy="566928"/>
          </a:xfrm>
          <a:prstGeom prst="rect">
            <a:avLst/>
          </a:prstGeom>
          <a:noFill/>
          <a:ln/>
        </p:spPr>
        <p:txBody>
          <a:bodyPr wrap="square" lIns="0" tIns="0" rIns="0" bIns="0" rtlCol="0" anchor="ctr"/>
          <a:lstStyle/>
          <a:p>
            <a:pPr indent="0" marL="0">
              <a:lnSpc>
                <a:spcPts val="1900"/>
              </a:lnSpc>
              <a:buNone/>
            </a:pPr>
            <a:r>
              <a:rPr lang="en-US" sz="1350" b="1" dirty="0">
                <a:solidFill>
                  <a:srgbClr val="131C3D"/>
                </a:solidFill>
                <a:latin typeface="Calibri" pitchFamily="34" charset="0"/>
                <a:ea typeface="Calibri" pitchFamily="34" charset="-122"/>
                <a:cs typeface="Calibri" pitchFamily="34" charset="-120"/>
              </a:rPr>
              <a:t>The limit becomes a handover, not a refusal. </a:t>
            </a:r>
            <a:pPr indent="0" marL="0">
              <a:lnSpc>
                <a:spcPts val="1900"/>
              </a:lnSpc>
              <a:buNone/>
            </a:pPr>
            <a:r>
              <a:rPr lang="en-US" sz="1350" dirty="0">
                <a:solidFill>
                  <a:srgbClr val="1D2858"/>
                </a:solidFill>
                <a:latin typeface="Calibri" pitchFamily="34" charset="0"/>
                <a:ea typeface="Calibri" pitchFamily="34" charset="-122"/>
                <a:cs typeface="Calibri" pitchFamily="34" charset="-120"/>
              </a:rPr>
              <a:t>Commercial building, more than 12 zones, a heat source we don't cover: the tool keeps the part of the recommendation it could build, prepares the file and promises a call back within 48 hours.</a:t>
            </a:r>
            <a:endParaRPr lang="en-US" sz="1350" dirty="0"/>
          </a:p>
        </p:txBody>
      </p:sp>
      <p:sp>
        <p:nvSpPr>
          <p:cNvPr id="10" name="Shape 8"/>
          <p:cNvSpPr/>
          <p:nvPr/>
        </p:nvSpPr>
        <p:spPr>
          <a:xfrm>
            <a:off x="585216" y="3072384"/>
            <a:ext cx="109728" cy="109728"/>
          </a:xfrm>
          <a:prstGeom prst="rect">
            <a:avLst/>
          </a:prstGeom>
          <a:solidFill>
            <a:srgbClr val="00AEEF"/>
          </a:solidFill>
          <a:ln/>
        </p:spPr>
      </p:sp>
      <p:sp>
        <p:nvSpPr>
          <p:cNvPr id="11" name="Text 9"/>
          <p:cNvSpPr txBox="1"/>
          <p:nvPr/>
        </p:nvSpPr>
        <p:spPr>
          <a:xfrm>
            <a:off x="877824" y="2962656"/>
            <a:ext cx="10746943" cy="566928"/>
          </a:xfrm>
          <a:prstGeom prst="rect">
            <a:avLst/>
          </a:prstGeom>
          <a:noFill/>
          <a:ln/>
        </p:spPr>
        <p:txBody>
          <a:bodyPr wrap="square" lIns="0" tIns="0" rIns="0" bIns="0" rtlCol="0" anchor="ctr"/>
          <a:lstStyle/>
          <a:p>
            <a:pPr indent="0" marL="0">
              <a:lnSpc>
                <a:spcPts val="1900"/>
              </a:lnSpc>
              <a:buNone/>
            </a:pPr>
            <a:r>
              <a:rPr lang="en-US" sz="1350" b="1" dirty="0">
                <a:solidFill>
                  <a:srgbClr val="131C3D"/>
                </a:solidFill>
                <a:latin typeface="Calibri" pitchFamily="34" charset="0"/>
                <a:ea typeface="Calibri" pitchFamily="34" charset="-122"/>
                <a:cs typeface="Calibri" pitchFamily="34" charset="-120"/>
              </a:rPr>
              <a:t>A configuration is a qualified lead from the first answer </a:t>
            </a:r>
            <a:pPr indent="0" marL="0">
              <a:lnSpc>
                <a:spcPts val="1900"/>
              </a:lnSpc>
              <a:buNone/>
            </a:pPr>
            <a:r>
              <a:rPr lang="en-US" sz="1350" dirty="0">
                <a:solidFill>
                  <a:srgbClr val="1D2858"/>
                </a:solidFill>
                <a:latin typeface="Calibri" pitchFamily="34" charset="0"/>
                <a:ea typeface="Calibri" pitchFamily="34" charset="-122"/>
                <a:cs typeface="Calibri" pitchFamily="34" charset="-120"/>
              </a:rPr>
              <a:t>— profile, postcode, project, zones, level, amount, and the step where the customer stopped.</a:t>
            </a:r>
            <a:endParaRPr lang="en-US" sz="1350" dirty="0"/>
          </a:p>
        </p:txBody>
      </p:sp>
      <p:sp>
        <p:nvSpPr>
          <p:cNvPr id="12" name="Shape 10"/>
          <p:cNvSpPr/>
          <p:nvPr/>
        </p:nvSpPr>
        <p:spPr>
          <a:xfrm>
            <a:off x="585216" y="3730752"/>
            <a:ext cx="109728" cy="109728"/>
          </a:xfrm>
          <a:prstGeom prst="rect">
            <a:avLst/>
          </a:prstGeom>
          <a:solidFill>
            <a:srgbClr val="00AEEF"/>
          </a:solidFill>
          <a:ln/>
        </p:spPr>
      </p:sp>
      <p:sp>
        <p:nvSpPr>
          <p:cNvPr id="13" name="Text 11"/>
          <p:cNvSpPr txBox="1"/>
          <p:nvPr/>
        </p:nvSpPr>
        <p:spPr>
          <a:xfrm>
            <a:off x="877824" y="3621024"/>
            <a:ext cx="10746943" cy="566928"/>
          </a:xfrm>
          <a:prstGeom prst="rect">
            <a:avLst/>
          </a:prstGeom>
          <a:noFill/>
          <a:ln/>
        </p:spPr>
        <p:txBody>
          <a:bodyPr wrap="square" lIns="0" tIns="0" rIns="0" bIns="0" rtlCol="0" anchor="ctr"/>
          <a:lstStyle/>
          <a:p>
            <a:pPr indent="0" marL="0">
              <a:lnSpc>
                <a:spcPts val="1900"/>
              </a:lnSpc>
              <a:buNone/>
            </a:pPr>
            <a:r>
              <a:rPr lang="en-US" sz="1350" b="1" dirty="0">
                <a:solidFill>
                  <a:srgbClr val="131C3D"/>
                </a:solidFill>
                <a:latin typeface="Calibri" pitchFamily="34" charset="0"/>
                <a:ea typeface="Calibri" pitchFamily="34" charset="-122"/>
                <a:cs typeface="Calibri" pitchFamily="34" charset="-120"/>
              </a:rPr>
              <a:t>The loop that keeps it from ageing. </a:t>
            </a:r>
            <a:pPr indent="0" marL="0">
              <a:lnSpc>
                <a:spcPts val="1900"/>
              </a:lnSpc>
              <a:buNone/>
            </a:pPr>
            <a:r>
              <a:rPr lang="en-US" sz="1350" dirty="0">
                <a:solidFill>
                  <a:srgbClr val="1D2858"/>
                </a:solidFill>
                <a:latin typeface="Calibri" pitchFamily="34" charset="0"/>
                <a:ea typeface="Calibri" pitchFamily="34" charset="-122"/>
                <a:cs typeface="Calibri" pitchFamily="34" charset="-120"/>
              </a:rPr>
              <a:t>Every correction a sales rep makes by hand is a rule the engine was missing. That is the only feedback loop in the system, and it is the one worth having.</a:t>
            </a:r>
            <a:endParaRPr lang="en-US" sz="1350" dirty="0"/>
          </a:p>
        </p:txBody>
      </p:sp>
      <p:sp>
        <p:nvSpPr>
          <p:cNvPr id="14" name="Shape 12"/>
          <p:cNvSpPr/>
          <p:nvPr/>
        </p:nvSpPr>
        <p:spPr>
          <a:xfrm>
            <a:off x="566928" y="4407408"/>
            <a:ext cx="11057839" cy="1993392"/>
          </a:xfrm>
          <a:prstGeom prst="roundRect">
            <a:avLst>
              <a:gd name="adj" fmla="val 2752"/>
            </a:avLst>
          </a:prstGeom>
          <a:solidFill>
            <a:srgbClr val="F2FAFE"/>
          </a:solidFill>
          <a:ln w="19050">
            <a:solidFill>
              <a:srgbClr val="00AEEF"/>
            </a:solidFill>
            <a:prstDash val="dash"/>
          </a:ln>
        </p:spPr>
      </p:sp>
      <p:sp>
        <p:nvSpPr>
          <p:cNvPr id="15" name="Text 13"/>
          <p:cNvSpPr txBox="1"/>
          <p:nvPr/>
        </p:nvSpPr>
        <p:spPr>
          <a:xfrm>
            <a:off x="822960" y="4553712"/>
            <a:ext cx="2743200" cy="228600"/>
          </a:xfrm>
          <a:prstGeom prst="rect">
            <a:avLst/>
          </a:prstGeom>
          <a:noFill/>
          <a:ln/>
        </p:spPr>
        <p:txBody>
          <a:bodyPr wrap="square" lIns="0" tIns="0" rIns="0" bIns="0" rtlCol="0" anchor="ctr"/>
          <a:lstStyle/>
          <a:p>
            <a:pPr indent="0" marL="0">
              <a:buNone/>
            </a:pPr>
            <a:r>
              <a:rPr lang="en-US" sz="1100" b="1" spc="160" kern="0" dirty="0">
                <a:solidFill>
                  <a:srgbClr val="0079A8"/>
                </a:solidFill>
                <a:latin typeface="Calibri" pitchFamily="34" charset="0"/>
                <a:ea typeface="Calibri" pitchFamily="34" charset="-122"/>
                <a:cs typeface="Calibri" pitchFamily="34" charset="-120"/>
              </a:rPr>
              <a:t>LIVE DEMO</a:t>
            </a:r>
            <a:endParaRPr lang="en-US" sz="1100" dirty="0"/>
          </a:p>
        </p:txBody>
      </p:sp>
      <p:sp>
        <p:nvSpPr>
          <p:cNvPr id="16" name="Text 14"/>
          <p:cNvSpPr txBox="1"/>
          <p:nvPr/>
        </p:nvSpPr>
        <p:spPr>
          <a:xfrm>
            <a:off x="9997135" y="4553712"/>
            <a:ext cx="1371600" cy="228600"/>
          </a:xfrm>
          <a:prstGeom prst="rect">
            <a:avLst/>
          </a:prstGeom>
          <a:noFill/>
          <a:ln/>
        </p:spPr>
        <p:txBody>
          <a:bodyPr wrap="square" lIns="0" tIns="0" rIns="0" bIns="0" rtlCol="0" anchor="ctr"/>
          <a:lstStyle/>
          <a:p>
            <a:pPr algn="r" indent="0" marL="0">
              <a:buNone/>
            </a:pPr>
            <a:r>
              <a:rPr lang="en-US" sz="1100" b="1" spc="120" kern="0" dirty="0">
                <a:solidFill>
                  <a:srgbClr val="69718C"/>
                </a:solidFill>
                <a:latin typeface="Calibri" pitchFamily="34" charset="0"/>
                <a:ea typeface="Calibri" pitchFamily="34" charset="-122"/>
                <a:cs typeface="Calibri" pitchFamily="34" charset="-120"/>
              </a:rPr>
              <a:t>1–2 MIN</a:t>
            </a:r>
            <a:endParaRPr lang="en-US" sz="1100" dirty="0"/>
          </a:p>
        </p:txBody>
      </p:sp>
      <p:sp>
        <p:nvSpPr>
          <p:cNvPr id="17" name="Text 15"/>
          <p:cNvSpPr txBox="1"/>
          <p:nvPr/>
        </p:nvSpPr>
        <p:spPr>
          <a:xfrm>
            <a:off x="978408" y="4846320"/>
            <a:ext cx="10234879" cy="1426464"/>
          </a:xfrm>
          <a:prstGeom prst="rect">
            <a:avLst/>
          </a:prstGeom>
          <a:noFill/>
          <a:ln/>
        </p:spPr>
        <p:txBody>
          <a:bodyPr wrap="square" lIns="0" tIns="0" rIns="0" bIns="0" rtlCol="0" anchor="ctr"/>
          <a:lstStyle/>
          <a:p>
            <a:pPr marL="342900" indent="-342900">
              <a:lnSpc>
                <a:spcPts val="1700"/>
              </a:lnSpc>
              <a:spcAft>
                <a:spcPts val="500"/>
              </a:spcAft>
              <a:buSzPct val="100000"/>
              <a:buFont typeface="+mj-lt"/>
              <a:buAutoNum type="arabicPeriod" startAt="1"/>
            </a:pPr>
            <a:r>
              <a:rPr lang="en-US" sz="1250" dirty="0">
                <a:solidFill>
                  <a:srgbClr val="1D2858"/>
                </a:solidFill>
                <a:latin typeface="Calibri" pitchFamily="34" charset="0"/>
                <a:ea typeface="Calibri" pitchFamily="34" charset="-122"/>
                <a:cs typeface="Calibri" pitchFamily="34" charset="-120"/>
              </a:rPr>
              <a:t>Open the CRM backstage panel: the Lead, Quote and Deal payloads, the event log, what the rep sees next.</a:t>
            </a:r>
            <a:endParaRPr lang="en-US" sz="1250" dirty="0"/>
          </a:p>
          <a:p>
            <a:pPr marL="342900" indent="-342900">
              <a:lnSpc>
                <a:spcPts val="1700"/>
              </a:lnSpc>
              <a:spcAft>
                <a:spcPts val="500"/>
              </a:spcAft>
              <a:buSzPct val="100000"/>
              <a:buFont typeface="+mj-lt"/>
              <a:buAutoNum type="arabicPeriod" startAt="1"/>
            </a:pPr>
            <a:r>
              <a:rPr lang="en-US" sz="1250" dirty="0">
                <a:solidFill>
                  <a:srgbClr val="1D2858"/>
                </a:solidFill>
                <a:latin typeface="Calibri" pitchFamily="34" charset="0"/>
                <a:ea typeface="Calibri" pitchFamily="34" charset="-122"/>
                <a:cs typeface="Calibri" pitchFamily="34" charset="-120"/>
              </a:rPr>
              <a:t>Trigger an out-of-scope project to show the handover message.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CFE"/>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56032"/>
          </a:xfrm>
          <a:prstGeom prst="rect">
            <a:avLst/>
          </a:prstGeom>
          <a:noFill/>
          <a:ln/>
        </p:spPr>
        <p:txBody>
          <a:bodyPr wrap="square" lIns="0" tIns="0" rIns="0" bIns="0" rtlCol="0" anchor="ctr"/>
          <a:lstStyle/>
          <a:p>
            <a:pPr indent="0" marL="0">
              <a:buNone/>
            </a:pPr>
            <a:r>
              <a:rPr lang="en-US" sz="1100" b="1" spc="160" kern="0" dirty="0">
                <a:solidFill>
                  <a:srgbClr val="0079A8"/>
                </a:solidFill>
                <a:latin typeface="Calibri" pitchFamily="34" charset="0"/>
                <a:ea typeface="Calibri" pitchFamily="34" charset="-122"/>
                <a:cs typeface="Calibri" pitchFamily="34" charset="-120"/>
              </a:rPr>
              <a:t>BEFORE ANYONE ASKS</a:t>
            </a:r>
            <a:endParaRPr lang="en-US" sz="1100" dirty="0"/>
          </a:p>
        </p:txBody>
      </p:sp>
      <p:sp>
        <p:nvSpPr>
          <p:cNvPr id="3" name="Text 1"/>
          <p:cNvSpPr txBox="1"/>
          <p:nvPr/>
        </p:nvSpPr>
        <p:spPr>
          <a:xfrm>
            <a:off x="566928" y="658368"/>
            <a:ext cx="11057839" cy="822960"/>
          </a:xfrm>
          <a:prstGeom prst="rect">
            <a:avLst/>
          </a:prstGeom>
          <a:noFill/>
          <a:ln/>
        </p:spPr>
        <p:txBody>
          <a:bodyPr wrap="square" lIns="0" tIns="0" rIns="0" bIns="0" rtlCol="0" anchor="t"/>
          <a:lstStyle/>
          <a:p>
            <a:pPr indent="0" marL="0">
              <a:buNone/>
            </a:pPr>
            <a:r>
              <a:rPr lang="en-US" sz="3400" b="1" dirty="0">
                <a:solidFill>
                  <a:srgbClr val="131C3D"/>
                </a:solidFill>
                <a:latin typeface="Calibri" pitchFamily="34" charset="0"/>
                <a:ea typeface="Calibri" pitchFamily="34" charset="-122"/>
                <a:cs typeface="Calibri" pitchFamily="34" charset="-120"/>
              </a:rPr>
              <a:t>What is real in this build, and what is not</a:t>
            </a:r>
            <a:endParaRPr lang="en-US" sz="3400" dirty="0"/>
          </a:p>
        </p:txBody>
      </p:sp>
      <p:sp>
        <p:nvSpPr>
          <p:cNvPr id="4" name="Shape 2"/>
          <p:cNvSpPr/>
          <p:nvPr/>
        </p:nvSpPr>
        <p:spPr>
          <a:xfrm>
            <a:off x="566928" y="1691640"/>
            <a:ext cx="2558720" cy="1508760"/>
          </a:xfrm>
          <a:prstGeom prst="roundRect">
            <a:avLst>
              <a:gd name="adj" fmla="val 3636"/>
            </a:avLst>
          </a:prstGeom>
          <a:solidFill>
            <a:srgbClr val="FFFFFF"/>
          </a:solidFill>
          <a:ln w="12700">
            <a:solidFill>
              <a:srgbClr val="DCE3EE"/>
            </a:solidFill>
            <a:prstDash val="solid"/>
          </a:ln>
        </p:spPr>
      </p:sp>
      <p:sp>
        <p:nvSpPr>
          <p:cNvPr id="5" name="Text 3"/>
          <p:cNvSpPr txBox="1"/>
          <p:nvPr/>
        </p:nvSpPr>
        <p:spPr>
          <a:xfrm>
            <a:off x="795528" y="1856232"/>
            <a:ext cx="2101520" cy="548640"/>
          </a:xfrm>
          <a:prstGeom prst="rect">
            <a:avLst/>
          </a:prstGeom>
          <a:noFill/>
          <a:ln/>
        </p:spPr>
        <p:txBody>
          <a:bodyPr wrap="square" lIns="0" tIns="0" rIns="0" bIns="0" rtlCol="0" anchor="ctr"/>
          <a:lstStyle/>
          <a:p>
            <a:pPr indent="0" marL="0">
              <a:buNone/>
            </a:pPr>
            <a:r>
              <a:rPr lang="en-US" sz="4000" b="1" dirty="0">
                <a:solidFill>
                  <a:srgbClr val="2E9B8A"/>
                </a:solidFill>
                <a:latin typeface="Calibri" pitchFamily="34" charset="0"/>
                <a:ea typeface="Calibri" pitchFamily="34" charset="-122"/>
                <a:cs typeface="Calibri" pitchFamily="34" charset="-120"/>
              </a:rPr>
              <a:t>16</a:t>
            </a:r>
            <a:endParaRPr lang="en-US" sz="4000" dirty="0"/>
          </a:p>
        </p:txBody>
      </p:sp>
      <p:sp>
        <p:nvSpPr>
          <p:cNvPr id="6" name="Text 4"/>
          <p:cNvSpPr txBox="1"/>
          <p:nvPr/>
        </p:nvSpPr>
        <p:spPr>
          <a:xfrm>
            <a:off x="795528" y="2441448"/>
            <a:ext cx="2101520" cy="228600"/>
          </a:xfrm>
          <a:prstGeom prst="rect">
            <a:avLst/>
          </a:prstGeom>
          <a:noFill/>
          <a:ln/>
        </p:spPr>
        <p:txBody>
          <a:bodyPr wrap="square" lIns="0" tIns="0" rIns="0" bIns="0" rtlCol="0" anchor="ctr"/>
          <a:lstStyle/>
          <a:p>
            <a:pPr indent="0" marL="0">
              <a:buNone/>
            </a:pPr>
            <a:r>
              <a:rPr lang="en-US" sz="1050" b="1" spc="110" kern="0" dirty="0">
                <a:solidFill>
                  <a:srgbClr val="69718C"/>
                </a:solidFill>
                <a:latin typeface="Calibri" pitchFamily="34" charset="0"/>
                <a:ea typeface="Calibri" pitchFamily="34" charset="-122"/>
                <a:cs typeface="Calibri" pitchFamily="34" charset="-120"/>
              </a:rPr>
              <a:t>LIVE</a:t>
            </a:r>
            <a:endParaRPr lang="en-US" sz="1050" dirty="0"/>
          </a:p>
        </p:txBody>
      </p:sp>
      <p:sp>
        <p:nvSpPr>
          <p:cNvPr id="7" name="Text 5"/>
          <p:cNvSpPr txBox="1"/>
          <p:nvPr/>
        </p:nvSpPr>
        <p:spPr>
          <a:xfrm>
            <a:off x="795528" y="2679192"/>
            <a:ext cx="2101520" cy="411480"/>
          </a:xfrm>
          <a:prstGeom prst="rect">
            <a:avLst/>
          </a:prstGeom>
          <a:noFill/>
          <a:ln/>
        </p:spPr>
        <p:txBody>
          <a:bodyPr wrap="square" lIns="0" tIns="0" rIns="0" bIns="0" rtlCol="0" anchor="ctr"/>
          <a:lstStyle/>
          <a:p>
            <a:pPr indent="0" marL="0">
              <a:lnSpc>
                <a:spcPts val="1500"/>
              </a:lnSpc>
              <a:buNone/>
            </a:pPr>
            <a:r>
              <a:rPr lang="en-US" sz="1150" dirty="0">
                <a:solidFill>
                  <a:srgbClr val="1D2858"/>
                </a:solidFill>
                <a:latin typeface="Calibri" pitchFamily="34" charset="0"/>
                <a:ea typeface="Calibri" pitchFamily="34" charset="-122"/>
                <a:cs typeface="Calibri" pitchFamily="34" charset="-120"/>
              </a:rPr>
              <a:t>The logic really runs in the browser.</a:t>
            </a:r>
            <a:endParaRPr lang="en-US" sz="1150" dirty="0"/>
          </a:p>
        </p:txBody>
      </p:sp>
      <p:sp>
        <p:nvSpPr>
          <p:cNvPr id="8" name="Shape 6"/>
          <p:cNvSpPr/>
          <p:nvPr/>
        </p:nvSpPr>
        <p:spPr>
          <a:xfrm>
            <a:off x="3399968" y="1691640"/>
            <a:ext cx="2558720" cy="1508760"/>
          </a:xfrm>
          <a:prstGeom prst="roundRect">
            <a:avLst>
              <a:gd name="adj" fmla="val 3636"/>
            </a:avLst>
          </a:prstGeom>
          <a:solidFill>
            <a:srgbClr val="FFFFFF"/>
          </a:solidFill>
          <a:ln w="12700">
            <a:solidFill>
              <a:srgbClr val="DCE3EE"/>
            </a:solidFill>
            <a:prstDash val="solid"/>
          </a:ln>
        </p:spPr>
      </p:sp>
      <p:sp>
        <p:nvSpPr>
          <p:cNvPr id="9" name="Text 7"/>
          <p:cNvSpPr txBox="1"/>
          <p:nvPr/>
        </p:nvSpPr>
        <p:spPr>
          <a:xfrm>
            <a:off x="3628568" y="1856232"/>
            <a:ext cx="2101520" cy="548640"/>
          </a:xfrm>
          <a:prstGeom prst="rect">
            <a:avLst/>
          </a:prstGeom>
          <a:noFill/>
          <a:ln/>
        </p:spPr>
        <p:txBody>
          <a:bodyPr wrap="square" lIns="0" tIns="0" rIns="0" bIns="0" rtlCol="0" anchor="ctr"/>
          <a:lstStyle/>
          <a:p>
            <a:pPr indent="0" marL="0">
              <a:buNone/>
            </a:pPr>
            <a:r>
              <a:rPr lang="en-US" sz="4000" b="1" dirty="0">
                <a:solidFill>
                  <a:srgbClr val="B87914"/>
                </a:solidFill>
                <a:latin typeface="Calibri" pitchFamily="34" charset="0"/>
                <a:ea typeface="Calibri" pitchFamily="34" charset="-122"/>
                <a:cs typeface="Calibri" pitchFamily="34" charset="-120"/>
              </a:rPr>
              <a:t>5</a:t>
            </a:r>
            <a:endParaRPr lang="en-US" sz="4000" dirty="0"/>
          </a:p>
        </p:txBody>
      </p:sp>
      <p:sp>
        <p:nvSpPr>
          <p:cNvPr id="10" name="Text 8"/>
          <p:cNvSpPr txBox="1"/>
          <p:nvPr/>
        </p:nvSpPr>
        <p:spPr>
          <a:xfrm>
            <a:off x="3628568" y="2441448"/>
            <a:ext cx="2101520" cy="228600"/>
          </a:xfrm>
          <a:prstGeom prst="rect">
            <a:avLst/>
          </a:prstGeom>
          <a:noFill/>
          <a:ln/>
        </p:spPr>
        <p:txBody>
          <a:bodyPr wrap="square" lIns="0" tIns="0" rIns="0" bIns="0" rtlCol="0" anchor="ctr"/>
          <a:lstStyle/>
          <a:p>
            <a:pPr indent="0" marL="0">
              <a:buNone/>
            </a:pPr>
            <a:r>
              <a:rPr lang="en-US" sz="1050" b="1" spc="110" kern="0" dirty="0">
                <a:solidFill>
                  <a:srgbClr val="69718C"/>
                </a:solidFill>
                <a:latin typeface="Calibri" pitchFamily="34" charset="0"/>
                <a:ea typeface="Calibri" pitchFamily="34" charset="-122"/>
                <a:cs typeface="Calibri" pitchFamily="34" charset="-120"/>
              </a:rPr>
              <a:t>TEST CONTENT</a:t>
            </a:r>
            <a:endParaRPr lang="en-US" sz="1050" dirty="0"/>
          </a:p>
        </p:txBody>
      </p:sp>
      <p:sp>
        <p:nvSpPr>
          <p:cNvPr id="11" name="Text 9"/>
          <p:cNvSpPr txBox="1"/>
          <p:nvPr/>
        </p:nvSpPr>
        <p:spPr>
          <a:xfrm>
            <a:off x="3628568" y="2679192"/>
            <a:ext cx="2101520" cy="411480"/>
          </a:xfrm>
          <a:prstGeom prst="rect">
            <a:avLst/>
          </a:prstGeom>
          <a:noFill/>
          <a:ln/>
        </p:spPr>
        <p:txBody>
          <a:bodyPr wrap="square" lIns="0" tIns="0" rIns="0" bIns="0" rtlCol="0" anchor="ctr"/>
          <a:lstStyle/>
          <a:p>
            <a:pPr indent="0" marL="0">
              <a:lnSpc>
                <a:spcPts val="1500"/>
              </a:lnSpc>
              <a:buNone/>
            </a:pPr>
            <a:r>
              <a:rPr lang="en-US" sz="1150" dirty="0">
                <a:solidFill>
                  <a:srgbClr val="1D2858"/>
                </a:solidFill>
                <a:latin typeface="Calibri" pitchFamily="34" charset="0"/>
                <a:ea typeface="Calibri" pitchFamily="34" charset="-122"/>
                <a:cs typeface="Calibri" pitchFamily="34" charset="-120"/>
              </a:rPr>
              <a:t>Real structure, fictional words and figures.</a:t>
            </a:r>
            <a:endParaRPr lang="en-US" sz="1150" dirty="0"/>
          </a:p>
        </p:txBody>
      </p:sp>
      <p:sp>
        <p:nvSpPr>
          <p:cNvPr id="12" name="Shape 10"/>
          <p:cNvSpPr/>
          <p:nvPr/>
        </p:nvSpPr>
        <p:spPr>
          <a:xfrm>
            <a:off x="6233008" y="1691640"/>
            <a:ext cx="2558720" cy="1508760"/>
          </a:xfrm>
          <a:prstGeom prst="roundRect">
            <a:avLst>
              <a:gd name="adj" fmla="val 3636"/>
            </a:avLst>
          </a:prstGeom>
          <a:solidFill>
            <a:srgbClr val="FFFFFF"/>
          </a:solidFill>
          <a:ln w="12700">
            <a:solidFill>
              <a:srgbClr val="DCE3EE"/>
            </a:solidFill>
            <a:prstDash val="solid"/>
          </a:ln>
        </p:spPr>
      </p:sp>
      <p:sp>
        <p:nvSpPr>
          <p:cNvPr id="13" name="Text 11"/>
          <p:cNvSpPr txBox="1"/>
          <p:nvPr/>
        </p:nvSpPr>
        <p:spPr>
          <a:xfrm>
            <a:off x="6461608" y="1856232"/>
            <a:ext cx="2101520" cy="548640"/>
          </a:xfrm>
          <a:prstGeom prst="rect">
            <a:avLst/>
          </a:prstGeom>
          <a:noFill/>
          <a:ln/>
        </p:spPr>
        <p:txBody>
          <a:bodyPr wrap="square" lIns="0" tIns="0" rIns="0" bIns="0" rtlCol="0" anchor="ctr"/>
          <a:lstStyle/>
          <a:p>
            <a:pPr indent="0" marL="0">
              <a:buNone/>
            </a:pPr>
            <a:r>
              <a:rPr lang="en-US" sz="4000" b="1" dirty="0">
                <a:solidFill>
                  <a:srgbClr val="5A66B4"/>
                </a:solidFill>
                <a:latin typeface="Calibri" pitchFamily="34" charset="0"/>
                <a:ea typeface="Calibri" pitchFamily="34" charset="-122"/>
                <a:cs typeface="Calibri" pitchFamily="34" charset="-120"/>
              </a:rPr>
              <a:t>4</a:t>
            </a:r>
            <a:endParaRPr lang="en-US" sz="4000" dirty="0"/>
          </a:p>
        </p:txBody>
      </p:sp>
      <p:sp>
        <p:nvSpPr>
          <p:cNvPr id="14" name="Text 12"/>
          <p:cNvSpPr txBox="1"/>
          <p:nvPr/>
        </p:nvSpPr>
        <p:spPr>
          <a:xfrm>
            <a:off x="6461608" y="2441448"/>
            <a:ext cx="2101520" cy="228600"/>
          </a:xfrm>
          <a:prstGeom prst="rect">
            <a:avLst/>
          </a:prstGeom>
          <a:noFill/>
          <a:ln/>
        </p:spPr>
        <p:txBody>
          <a:bodyPr wrap="square" lIns="0" tIns="0" rIns="0" bIns="0" rtlCol="0" anchor="ctr"/>
          <a:lstStyle/>
          <a:p>
            <a:pPr indent="0" marL="0">
              <a:buNone/>
            </a:pPr>
            <a:r>
              <a:rPr lang="en-US" sz="1050" b="1" spc="110" kern="0" dirty="0">
                <a:solidFill>
                  <a:srgbClr val="69718C"/>
                </a:solidFill>
                <a:latin typeface="Calibri" pitchFamily="34" charset="0"/>
                <a:ea typeface="Calibri" pitchFamily="34" charset="-122"/>
                <a:cs typeface="Calibri" pitchFamily="34" charset="-120"/>
              </a:rPr>
              <a:t>SIMULATED</a:t>
            </a:r>
            <a:endParaRPr lang="en-US" sz="1050" dirty="0"/>
          </a:p>
        </p:txBody>
      </p:sp>
      <p:sp>
        <p:nvSpPr>
          <p:cNvPr id="15" name="Text 13"/>
          <p:cNvSpPr txBox="1"/>
          <p:nvPr/>
        </p:nvSpPr>
        <p:spPr>
          <a:xfrm>
            <a:off x="6461608" y="2679192"/>
            <a:ext cx="2101520" cy="411480"/>
          </a:xfrm>
          <a:prstGeom prst="rect">
            <a:avLst/>
          </a:prstGeom>
          <a:noFill/>
          <a:ln/>
        </p:spPr>
        <p:txBody>
          <a:bodyPr wrap="square" lIns="0" tIns="0" rIns="0" bIns="0" rtlCol="0" anchor="ctr"/>
          <a:lstStyle/>
          <a:p>
            <a:pPr indent="0" marL="0">
              <a:lnSpc>
                <a:spcPts val="1500"/>
              </a:lnSpc>
              <a:buNone/>
            </a:pPr>
            <a:r>
              <a:rPr lang="en-US" sz="1150" dirty="0">
                <a:solidFill>
                  <a:srgbClr val="1D2858"/>
                </a:solidFill>
                <a:latin typeface="Calibri" pitchFamily="34" charset="0"/>
                <a:ea typeface="Calibri" pitchFamily="34" charset="-122"/>
                <a:cs typeface="Calibri" pitchFamily="34" charset="-120"/>
              </a:rPr>
              <a:t>The payload is shown, nothing is sent.</a:t>
            </a:r>
            <a:endParaRPr lang="en-US" sz="1150" dirty="0"/>
          </a:p>
        </p:txBody>
      </p:sp>
      <p:sp>
        <p:nvSpPr>
          <p:cNvPr id="16" name="Shape 14"/>
          <p:cNvSpPr/>
          <p:nvPr/>
        </p:nvSpPr>
        <p:spPr>
          <a:xfrm>
            <a:off x="9066047" y="1691640"/>
            <a:ext cx="2558720" cy="1508760"/>
          </a:xfrm>
          <a:prstGeom prst="roundRect">
            <a:avLst>
              <a:gd name="adj" fmla="val 3636"/>
            </a:avLst>
          </a:prstGeom>
          <a:solidFill>
            <a:srgbClr val="FFFFFF"/>
          </a:solidFill>
          <a:ln w="12700">
            <a:solidFill>
              <a:srgbClr val="DCE3EE"/>
            </a:solidFill>
            <a:prstDash val="solid"/>
          </a:ln>
        </p:spPr>
      </p:sp>
      <p:sp>
        <p:nvSpPr>
          <p:cNvPr id="17" name="Text 15"/>
          <p:cNvSpPr txBox="1"/>
          <p:nvPr/>
        </p:nvSpPr>
        <p:spPr>
          <a:xfrm>
            <a:off x="9294647" y="1856232"/>
            <a:ext cx="2101520" cy="548640"/>
          </a:xfrm>
          <a:prstGeom prst="rect">
            <a:avLst/>
          </a:prstGeom>
          <a:noFill/>
          <a:ln/>
        </p:spPr>
        <p:txBody>
          <a:bodyPr wrap="square" lIns="0" tIns="0" rIns="0" bIns="0" rtlCol="0" anchor="ctr"/>
          <a:lstStyle/>
          <a:p>
            <a:pPr indent="0" marL="0">
              <a:buNone/>
            </a:pPr>
            <a:r>
              <a:rPr lang="en-US" sz="4000" b="1" dirty="0">
                <a:solidFill>
                  <a:srgbClr val="8A8F9C"/>
                </a:solidFill>
                <a:latin typeface="Calibri" pitchFamily="34" charset="0"/>
                <a:ea typeface="Calibri" pitchFamily="34" charset="-122"/>
                <a:cs typeface="Calibri" pitchFamily="34" charset="-120"/>
              </a:rPr>
              <a:t>1</a:t>
            </a:r>
            <a:endParaRPr lang="en-US" sz="4000" dirty="0"/>
          </a:p>
        </p:txBody>
      </p:sp>
      <p:sp>
        <p:nvSpPr>
          <p:cNvPr id="18" name="Text 16"/>
          <p:cNvSpPr txBox="1"/>
          <p:nvPr/>
        </p:nvSpPr>
        <p:spPr>
          <a:xfrm>
            <a:off x="9294647" y="2441448"/>
            <a:ext cx="2101520" cy="228600"/>
          </a:xfrm>
          <a:prstGeom prst="rect">
            <a:avLst/>
          </a:prstGeom>
          <a:noFill/>
          <a:ln/>
        </p:spPr>
        <p:txBody>
          <a:bodyPr wrap="square" lIns="0" tIns="0" rIns="0" bIns="0" rtlCol="0" anchor="ctr"/>
          <a:lstStyle/>
          <a:p>
            <a:pPr indent="0" marL="0">
              <a:buNone/>
            </a:pPr>
            <a:r>
              <a:rPr lang="en-US" sz="1050" b="1" spc="110" kern="0" dirty="0">
                <a:solidFill>
                  <a:srgbClr val="69718C"/>
                </a:solidFill>
                <a:latin typeface="Calibri" pitchFamily="34" charset="0"/>
                <a:ea typeface="Calibri" pitchFamily="34" charset="-122"/>
                <a:cs typeface="Calibri" pitchFamily="34" charset="-120"/>
              </a:rPr>
              <a:t>PLACEHOLDER</a:t>
            </a:r>
            <a:endParaRPr lang="en-US" sz="1050" dirty="0"/>
          </a:p>
        </p:txBody>
      </p:sp>
      <p:sp>
        <p:nvSpPr>
          <p:cNvPr id="19" name="Text 17"/>
          <p:cNvSpPr txBox="1"/>
          <p:nvPr/>
        </p:nvSpPr>
        <p:spPr>
          <a:xfrm>
            <a:off x="9294647" y="2679192"/>
            <a:ext cx="2101520" cy="411480"/>
          </a:xfrm>
          <a:prstGeom prst="rect">
            <a:avLst/>
          </a:prstGeom>
          <a:noFill/>
          <a:ln/>
        </p:spPr>
        <p:txBody>
          <a:bodyPr wrap="square" lIns="0" tIns="0" rIns="0" bIns="0" rtlCol="0" anchor="ctr"/>
          <a:lstStyle/>
          <a:p>
            <a:pPr indent="0" marL="0">
              <a:lnSpc>
                <a:spcPts val="1500"/>
              </a:lnSpc>
              <a:buNone/>
            </a:pPr>
            <a:r>
              <a:rPr lang="en-US" sz="1150" dirty="0">
                <a:solidFill>
                  <a:srgbClr val="1D2858"/>
                </a:solidFill>
                <a:latin typeface="Calibri" pitchFamily="34" charset="0"/>
                <a:ea typeface="Calibri" pitchFamily="34" charset="-122"/>
                <a:cs typeface="Calibri" pitchFamily="34" charset="-120"/>
              </a:rPr>
              <a:t>The slot is there, the content is not.</a:t>
            </a:r>
            <a:endParaRPr lang="en-US" sz="1150" dirty="0"/>
          </a:p>
        </p:txBody>
      </p:sp>
      <p:sp>
        <p:nvSpPr>
          <p:cNvPr id="20" name="Text 18"/>
          <p:cNvSpPr txBox="1"/>
          <p:nvPr/>
        </p:nvSpPr>
        <p:spPr>
          <a:xfrm>
            <a:off x="566928" y="3566160"/>
            <a:ext cx="1463040" cy="274320"/>
          </a:xfrm>
          <a:prstGeom prst="rect">
            <a:avLst/>
          </a:prstGeom>
          <a:noFill/>
          <a:ln/>
        </p:spPr>
        <p:txBody>
          <a:bodyPr wrap="square" lIns="0" tIns="0" rIns="0" bIns="0" rtlCol="0" anchor="ctr"/>
          <a:lstStyle/>
          <a:p>
            <a:pPr indent="0" marL="0">
              <a:buNone/>
            </a:pPr>
            <a:r>
              <a:rPr lang="en-US" sz="1100" b="1" spc="100" kern="0" dirty="0">
                <a:solidFill>
                  <a:srgbClr val="69718C"/>
                </a:solidFill>
                <a:latin typeface="Calibri" pitchFamily="34" charset="0"/>
                <a:ea typeface="Calibri" pitchFamily="34" charset="-122"/>
                <a:cs typeface="Calibri" pitchFamily="34" charset="-120"/>
              </a:rPr>
              <a:t>PRICES</a:t>
            </a:r>
            <a:endParaRPr lang="en-US" sz="1100" dirty="0"/>
          </a:p>
        </p:txBody>
      </p:sp>
      <p:sp>
        <p:nvSpPr>
          <p:cNvPr id="21" name="Text 19"/>
          <p:cNvSpPr txBox="1"/>
          <p:nvPr/>
        </p:nvSpPr>
        <p:spPr>
          <a:xfrm>
            <a:off x="2167128" y="3538728"/>
            <a:ext cx="9457639" cy="365760"/>
          </a:xfrm>
          <a:prstGeom prst="rect">
            <a:avLst/>
          </a:prstGeom>
          <a:noFill/>
          <a:ln/>
        </p:spPr>
        <p:txBody>
          <a:bodyPr wrap="square" lIns="0" tIns="0" rIns="0" bIns="0" rtlCol="0" anchor="ctr"/>
          <a:lstStyle/>
          <a:p>
            <a:pPr indent="0" marL="0">
              <a:buNone/>
            </a:pPr>
            <a:r>
              <a:rPr lang="en-US" sz="1300" dirty="0">
                <a:solidFill>
                  <a:srgbClr val="1D2858"/>
                </a:solidFill>
                <a:latin typeface="Calibri" pitchFamily="34" charset="0"/>
                <a:ea typeface="Calibri" pitchFamily="34" charset="-122"/>
                <a:cs typeface="Calibri" pitchFamily="34" charset="-120"/>
              </a:rPr>
              <a:t>Fictional and labelled on every line. Production takes the recommended retail price from the ERP list.</a:t>
            </a:r>
            <a:endParaRPr lang="en-US" sz="1300" dirty="0"/>
          </a:p>
        </p:txBody>
      </p:sp>
      <p:sp>
        <p:nvSpPr>
          <p:cNvPr id="22" name="Shape 20"/>
          <p:cNvSpPr/>
          <p:nvPr/>
        </p:nvSpPr>
        <p:spPr>
          <a:xfrm>
            <a:off x="566928" y="4005072"/>
            <a:ext cx="11057839" cy="0"/>
          </a:xfrm>
          <a:prstGeom prst="line">
            <a:avLst/>
          </a:prstGeom>
          <a:noFill/>
          <a:ln w="12700">
            <a:solidFill>
              <a:srgbClr val="DCE3EE"/>
            </a:solidFill>
            <a:prstDash val="solid"/>
          </a:ln>
        </p:spPr>
      </p:sp>
      <p:sp>
        <p:nvSpPr>
          <p:cNvPr id="23" name="Text 21"/>
          <p:cNvSpPr txBox="1"/>
          <p:nvPr/>
        </p:nvSpPr>
        <p:spPr>
          <a:xfrm>
            <a:off x="566928" y="4169664"/>
            <a:ext cx="1463040" cy="274320"/>
          </a:xfrm>
          <a:prstGeom prst="rect">
            <a:avLst/>
          </a:prstGeom>
          <a:noFill/>
          <a:ln/>
        </p:spPr>
        <p:txBody>
          <a:bodyPr wrap="square" lIns="0" tIns="0" rIns="0" bIns="0" rtlCol="0" anchor="ctr"/>
          <a:lstStyle/>
          <a:p>
            <a:pPr indent="0" marL="0">
              <a:buNone/>
            </a:pPr>
            <a:r>
              <a:rPr lang="en-US" sz="1100" b="1" spc="100" kern="0" dirty="0">
                <a:solidFill>
                  <a:srgbClr val="69718C"/>
                </a:solidFill>
                <a:latin typeface="Calibri" pitchFamily="34" charset="0"/>
                <a:ea typeface="Calibri" pitchFamily="34" charset="-122"/>
                <a:cs typeface="Calibri" pitchFamily="34" charset="-120"/>
              </a:rPr>
              <a:t>DOCUMENTS</a:t>
            </a:r>
            <a:endParaRPr lang="en-US" sz="1100" dirty="0"/>
          </a:p>
        </p:txBody>
      </p:sp>
      <p:sp>
        <p:nvSpPr>
          <p:cNvPr id="24" name="Text 22"/>
          <p:cNvSpPr txBox="1"/>
          <p:nvPr/>
        </p:nvSpPr>
        <p:spPr>
          <a:xfrm>
            <a:off x="2167128" y="4142232"/>
            <a:ext cx="9457639" cy="365760"/>
          </a:xfrm>
          <a:prstGeom prst="rect">
            <a:avLst/>
          </a:prstGeom>
          <a:noFill/>
          <a:ln/>
        </p:spPr>
        <p:txBody>
          <a:bodyPr wrap="square" lIns="0" tIns="0" rIns="0" bIns="0" rtlCol="0" anchor="ctr"/>
          <a:lstStyle/>
          <a:p>
            <a:pPr indent="0" marL="0">
              <a:buNone/>
            </a:pPr>
            <a:r>
              <a:rPr lang="en-US" sz="1300" dirty="0">
                <a:solidFill>
                  <a:srgbClr val="1D2858"/>
                </a:solidFill>
                <a:latin typeface="Calibri" pitchFamily="34" charset="0"/>
                <a:ea typeface="Calibri" pitchFamily="34" charset="-122"/>
                <a:cs typeface="Calibri" pitchFamily="34" charset="-120"/>
              </a:rPr>
              <a:t>Real PDFs generated from the configuration, with a TEST DOCUMENT watermark and fictional content.</a:t>
            </a:r>
            <a:endParaRPr lang="en-US" sz="1300" dirty="0"/>
          </a:p>
        </p:txBody>
      </p:sp>
      <p:sp>
        <p:nvSpPr>
          <p:cNvPr id="25" name="Shape 23"/>
          <p:cNvSpPr/>
          <p:nvPr/>
        </p:nvSpPr>
        <p:spPr>
          <a:xfrm>
            <a:off x="566928" y="4608576"/>
            <a:ext cx="11057839" cy="0"/>
          </a:xfrm>
          <a:prstGeom prst="line">
            <a:avLst/>
          </a:prstGeom>
          <a:noFill/>
          <a:ln w="12700">
            <a:solidFill>
              <a:srgbClr val="DCE3EE"/>
            </a:solidFill>
            <a:prstDash val="solid"/>
          </a:ln>
        </p:spPr>
      </p:sp>
      <p:sp>
        <p:nvSpPr>
          <p:cNvPr id="26" name="Text 24"/>
          <p:cNvSpPr txBox="1"/>
          <p:nvPr/>
        </p:nvSpPr>
        <p:spPr>
          <a:xfrm>
            <a:off x="566928" y="4773168"/>
            <a:ext cx="1463040" cy="274320"/>
          </a:xfrm>
          <a:prstGeom prst="rect">
            <a:avLst/>
          </a:prstGeom>
          <a:noFill/>
          <a:ln/>
        </p:spPr>
        <p:txBody>
          <a:bodyPr wrap="square" lIns="0" tIns="0" rIns="0" bIns="0" rtlCol="0" anchor="ctr"/>
          <a:lstStyle/>
          <a:p>
            <a:pPr indent="0" marL="0">
              <a:buNone/>
            </a:pPr>
            <a:r>
              <a:rPr lang="en-US" sz="1100" b="1" spc="100" kern="0" dirty="0">
                <a:solidFill>
                  <a:srgbClr val="69718C"/>
                </a:solidFill>
                <a:latin typeface="Calibri" pitchFamily="34" charset="0"/>
                <a:ea typeface="Calibri" pitchFamily="34" charset="-122"/>
                <a:cs typeface="Calibri" pitchFamily="34" charset="-120"/>
              </a:rPr>
              <a:t>ZOHO CRM</a:t>
            </a:r>
            <a:endParaRPr lang="en-US" sz="1100" dirty="0"/>
          </a:p>
        </p:txBody>
      </p:sp>
      <p:sp>
        <p:nvSpPr>
          <p:cNvPr id="27" name="Text 25"/>
          <p:cNvSpPr txBox="1"/>
          <p:nvPr/>
        </p:nvSpPr>
        <p:spPr>
          <a:xfrm>
            <a:off x="2167128" y="4745736"/>
            <a:ext cx="9457639" cy="365760"/>
          </a:xfrm>
          <a:prstGeom prst="rect">
            <a:avLst/>
          </a:prstGeom>
          <a:noFill/>
          <a:ln/>
        </p:spPr>
        <p:txBody>
          <a:bodyPr wrap="square" lIns="0" tIns="0" rIns="0" bIns="0" rtlCol="0" anchor="ctr"/>
          <a:lstStyle/>
          <a:p>
            <a:pPr indent="0" marL="0">
              <a:buNone/>
            </a:pPr>
            <a:r>
              <a:rPr lang="en-US" sz="1300" dirty="0">
                <a:solidFill>
                  <a:srgbClr val="1D2858"/>
                </a:solidFill>
                <a:latin typeface="Calibri" pitchFamily="34" charset="0"/>
                <a:ea typeface="Calibri" pitchFamily="34" charset="-122"/>
                <a:cs typeface="Calibri" pitchFamily="34" charset="-120"/>
              </a:rPr>
              <a:t>Not connected. Nothing leaves the browser. The backstage panel shows the exact payloads.</a:t>
            </a:r>
            <a:endParaRPr lang="en-US" sz="1300" dirty="0"/>
          </a:p>
        </p:txBody>
      </p:sp>
      <p:sp>
        <p:nvSpPr>
          <p:cNvPr id="28" name="Shape 26"/>
          <p:cNvSpPr/>
          <p:nvPr/>
        </p:nvSpPr>
        <p:spPr>
          <a:xfrm>
            <a:off x="566928" y="5212080"/>
            <a:ext cx="11057839" cy="0"/>
          </a:xfrm>
          <a:prstGeom prst="line">
            <a:avLst/>
          </a:prstGeom>
          <a:noFill/>
          <a:ln w="12700">
            <a:solidFill>
              <a:srgbClr val="DCE3EE"/>
            </a:solidFill>
            <a:prstDash val="solid"/>
          </a:ln>
        </p:spPr>
      </p:sp>
      <p:sp>
        <p:nvSpPr>
          <p:cNvPr id="29" name="Text 27"/>
          <p:cNvSpPr txBox="1"/>
          <p:nvPr/>
        </p:nvSpPr>
        <p:spPr>
          <a:xfrm>
            <a:off x="566928" y="5376672"/>
            <a:ext cx="1463040" cy="274320"/>
          </a:xfrm>
          <a:prstGeom prst="rect">
            <a:avLst/>
          </a:prstGeom>
          <a:noFill/>
          <a:ln/>
        </p:spPr>
        <p:txBody>
          <a:bodyPr wrap="square" lIns="0" tIns="0" rIns="0" bIns="0" rtlCol="0" anchor="ctr"/>
          <a:lstStyle/>
          <a:p>
            <a:pPr indent="0" marL="0">
              <a:buNone/>
            </a:pPr>
            <a:r>
              <a:rPr lang="en-US" sz="1100" b="1" spc="100" kern="0" dirty="0">
                <a:solidFill>
                  <a:srgbClr val="69718C"/>
                </a:solidFill>
                <a:latin typeface="Calibri" pitchFamily="34" charset="0"/>
                <a:ea typeface="Calibri" pitchFamily="34" charset="-122"/>
                <a:cs typeface="Calibri" pitchFamily="34" charset="-120"/>
              </a:rPr>
              <a:t>REFERENCES</a:t>
            </a:r>
            <a:endParaRPr lang="en-US" sz="1100" dirty="0"/>
          </a:p>
        </p:txBody>
      </p:sp>
      <p:sp>
        <p:nvSpPr>
          <p:cNvPr id="30" name="Text 28"/>
          <p:cNvSpPr txBox="1"/>
          <p:nvPr/>
        </p:nvSpPr>
        <p:spPr>
          <a:xfrm>
            <a:off x="2167128" y="5349240"/>
            <a:ext cx="9457639" cy="365760"/>
          </a:xfrm>
          <a:prstGeom prst="rect">
            <a:avLst/>
          </a:prstGeom>
          <a:noFill/>
          <a:ln/>
        </p:spPr>
        <p:txBody>
          <a:bodyPr wrap="square" lIns="0" tIns="0" rIns="0" bIns="0" rtlCol="0" anchor="ctr"/>
          <a:lstStyle/>
          <a:p>
            <a:pPr indent="0" marL="0">
              <a:buNone/>
            </a:pPr>
            <a:r>
              <a:rPr lang="en-US" sz="1300" dirty="0">
                <a:solidFill>
                  <a:srgbClr val="1D2858"/>
                </a:solidFill>
                <a:latin typeface="Calibri" pitchFamily="34" charset="0"/>
                <a:ea typeface="Calibri" pitchFamily="34" charset="-122"/>
                <a:cs typeface="Calibri" pitchFamily="34" charset="-120"/>
              </a:rPr>
              <a:t>Real product codes, except three still marked 'ref. to confirm'.</a:t>
            </a:r>
            <a:endParaRPr lang="en-US" sz="1300" dirty="0"/>
          </a:p>
        </p:txBody>
      </p:sp>
      <p:sp>
        <p:nvSpPr>
          <p:cNvPr id="31" name="Shape 29"/>
          <p:cNvSpPr/>
          <p:nvPr/>
        </p:nvSpPr>
        <p:spPr>
          <a:xfrm>
            <a:off x="566928" y="5815584"/>
            <a:ext cx="11057839" cy="0"/>
          </a:xfrm>
          <a:prstGeom prst="line">
            <a:avLst/>
          </a:prstGeom>
          <a:noFill/>
          <a:ln w="12700">
            <a:solidFill>
              <a:srgbClr val="DCE3EE"/>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CFE"/>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56032"/>
          </a:xfrm>
          <a:prstGeom prst="rect">
            <a:avLst/>
          </a:prstGeom>
          <a:noFill/>
          <a:ln/>
        </p:spPr>
        <p:txBody>
          <a:bodyPr wrap="square" lIns="0" tIns="0" rIns="0" bIns="0" rtlCol="0" anchor="ctr"/>
          <a:lstStyle/>
          <a:p>
            <a:pPr indent="0" marL="0">
              <a:buNone/>
            </a:pPr>
            <a:r>
              <a:rPr lang="en-US" sz="1100" b="1" spc="160" kern="0" dirty="0">
                <a:solidFill>
                  <a:srgbClr val="0079A8"/>
                </a:solidFill>
                <a:latin typeface="Calibri" pitchFamily="34" charset="0"/>
                <a:ea typeface="Calibri" pitchFamily="34" charset="-122"/>
                <a:cs typeface="Calibri" pitchFamily="34" charset="-120"/>
              </a:rPr>
              <a:t>FROM DEMO TO PRODUCT</a:t>
            </a:r>
            <a:endParaRPr lang="en-US" sz="1100" dirty="0"/>
          </a:p>
        </p:txBody>
      </p:sp>
      <p:sp>
        <p:nvSpPr>
          <p:cNvPr id="3" name="Text 1"/>
          <p:cNvSpPr txBox="1"/>
          <p:nvPr/>
        </p:nvSpPr>
        <p:spPr>
          <a:xfrm>
            <a:off x="566928" y="658368"/>
            <a:ext cx="11057839" cy="822960"/>
          </a:xfrm>
          <a:prstGeom prst="rect">
            <a:avLst/>
          </a:prstGeom>
          <a:noFill/>
          <a:ln/>
        </p:spPr>
        <p:txBody>
          <a:bodyPr wrap="square" lIns="0" tIns="0" rIns="0" bIns="0" rtlCol="0" anchor="t"/>
          <a:lstStyle/>
          <a:p>
            <a:pPr indent="0" marL="0">
              <a:buNone/>
            </a:pPr>
            <a:r>
              <a:rPr lang="en-US" sz="3400" b="1" dirty="0">
                <a:solidFill>
                  <a:srgbClr val="131C3D"/>
                </a:solidFill>
                <a:latin typeface="Calibri" pitchFamily="34" charset="0"/>
                <a:ea typeface="Calibri" pitchFamily="34" charset="-122"/>
                <a:cs typeface="Calibri" pitchFamily="34" charset="-120"/>
              </a:rPr>
              <a:t>What we need, and from whom</a:t>
            </a:r>
            <a:endParaRPr lang="en-US" sz="3400" dirty="0"/>
          </a:p>
        </p:txBody>
      </p:sp>
      <p:sp>
        <p:nvSpPr>
          <p:cNvPr id="4" name="Shape 2"/>
          <p:cNvSpPr/>
          <p:nvPr/>
        </p:nvSpPr>
        <p:spPr>
          <a:xfrm>
            <a:off x="566928" y="1783080"/>
            <a:ext cx="384048" cy="384048"/>
          </a:xfrm>
          <a:prstGeom prst="ellipse">
            <a:avLst/>
          </a:prstGeom>
          <a:solidFill>
            <a:srgbClr val="F2F7FC"/>
          </a:solidFill>
          <a:ln w="12700">
            <a:solidFill>
              <a:srgbClr val="00AEEF"/>
            </a:solidFill>
            <a:prstDash val="solid"/>
          </a:ln>
        </p:spPr>
      </p:sp>
      <p:sp>
        <p:nvSpPr>
          <p:cNvPr id="5" name="Text 3"/>
          <p:cNvSpPr txBox="1"/>
          <p:nvPr/>
        </p:nvSpPr>
        <p:spPr>
          <a:xfrm>
            <a:off x="566928" y="1783080"/>
            <a:ext cx="384048" cy="384048"/>
          </a:xfrm>
          <a:prstGeom prst="rect">
            <a:avLst/>
          </a:prstGeom>
          <a:noFill/>
          <a:ln/>
        </p:spPr>
        <p:txBody>
          <a:bodyPr wrap="square" lIns="0" tIns="0" rIns="0" bIns="0" rtlCol="0" anchor="ctr"/>
          <a:lstStyle/>
          <a:p>
            <a:pPr algn="ctr" indent="0" marL="0">
              <a:buNone/>
            </a:pPr>
            <a:r>
              <a:rPr lang="en-US" sz="1100" b="1" dirty="0">
                <a:solidFill>
                  <a:srgbClr val="0079A8"/>
                </a:solidFill>
                <a:latin typeface="Calibri" pitchFamily="34" charset="0"/>
                <a:ea typeface="Calibri" pitchFamily="34" charset="-122"/>
                <a:cs typeface="Calibri" pitchFamily="34" charset="-120"/>
              </a:rPr>
              <a:t>01</a:t>
            </a:r>
            <a:endParaRPr lang="en-US" sz="1100" dirty="0"/>
          </a:p>
        </p:txBody>
      </p:sp>
      <p:sp>
        <p:nvSpPr>
          <p:cNvPr id="6" name="Text 4"/>
          <p:cNvSpPr txBox="1"/>
          <p:nvPr/>
        </p:nvSpPr>
        <p:spPr>
          <a:xfrm>
            <a:off x="1161288" y="1801368"/>
            <a:ext cx="8726119" cy="411480"/>
          </a:xfrm>
          <a:prstGeom prst="rect">
            <a:avLst/>
          </a:prstGeom>
          <a:noFill/>
          <a:ln/>
        </p:spPr>
        <p:txBody>
          <a:bodyPr wrap="square" lIns="0" tIns="0" rIns="0" bIns="0" rtlCol="0" anchor="ctr"/>
          <a:lstStyle/>
          <a:p>
            <a:pPr indent="0" marL="0">
              <a:lnSpc>
                <a:spcPts val="1800"/>
              </a:lnSpc>
              <a:buNone/>
            </a:pPr>
            <a:r>
              <a:rPr lang="en-US" sz="1400" dirty="0">
                <a:solidFill>
                  <a:srgbClr val="1D2858"/>
                </a:solidFill>
                <a:latin typeface="Calibri" pitchFamily="34" charset="0"/>
                <a:ea typeface="Calibri" pitchFamily="34" charset="-122"/>
                <a:cs typeface="Calibri" pitchFamily="34" charset="-120"/>
              </a:rPr>
              <a:t>Real prices, per country, from the ERP price list.</a:t>
            </a:r>
            <a:endParaRPr lang="en-US" sz="1400" dirty="0"/>
          </a:p>
        </p:txBody>
      </p:sp>
      <p:sp>
        <p:nvSpPr>
          <p:cNvPr id="7" name="Text 5"/>
          <p:cNvSpPr txBox="1"/>
          <p:nvPr/>
        </p:nvSpPr>
        <p:spPr>
          <a:xfrm>
            <a:off x="9978847" y="1828800"/>
            <a:ext cx="1645920" cy="274320"/>
          </a:xfrm>
          <a:prstGeom prst="rect">
            <a:avLst/>
          </a:prstGeom>
          <a:noFill/>
          <a:ln/>
        </p:spPr>
        <p:txBody>
          <a:bodyPr wrap="square" lIns="0" tIns="0" rIns="0" bIns="0" rtlCol="0" anchor="ctr"/>
          <a:lstStyle/>
          <a:p>
            <a:pPr algn="r" indent="0" marL="0">
              <a:buNone/>
            </a:pPr>
            <a:r>
              <a:rPr lang="en-US" sz="1150" b="1" dirty="0">
                <a:solidFill>
                  <a:srgbClr val="69718C"/>
                </a:solidFill>
                <a:latin typeface="Calibri" pitchFamily="34" charset="0"/>
                <a:ea typeface="Calibri" pitchFamily="34" charset="-122"/>
                <a:cs typeface="Calibri" pitchFamily="34" charset="-120"/>
              </a:rPr>
              <a:t>Pricing / ERP</a:t>
            </a:r>
            <a:endParaRPr lang="en-US" sz="1150" dirty="0"/>
          </a:p>
        </p:txBody>
      </p:sp>
      <p:sp>
        <p:nvSpPr>
          <p:cNvPr id="8" name="Shape 6"/>
          <p:cNvSpPr/>
          <p:nvPr/>
        </p:nvSpPr>
        <p:spPr>
          <a:xfrm>
            <a:off x="566928" y="2313432"/>
            <a:ext cx="11057839" cy="0"/>
          </a:xfrm>
          <a:prstGeom prst="line">
            <a:avLst/>
          </a:prstGeom>
          <a:noFill/>
          <a:ln w="12700">
            <a:solidFill>
              <a:srgbClr val="DCE3EE"/>
            </a:solidFill>
            <a:prstDash val="solid"/>
          </a:ln>
        </p:spPr>
      </p:sp>
      <p:sp>
        <p:nvSpPr>
          <p:cNvPr id="9" name="Shape 7"/>
          <p:cNvSpPr/>
          <p:nvPr/>
        </p:nvSpPr>
        <p:spPr>
          <a:xfrm>
            <a:off x="566928" y="2496312"/>
            <a:ext cx="384048" cy="384048"/>
          </a:xfrm>
          <a:prstGeom prst="ellipse">
            <a:avLst/>
          </a:prstGeom>
          <a:solidFill>
            <a:srgbClr val="F2F7FC"/>
          </a:solidFill>
          <a:ln w="12700">
            <a:solidFill>
              <a:srgbClr val="00AEEF"/>
            </a:solidFill>
            <a:prstDash val="solid"/>
          </a:ln>
        </p:spPr>
      </p:sp>
      <p:sp>
        <p:nvSpPr>
          <p:cNvPr id="10" name="Text 8"/>
          <p:cNvSpPr txBox="1"/>
          <p:nvPr/>
        </p:nvSpPr>
        <p:spPr>
          <a:xfrm>
            <a:off x="566928" y="2496312"/>
            <a:ext cx="384048" cy="384048"/>
          </a:xfrm>
          <a:prstGeom prst="rect">
            <a:avLst/>
          </a:prstGeom>
          <a:noFill/>
          <a:ln/>
        </p:spPr>
        <p:txBody>
          <a:bodyPr wrap="square" lIns="0" tIns="0" rIns="0" bIns="0" rtlCol="0" anchor="ctr"/>
          <a:lstStyle/>
          <a:p>
            <a:pPr algn="ctr" indent="0" marL="0">
              <a:buNone/>
            </a:pPr>
            <a:r>
              <a:rPr lang="en-US" sz="1100" b="1" dirty="0">
                <a:solidFill>
                  <a:srgbClr val="0079A8"/>
                </a:solidFill>
                <a:latin typeface="Calibri" pitchFamily="34" charset="0"/>
                <a:ea typeface="Calibri" pitchFamily="34" charset="-122"/>
                <a:cs typeface="Calibri" pitchFamily="34" charset="-120"/>
              </a:rPr>
              <a:t>02</a:t>
            </a:r>
            <a:endParaRPr lang="en-US" sz="1100" dirty="0"/>
          </a:p>
        </p:txBody>
      </p:sp>
      <p:sp>
        <p:nvSpPr>
          <p:cNvPr id="11" name="Text 9"/>
          <p:cNvSpPr txBox="1"/>
          <p:nvPr/>
        </p:nvSpPr>
        <p:spPr>
          <a:xfrm>
            <a:off x="1161288" y="2514600"/>
            <a:ext cx="8726119" cy="411480"/>
          </a:xfrm>
          <a:prstGeom prst="rect">
            <a:avLst/>
          </a:prstGeom>
          <a:noFill/>
          <a:ln/>
        </p:spPr>
        <p:txBody>
          <a:bodyPr wrap="square" lIns="0" tIns="0" rIns="0" bIns="0" rtlCol="0" anchor="ctr"/>
          <a:lstStyle/>
          <a:p>
            <a:pPr indent="0" marL="0">
              <a:lnSpc>
                <a:spcPts val="1800"/>
              </a:lnSpc>
              <a:buNone/>
            </a:pPr>
            <a:r>
              <a:rPr lang="en-US" sz="1400" dirty="0">
                <a:solidFill>
                  <a:srgbClr val="1D2858"/>
                </a:solidFill>
                <a:latin typeface="Calibri" pitchFamily="34" charset="0"/>
                <a:ea typeface="Calibri" pitchFamily="34" charset="-122"/>
                <a:cs typeface="Calibri" pitchFamily="34" charset="-120"/>
              </a:rPr>
              <a:t>An owner for the documentation matrix — and a document as a required field whenever a product code is created.</a:t>
            </a:r>
            <a:endParaRPr lang="en-US" sz="1400" dirty="0"/>
          </a:p>
        </p:txBody>
      </p:sp>
      <p:sp>
        <p:nvSpPr>
          <p:cNvPr id="12" name="Text 10"/>
          <p:cNvSpPr txBox="1"/>
          <p:nvPr/>
        </p:nvSpPr>
        <p:spPr>
          <a:xfrm>
            <a:off x="9978847" y="2542032"/>
            <a:ext cx="1645920" cy="274320"/>
          </a:xfrm>
          <a:prstGeom prst="rect">
            <a:avLst/>
          </a:prstGeom>
          <a:noFill/>
          <a:ln/>
        </p:spPr>
        <p:txBody>
          <a:bodyPr wrap="square" lIns="0" tIns="0" rIns="0" bIns="0" rtlCol="0" anchor="ctr"/>
          <a:lstStyle/>
          <a:p>
            <a:pPr algn="r" indent="0" marL="0">
              <a:buNone/>
            </a:pPr>
            <a:r>
              <a:rPr lang="en-US" sz="1150" b="1" dirty="0">
                <a:solidFill>
                  <a:srgbClr val="69718C"/>
                </a:solidFill>
                <a:latin typeface="Calibri" pitchFamily="34" charset="0"/>
                <a:ea typeface="Calibri" pitchFamily="34" charset="-122"/>
                <a:cs typeface="Calibri" pitchFamily="34" charset="-120"/>
              </a:rPr>
              <a:t>Technical</a:t>
            </a:r>
            <a:endParaRPr lang="en-US" sz="1150" dirty="0"/>
          </a:p>
        </p:txBody>
      </p:sp>
      <p:sp>
        <p:nvSpPr>
          <p:cNvPr id="13" name="Shape 11"/>
          <p:cNvSpPr/>
          <p:nvPr/>
        </p:nvSpPr>
        <p:spPr>
          <a:xfrm>
            <a:off x="566928" y="3026664"/>
            <a:ext cx="11057839" cy="0"/>
          </a:xfrm>
          <a:prstGeom prst="line">
            <a:avLst/>
          </a:prstGeom>
          <a:noFill/>
          <a:ln w="12700">
            <a:solidFill>
              <a:srgbClr val="DCE3EE"/>
            </a:solidFill>
            <a:prstDash val="solid"/>
          </a:ln>
        </p:spPr>
      </p:sp>
      <p:sp>
        <p:nvSpPr>
          <p:cNvPr id="14" name="Shape 12"/>
          <p:cNvSpPr/>
          <p:nvPr/>
        </p:nvSpPr>
        <p:spPr>
          <a:xfrm>
            <a:off x="566928" y="3209544"/>
            <a:ext cx="384048" cy="384048"/>
          </a:xfrm>
          <a:prstGeom prst="ellipse">
            <a:avLst/>
          </a:prstGeom>
          <a:solidFill>
            <a:srgbClr val="F2F7FC"/>
          </a:solidFill>
          <a:ln w="12700">
            <a:solidFill>
              <a:srgbClr val="00AEEF"/>
            </a:solidFill>
            <a:prstDash val="solid"/>
          </a:ln>
        </p:spPr>
      </p:sp>
      <p:sp>
        <p:nvSpPr>
          <p:cNvPr id="15" name="Text 13"/>
          <p:cNvSpPr txBox="1"/>
          <p:nvPr/>
        </p:nvSpPr>
        <p:spPr>
          <a:xfrm>
            <a:off x="566928" y="3209544"/>
            <a:ext cx="384048" cy="384048"/>
          </a:xfrm>
          <a:prstGeom prst="rect">
            <a:avLst/>
          </a:prstGeom>
          <a:noFill/>
          <a:ln/>
        </p:spPr>
        <p:txBody>
          <a:bodyPr wrap="square" lIns="0" tIns="0" rIns="0" bIns="0" rtlCol="0" anchor="ctr"/>
          <a:lstStyle/>
          <a:p>
            <a:pPr algn="ctr" indent="0" marL="0">
              <a:buNone/>
            </a:pPr>
            <a:r>
              <a:rPr lang="en-US" sz="1100" b="1" dirty="0">
                <a:solidFill>
                  <a:srgbClr val="0079A8"/>
                </a:solidFill>
                <a:latin typeface="Calibri" pitchFamily="34" charset="0"/>
                <a:ea typeface="Calibri" pitchFamily="34" charset="-122"/>
                <a:cs typeface="Calibri" pitchFamily="34" charset="-120"/>
              </a:rPr>
              <a:t>03</a:t>
            </a:r>
            <a:endParaRPr lang="en-US" sz="1100" dirty="0"/>
          </a:p>
        </p:txBody>
      </p:sp>
      <p:sp>
        <p:nvSpPr>
          <p:cNvPr id="16" name="Text 14"/>
          <p:cNvSpPr txBox="1"/>
          <p:nvPr/>
        </p:nvSpPr>
        <p:spPr>
          <a:xfrm>
            <a:off x="1161288" y="3227832"/>
            <a:ext cx="8726119" cy="411480"/>
          </a:xfrm>
          <a:prstGeom prst="rect">
            <a:avLst/>
          </a:prstGeom>
          <a:noFill/>
          <a:ln/>
        </p:spPr>
        <p:txBody>
          <a:bodyPr wrap="square" lIns="0" tIns="0" rIns="0" bIns="0" rtlCol="0" anchor="ctr"/>
          <a:lstStyle/>
          <a:p>
            <a:pPr indent="0" marL="0">
              <a:lnSpc>
                <a:spcPts val="1800"/>
              </a:lnSpc>
              <a:buNone/>
            </a:pPr>
            <a:r>
              <a:rPr lang="en-US" sz="1400" dirty="0">
                <a:solidFill>
                  <a:srgbClr val="1D2858"/>
                </a:solidFill>
                <a:latin typeface="Calibri" pitchFamily="34" charset="0"/>
                <a:ea typeface="Calibri" pitchFamily="34" charset="-122"/>
                <a:cs typeface="Calibri" pitchFamily="34" charset="-120"/>
              </a:rPr>
              <a:t>Go-ahead to connect Zoho: Leads, Quotes, Deals, routing by postcode.</a:t>
            </a:r>
            <a:endParaRPr lang="en-US" sz="1400" dirty="0"/>
          </a:p>
        </p:txBody>
      </p:sp>
      <p:sp>
        <p:nvSpPr>
          <p:cNvPr id="17" name="Text 15"/>
          <p:cNvSpPr txBox="1"/>
          <p:nvPr/>
        </p:nvSpPr>
        <p:spPr>
          <a:xfrm>
            <a:off x="9978847" y="3255264"/>
            <a:ext cx="1645920" cy="274320"/>
          </a:xfrm>
          <a:prstGeom prst="rect">
            <a:avLst/>
          </a:prstGeom>
          <a:noFill/>
          <a:ln/>
        </p:spPr>
        <p:txBody>
          <a:bodyPr wrap="square" lIns="0" tIns="0" rIns="0" bIns="0" rtlCol="0" anchor="ctr"/>
          <a:lstStyle/>
          <a:p>
            <a:pPr algn="r" indent="0" marL="0">
              <a:buNone/>
            </a:pPr>
            <a:r>
              <a:rPr lang="en-US" sz="1150" b="1" dirty="0">
                <a:solidFill>
                  <a:srgbClr val="69718C"/>
                </a:solidFill>
                <a:latin typeface="Calibri" pitchFamily="34" charset="0"/>
                <a:ea typeface="Calibri" pitchFamily="34" charset="-122"/>
                <a:cs typeface="Calibri" pitchFamily="34" charset="-120"/>
              </a:rPr>
              <a:t>Sales / IT</a:t>
            </a:r>
            <a:endParaRPr lang="en-US" sz="1150" dirty="0"/>
          </a:p>
        </p:txBody>
      </p:sp>
      <p:sp>
        <p:nvSpPr>
          <p:cNvPr id="18" name="Shape 16"/>
          <p:cNvSpPr/>
          <p:nvPr/>
        </p:nvSpPr>
        <p:spPr>
          <a:xfrm>
            <a:off x="566928" y="3739896"/>
            <a:ext cx="11057839" cy="0"/>
          </a:xfrm>
          <a:prstGeom prst="line">
            <a:avLst/>
          </a:prstGeom>
          <a:noFill/>
          <a:ln w="12700">
            <a:solidFill>
              <a:srgbClr val="DCE3EE"/>
            </a:solidFill>
            <a:prstDash val="solid"/>
          </a:ln>
        </p:spPr>
      </p:sp>
      <p:sp>
        <p:nvSpPr>
          <p:cNvPr id="19" name="Shape 17"/>
          <p:cNvSpPr/>
          <p:nvPr/>
        </p:nvSpPr>
        <p:spPr>
          <a:xfrm>
            <a:off x="566928" y="3922776"/>
            <a:ext cx="384048" cy="384048"/>
          </a:xfrm>
          <a:prstGeom prst="ellipse">
            <a:avLst/>
          </a:prstGeom>
          <a:solidFill>
            <a:srgbClr val="F2F7FC"/>
          </a:solidFill>
          <a:ln w="12700">
            <a:solidFill>
              <a:srgbClr val="00AEEF"/>
            </a:solidFill>
            <a:prstDash val="solid"/>
          </a:ln>
        </p:spPr>
      </p:sp>
      <p:sp>
        <p:nvSpPr>
          <p:cNvPr id="20" name="Text 18"/>
          <p:cNvSpPr txBox="1"/>
          <p:nvPr/>
        </p:nvSpPr>
        <p:spPr>
          <a:xfrm>
            <a:off x="566928" y="3922776"/>
            <a:ext cx="384048" cy="384048"/>
          </a:xfrm>
          <a:prstGeom prst="rect">
            <a:avLst/>
          </a:prstGeom>
          <a:noFill/>
          <a:ln/>
        </p:spPr>
        <p:txBody>
          <a:bodyPr wrap="square" lIns="0" tIns="0" rIns="0" bIns="0" rtlCol="0" anchor="ctr"/>
          <a:lstStyle/>
          <a:p>
            <a:pPr algn="ctr" indent="0" marL="0">
              <a:buNone/>
            </a:pPr>
            <a:r>
              <a:rPr lang="en-US" sz="1100" b="1" dirty="0">
                <a:solidFill>
                  <a:srgbClr val="0079A8"/>
                </a:solidFill>
                <a:latin typeface="Calibri" pitchFamily="34" charset="0"/>
                <a:ea typeface="Calibri" pitchFamily="34" charset="-122"/>
                <a:cs typeface="Calibri" pitchFamily="34" charset="-120"/>
              </a:rPr>
              <a:t>04</a:t>
            </a:r>
            <a:endParaRPr lang="en-US" sz="1100" dirty="0"/>
          </a:p>
        </p:txBody>
      </p:sp>
      <p:sp>
        <p:nvSpPr>
          <p:cNvPr id="21" name="Text 19"/>
          <p:cNvSpPr txBox="1"/>
          <p:nvPr/>
        </p:nvSpPr>
        <p:spPr>
          <a:xfrm>
            <a:off x="1161288" y="3941064"/>
            <a:ext cx="8726119" cy="411480"/>
          </a:xfrm>
          <a:prstGeom prst="rect">
            <a:avLst/>
          </a:prstGeom>
          <a:noFill/>
          <a:ln/>
        </p:spPr>
        <p:txBody>
          <a:bodyPr wrap="square" lIns="0" tIns="0" rIns="0" bIns="0" rtlCol="0" anchor="ctr"/>
          <a:lstStyle/>
          <a:p>
            <a:pPr indent="0" marL="0">
              <a:lnSpc>
                <a:spcPts val="1800"/>
              </a:lnSpc>
              <a:buNone/>
            </a:pPr>
            <a:r>
              <a:rPr lang="en-US" sz="1400" dirty="0">
                <a:solidFill>
                  <a:srgbClr val="1D2858"/>
                </a:solidFill>
                <a:latin typeface="Calibri" pitchFamily="34" charset="0"/>
                <a:ea typeface="Calibri" pitchFamily="34" charset="-122"/>
                <a:cs typeface="Calibri" pitchFamily="34" charset="-120"/>
              </a:rPr>
              <a:t>Sign off how the saving band is built: a degree-day model per market, plus current energy prices.</a:t>
            </a:r>
            <a:endParaRPr lang="en-US" sz="1400" dirty="0"/>
          </a:p>
        </p:txBody>
      </p:sp>
      <p:sp>
        <p:nvSpPr>
          <p:cNvPr id="22" name="Text 20"/>
          <p:cNvSpPr txBox="1"/>
          <p:nvPr/>
        </p:nvSpPr>
        <p:spPr>
          <a:xfrm>
            <a:off x="9978847" y="3968496"/>
            <a:ext cx="1645920" cy="274320"/>
          </a:xfrm>
          <a:prstGeom prst="rect">
            <a:avLst/>
          </a:prstGeom>
          <a:noFill/>
          <a:ln/>
        </p:spPr>
        <p:txBody>
          <a:bodyPr wrap="square" lIns="0" tIns="0" rIns="0" bIns="0" rtlCol="0" anchor="ctr"/>
          <a:lstStyle/>
          <a:p>
            <a:pPr algn="r" indent="0" marL="0">
              <a:buNone/>
            </a:pPr>
            <a:r>
              <a:rPr lang="en-US" sz="1150" b="1" dirty="0">
                <a:solidFill>
                  <a:srgbClr val="69718C"/>
                </a:solidFill>
                <a:latin typeface="Calibri" pitchFamily="34" charset="0"/>
                <a:ea typeface="Calibri" pitchFamily="34" charset="-122"/>
                <a:cs typeface="Calibri" pitchFamily="34" charset="-120"/>
              </a:rPr>
              <a:t>Technical</a:t>
            </a:r>
            <a:endParaRPr lang="en-US" sz="1150" dirty="0"/>
          </a:p>
        </p:txBody>
      </p:sp>
      <p:sp>
        <p:nvSpPr>
          <p:cNvPr id="23" name="Shape 21"/>
          <p:cNvSpPr/>
          <p:nvPr/>
        </p:nvSpPr>
        <p:spPr>
          <a:xfrm>
            <a:off x="566928" y="4453128"/>
            <a:ext cx="11057839" cy="0"/>
          </a:xfrm>
          <a:prstGeom prst="line">
            <a:avLst/>
          </a:prstGeom>
          <a:noFill/>
          <a:ln w="12700">
            <a:solidFill>
              <a:srgbClr val="DCE3EE"/>
            </a:solidFill>
            <a:prstDash val="solid"/>
          </a:ln>
        </p:spPr>
      </p:sp>
      <p:sp>
        <p:nvSpPr>
          <p:cNvPr id="24" name="Shape 22"/>
          <p:cNvSpPr/>
          <p:nvPr/>
        </p:nvSpPr>
        <p:spPr>
          <a:xfrm>
            <a:off x="566928" y="4636008"/>
            <a:ext cx="384048" cy="384048"/>
          </a:xfrm>
          <a:prstGeom prst="ellipse">
            <a:avLst/>
          </a:prstGeom>
          <a:solidFill>
            <a:srgbClr val="F2F7FC"/>
          </a:solidFill>
          <a:ln w="12700">
            <a:solidFill>
              <a:srgbClr val="00AEEF"/>
            </a:solidFill>
            <a:prstDash val="solid"/>
          </a:ln>
        </p:spPr>
      </p:sp>
      <p:sp>
        <p:nvSpPr>
          <p:cNvPr id="25" name="Text 23"/>
          <p:cNvSpPr txBox="1"/>
          <p:nvPr/>
        </p:nvSpPr>
        <p:spPr>
          <a:xfrm>
            <a:off x="566928" y="4636008"/>
            <a:ext cx="384048" cy="384048"/>
          </a:xfrm>
          <a:prstGeom prst="rect">
            <a:avLst/>
          </a:prstGeom>
          <a:noFill/>
          <a:ln/>
        </p:spPr>
        <p:txBody>
          <a:bodyPr wrap="square" lIns="0" tIns="0" rIns="0" bIns="0" rtlCol="0" anchor="ctr"/>
          <a:lstStyle/>
          <a:p>
            <a:pPr algn="ctr" indent="0" marL="0">
              <a:buNone/>
            </a:pPr>
            <a:r>
              <a:rPr lang="en-US" sz="1100" b="1" dirty="0">
                <a:solidFill>
                  <a:srgbClr val="0079A8"/>
                </a:solidFill>
                <a:latin typeface="Calibri" pitchFamily="34" charset="0"/>
                <a:ea typeface="Calibri" pitchFamily="34" charset="-122"/>
                <a:cs typeface="Calibri" pitchFamily="34" charset="-120"/>
              </a:rPr>
              <a:t>05</a:t>
            </a:r>
            <a:endParaRPr lang="en-US" sz="1100" dirty="0"/>
          </a:p>
        </p:txBody>
      </p:sp>
      <p:sp>
        <p:nvSpPr>
          <p:cNvPr id="26" name="Text 24"/>
          <p:cNvSpPr txBox="1"/>
          <p:nvPr/>
        </p:nvSpPr>
        <p:spPr>
          <a:xfrm>
            <a:off x="1161288" y="4654296"/>
            <a:ext cx="8726119" cy="411480"/>
          </a:xfrm>
          <a:prstGeom prst="rect">
            <a:avLst/>
          </a:prstGeom>
          <a:noFill/>
          <a:ln/>
        </p:spPr>
        <p:txBody>
          <a:bodyPr wrap="square" lIns="0" tIns="0" rIns="0" bIns="0" rtlCol="0" anchor="ctr"/>
          <a:lstStyle/>
          <a:p>
            <a:pPr indent="0" marL="0">
              <a:lnSpc>
                <a:spcPts val="1800"/>
              </a:lnSpc>
              <a:buNone/>
            </a:pPr>
            <a:r>
              <a:rPr lang="en-US" sz="1400" dirty="0">
                <a:solidFill>
                  <a:srgbClr val="1D2858"/>
                </a:solidFill>
                <a:latin typeface="Calibri" pitchFamily="34" charset="0"/>
                <a:ea typeface="Calibri" pitchFamily="34" charset="-122"/>
                <a:cs typeface="Calibri" pitchFamily="34" charset="-120"/>
              </a:rPr>
              <a:t>The official icon library for the diagram, and the short videos.</a:t>
            </a:r>
            <a:endParaRPr lang="en-US" sz="1400" dirty="0"/>
          </a:p>
        </p:txBody>
      </p:sp>
      <p:sp>
        <p:nvSpPr>
          <p:cNvPr id="27" name="Text 25"/>
          <p:cNvSpPr txBox="1"/>
          <p:nvPr/>
        </p:nvSpPr>
        <p:spPr>
          <a:xfrm>
            <a:off x="9978847" y="4681728"/>
            <a:ext cx="1645920" cy="274320"/>
          </a:xfrm>
          <a:prstGeom prst="rect">
            <a:avLst/>
          </a:prstGeom>
          <a:noFill/>
          <a:ln/>
        </p:spPr>
        <p:txBody>
          <a:bodyPr wrap="square" lIns="0" tIns="0" rIns="0" bIns="0" rtlCol="0" anchor="ctr"/>
          <a:lstStyle/>
          <a:p>
            <a:pPr algn="r" indent="0" marL="0">
              <a:buNone/>
            </a:pPr>
            <a:r>
              <a:rPr lang="en-US" sz="1150" b="1" dirty="0">
                <a:solidFill>
                  <a:srgbClr val="69718C"/>
                </a:solidFill>
                <a:latin typeface="Calibri" pitchFamily="34" charset="0"/>
                <a:ea typeface="Calibri" pitchFamily="34" charset="-122"/>
                <a:cs typeface="Calibri" pitchFamily="34" charset="-120"/>
              </a:rPr>
              <a:t>Marketing</a:t>
            </a:r>
            <a:endParaRPr lang="en-US" sz="1150" dirty="0"/>
          </a:p>
        </p:txBody>
      </p:sp>
      <p:sp>
        <p:nvSpPr>
          <p:cNvPr id="28" name="Shape 26"/>
          <p:cNvSpPr/>
          <p:nvPr/>
        </p:nvSpPr>
        <p:spPr>
          <a:xfrm>
            <a:off x="566928" y="5166360"/>
            <a:ext cx="11057839" cy="0"/>
          </a:xfrm>
          <a:prstGeom prst="line">
            <a:avLst/>
          </a:prstGeom>
          <a:noFill/>
          <a:ln w="12700">
            <a:solidFill>
              <a:srgbClr val="DCE3EE"/>
            </a:solidFill>
            <a:prstDash val="solid"/>
          </a:ln>
        </p:spPr>
      </p:sp>
      <p:sp>
        <p:nvSpPr>
          <p:cNvPr id="29" name="Shape 27"/>
          <p:cNvSpPr/>
          <p:nvPr/>
        </p:nvSpPr>
        <p:spPr>
          <a:xfrm>
            <a:off x="566928" y="5349240"/>
            <a:ext cx="384048" cy="384048"/>
          </a:xfrm>
          <a:prstGeom prst="ellipse">
            <a:avLst/>
          </a:prstGeom>
          <a:solidFill>
            <a:srgbClr val="F2F7FC"/>
          </a:solidFill>
          <a:ln w="12700">
            <a:solidFill>
              <a:srgbClr val="00AEEF"/>
            </a:solidFill>
            <a:prstDash val="solid"/>
          </a:ln>
        </p:spPr>
      </p:sp>
      <p:sp>
        <p:nvSpPr>
          <p:cNvPr id="30" name="Text 28"/>
          <p:cNvSpPr txBox="1"/>
          <p:nvPr/>
        </p:nvSpPr>
        <p:spPr>
          <a:xfrm>
            <a:off x="566928" y="5349240"/>
            <a:ext cx="384048" cy="384048"/>
          </a:xfrm>
          <a:prstGeom prst="rect">
            <a:avLst/>
          </a:prstGeom>
          <a:noFill/>
          <a:ln/>
        </p:spPr>
        <p:txBody>
          <a:bodyPr wrap="square" lIns="0" tIns="0" rIns="0" bIns="0" rtlCol="0" anchor="ctr"/>
          <a:lstStyle/>
          <a:p>
            <a:pPr algn="ctr" indent="0" marL="0">
              <a:buNone/>
            </a:pPr>
            <a:r>
              <a:rPr lang="en-US" sz="1100" b="1" dirty="0">
                <a:solidFill>
                  <a:srgbClr val="0079A8"/>
                </a:solidFill>
                <a:latin typeface="Calibri" pitchFamily="34" charset="0"/>
                <a:ea typeface="Calibri" pitchFamily="34" charset="-122"/>
                <a:cs typeface="Calibri" pitchFamily="34" charset="-120"/>
              </a:rPr>
              <a:t>06</a:t>
            </a:r>
            <a:endParaRPr lang="en-US" sz="1100" dirty="0"/>
          </a:p>
        </p:txBody>
      </p:sp>
      <p:sp>
        <p:nvSpPr>
          <p:cNvPr id="31" name="Text 29"/>
          <p:cNvSpPr txBox="1"/>
          <p:nvPr/>
        </p:nvSpPr>
        <p:spPr>
          <a:xfrm>
            <a:off x="1161288" y="5367528"/>
            <a:ext cx="8726119" cy="411480"/>
          </a:xfrm>
          <a:prstGeom prst="rect">
            <a:avLst/>
          </a:prstGeom>
          <a:noFill/>
          <a:ln/>
        </p:spPr>
        <p:txBody>
          <a:bodyPr wrap="square" lIns="0" tIns="0" rIns="0" bIns="0" rtlCol="0" anchor="ctr"/>
          <a:lstStyle/>
          <a:p>
            <a:pPr indent="0" marL="0">
              <a:lnSpc>
                <a:spcPts val="1800"/>
              </a:lnSpc>
              <a:buNone/>
            </a:pPr>
            <a:r>
              <a:rPr lang="en-US" sz="1400" dirty="0">
                <a:solidFill>
                  <a:srgbClr val="1D2858"/>
                </a:solidFill>
                <a:latin typeface="Calibri" pitchFamily="34" charset="0"/>
                <a:ea typeface="Calibri" pitchFamily="34" charset="-122"/>
                <a:cs typeface="Calibri" pitchFamily="34" charset="-120"/>
              </a:rPr>
              <a:t>Country availability in the catalogue, so one tool can serve several markets.</a:t>
            </a:r>
            <a:endParaRPr lang="en-US" sz="1400" dirty="0"/>
          </a:p>
        </p:txBody>
      </p:sp>
      <p:sp>
        <p:nvSpPr>
          <p:cNvPr id="32" name="Text 30"/>
          <p:cNvSpPr txBox="1"/>
          <p:nvPr/>
        </p:nvSpPr>
        <p:spPr>
          <a:xfrm>
            <a:off x="9978847" y="5394960"/>
            <a:ext cx="1645920" cy="274320"/>
          </a:xfrm>
          <a:prstGeom prst="rect">
            <a:avLst/>
          </a:prstGeom>
          <a:noFill/>
          <a:ln/>
        </p:spPr>
        <p:txBody>
          <a:bodyPr wrap="square" lIns="0" tIns="0" rIns="0" bIns="0" rtlCol="0" anchor="ctr"/>
          <a:lstStyle/>
          <a:p>
            <a:pPr algn="r" indent="0" marL="0">
              <a:buNone/>
            </a:pPr>
            <a:r>
              <a:rPr lang="en-US" sz="1150" b="1" dirty="0">
                <a:solidFill>
                  <a:srgbClr val="69718C"/>
                </a:solidFill>
                <a:latin typeface="Calibri" pitchFamily="34" charset="0"/>
                <a:ea typeface="Calibri" pitchFamily="34" charset="-122"/>
                <a:cs typeface="Calibri" pitchFamily="34" charset="-120"/>
              </a:rPr>
              <a:t>Product</a:t>
            </a:r>
            <a:endParaRPr lang="en-US" sz="1150" dirty="0"/>
          </a:p>
        </p:txBody>
      </p:sp>
      <p:sp>
        <p:nvSpPr>
          <p:cNvPr id="33" name="Shape 31"/>
          <p:cNvSpPr/>
          <p:nvPr/>
        </p:nvSpPr>
        <p:spPr>
          <a:xfrm>
            <a:off x="566928" y="5879592"/>
            <a:ext cx="11057839" cy="0"/>
          </a:xfrm>
          <a:prstGeom prst="line">
            <a:avLst/>
          </a:prstGeom>
          <a:noFill/>
          <a:ln w="12700">
            <a:solidFill>
              <a:srgbClr val="DCE3EE"/>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D2858"/>
        </a:solidFill>
      </p:bgPr>
    </p:bg>
    <p:spTree>
      <p:nvGrpSpPr>
        <p:cNvPr id="1" name=""/>
        <p:cNvGrpSpPr/>
        <p:nvPr/>
      </p:nvGrpSpPr>
      <p:grpSpPr>
        <a:xfrm>
          <a:off x="0" y="0"/>
          <a:ext cx="0" cy="0"/>
          <a:chOff x="0" y="0"/>
          <a:chExt cx="0" cy="0"/>
        </a:xfrm>
      </p:grpSpPr>
      <p:sp>
        <p:nvSpPr>
          <p:cNvPr id="2" name="Shape 0"/>
          <p:cNvSpPr/>
          <p:nvPr/>
        </p:nvSpPr>
        <p:spPr>
          <a:xfrm>
            <a:off x="-1463040" y="4206240"/>
            <a:ext cx="4206240" cy="4206240"/>
          </a:xfrm>
          <a:prstGeom prst="ellipse">
            <a:avLst/>
          </a:prstGeom>
          <a:solidFill>
            <a:srgbClr val="24336B"/>
          </a:solidFill>
          <a:ln/>
        </p:spPr>
      </p:sp>
      <p:sp>
        <p:nvSpPr>
          <p:cNvPr id="3" name="Text 1"/>
          <p:cNvSpPr txBox="1"/>
          <p:nvPr/>
        </p:nvSpPr>
        <p:spPr>
          <a:xfrm>
            <a:off x="566928" y="1600200"/>
            <a:ext cx="11057839" cy="274320"/>
          </a:xfrm>
          <a:prstGeom prst="rect">
            <a:avLst/>
          </a:prstGeom>
          <a:noFill/>
          <a:ln/>
        </p:spPr>
        <p:txBody>
          <a:bodyPr wrap="square" lIns="0" tIns="0" rIns="0" bIns="0" rtlCol="0" anchor="ctr"/>
          <a:lstStyle/>
          <a:p>
            <a:pPr indent="0" marL="0">
              <a:buNone/>
            </a:pPr>
            <a:r>
              <a:rPr lang="en-US" sz="1200" b="1" spc="180" kern="0" dirty="0">
                <a:solidFill>
                  <a:srgbClr val="00AEEF"/>
                </a:solidFill>
                <a:latin typeface="Calibri" pitchFamily="34" charset="0"/>
                <a:ea typeface="Calibri" pitchFamily="34" charset="-122"/>
                <a:cs typeface="Calibri" pitchFamily="34" charset="-120"/>
              </a:rPr>
              <a:t>EVERYTHING IS HERE</a:t>
            </a:r>
            <a:endParaRPr lang="en-US" sz="1200" dirty="0"/>
          </a:p>
        </p:txBody>
      </p:sp>
      <p:sp>
        <p:nvSpPr>
          <p:cNvPr id="4" name="Text 2"/>
          <p:cNvSpPr txBox="1"/>
          <p:nvPr/>
        </p:nvSpPr>
        <p:spPr>
          <a:xfrm>
            <a:off x="566928" y="2011680"/>
            <a:ext cx="914400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Try it yourself</a:t>
            </a:r>
            <a:endParaRPr lang="en-US" sz="4400" dirty="0"/>
          </a:p>
        </p:txBody>
      </p:sp>
      <p:sp>
        <p:nvSpPr>
          <p:cNvPr id="5" name="Shape 3"/>
          <p:cNvSpPr/>
          <p:nvPr/>
        </p:nvSpPr>
        <p:spPr>
          <a:xfrm>
            <a:off x="566928" y="3291840"/>
            <a:ext cx="5323180" cy="1417320"/>
          </a:xfrm>
          <a:prstGeom prst="roundRect">
            <a:avLst>
              <a:gd name="adj" fmla="val 3871"/>
            </a:avLst>
          </a:prstGeom>
          <a:solidFill>
            <a:srgbClr val="24336B"/>
          </a:solidFill>
          <a:ln w="12700">
            <a:solidFill>
              <a:srgbClr val="3D4A82"/>
            </a:solidFill>
            <a:prstDash val="solid"/>
          </a:ln>
        </p:spPr>
      </p:sp>
      <p:sp>
        <p:nvSpPr>
          <p:cNvPr id="6" name="Text 4"/>
          <p:cNvSpPr txBox="1"/>
          <p:nvPr/>
        </p:nvSpPr>
        <p:spPr>
          <a:xfrm>
            <a:off x="886968" y="4069080"/>
            <a:ext cx="4683100" cy="502920"/>
          </a:xfrm>
          <a:prstGeom prst="rect">
            <a:avLst/>
          </a:prstGeom>
          <a:noFill/>
          <a:ln/>
        </p:spPr>
        <p:txBody>
          <a:bodyPr wrap="square" lIns="0" tIns="0" rIns="0" bIns="0" rtlCol="0" anchor="ctr"/>
          <a:lstStyle/>
          <a:p>
            <a:pPr indent="0" marL="0">
              <a:lnSpc>
                <a:spcPts val="1800"/>
              </a:lnSpc>
              <a:buNone/>
            </a:pPr>
            <a:r>
              <a:rPr lang="en-US" sz="1400" dirty="0">
                <a:solidFill>
                  <a:srgbClr val="00AEEF"/>
                </a:solidFill>
                <a:latin typeface="Calibri" pitchFamily="34" charset="0"/>
                <a:ea typeface="Calibri" pitchFamily="34" charset="-122"/>
                <a:cs typeface="Calibri" pitchFamily="34" charset="-120"/>
              </a:rPr>
              <a:t>configurator-salus-test.netlify.app</a:t>
            </a:r>
            <a:endParaRPr lang="en-US" sz="1400" dirty="0"/>
          </a:p>
        </p:txBody>
      </p:sp>
      <p:sp>
        <p:nvSpPr>
          <p:cNvPr id="7" name="Text 5"/>
          <p:cNvSpPr txBox="1"/>
          <p:nvPr/>
        </p:nvSpPr>
        <p:spPr>
          <a:xfrm>
            <a:off x="886968" y="3566160"/>
            <a:ext cx="468310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The configurator</a:t>
            </a:r>
            <a:endParaRPr lang="en-US" sz="2200" dirty="0"/>
          </a:p>
        </p:txBody>
      </p:sp>
      <p:sp>
        <p:nvSpPr>
          <p:cNvPr id="8" name="Shape 6"/>
          <p:cNvSpPr/>
          <p:nvPr/>
        </p:nvSpPr>
        <p:spPr>
          <a:xfrm>
            <a:off x="6301588" y="3291840"/>
            <a:ext cx="5323180" cy="1417320"/>
          </a:xfrm>
          <a:prstGeom prst="roundRect">
            <a:avLst>
              <a:gd name="adj" fmla="val 3871"/>
            </a:avLst>
          </a:prstGeom>
          <a:solidFill>
            <a:srgbClr val="24336B"/>
          </a:solidFill>
          <a:ln w="12700">
            <a:solidFill>
              <a:srgbClr val="3D4A82"/>
            </a:solidFill>
            <a:prstDash val="solid"/>
          </a:ln>
        </p:spPr>
      </p:sp>
      <p:sp>
        <p:nvSpPr>
          <p:cNvPr id="9" name="Text 7"/>
          <p:cNvSpPr txBox="1"/>
          <p:nvPr/>
        </p:nvSpPr>
        <p:spPr>
          <a:xfrm>
            <a:off x="6621628" y="4069080"/>
            <a:ext cx="4683100" cy="502920"/>
          </a:xfrm>
          <a:prstGeom prst="rect">
            <a:avLst/>
          </a:prstGeom>
          <a:noFill/>
          <a:ln/>
        </p:spPr>
        <p:txBody>
          <a:bodyPr wrap="square" lIns="0" tIns="0" rIns="0" bIns="0" rtlCol="0" anchor="ctr"/>
          <a:lstStyle/>
          <a:p>
            <a:pPr indent="0" marL="0">
              <a:lnSpc>
                <a:spcPts val="1800"/>
              </a:lnSpc>
              <a:buNone/>
            </a:pPr>
            <a:r>
              <a:rPr lang="en-US" sz="1400" dirty="0">
                <a:solidFill>
                  <a:srgbClr val="00AEEF"/>
                </a:solidFill>
                <a:latin typeface="Calibri" pitchFamily="34" charset="0"/>
                <a:ea typeface="Calibri" pitchFamily="34" charset="-122"/>
                <a:cs typeface="Calibri" pitchFamily="34" charset="-120"/>
              </a:rPr>
              <a:t>configurator-salus-test.netlify.app/how-it-works.html</a:t>
            </a:r>
            <a:endParaRPr lang="en-US" sz="1400" dirty="0"/>
          </a:p>
        </p:txBody>
      </p:sp>
      <p:sp>
        <p:nvSpPr>
          <p:cNvPr id="10" name="Text 8"/>
          <p:cNvSpPr txBox="1"/>
          <p:nvPr/>
        </p:nvSpPr>
        <p:spPr>
          <a:xfrm>
            <a:off x="6621628" y="3566160"/>
            <a:ext cx="468310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How it works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26 Problems, One Configurator</dc:title>
  <dc:subject>PptxGenJS Presentation</dc:subject>
  <dc:creator>Salus Controls</dc:creator>
  <cp:lastModifiedBy>Salus Controls</cp:lastModifiedBy>
  <cp:revision>1</cp:revision>
  <dcterms:created xsi:type="dcterms:W3CDTF">2026-09-14T13:56:15Z</dcterms:created>
  <dcterms:modified xsi:type="dcterms:W3CDTF">2026-09-14T13:56:15Z</dcterms:modified>
</cp:coreProperties>
</file>